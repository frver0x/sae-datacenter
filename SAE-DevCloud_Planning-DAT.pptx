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6" r:id="rId14"/>
    <p:sldId id="271" r:id="rId15"/>
    <p:sldId id="269" r:id="rId16"/>
    <p:sldId id="270"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38"/>
  </p:normalViewPr>
  <p:slideViewPr>
    <p:cSldViewPr snapToGrid="0" snapToObjects="1">
      <p:cViewPr>
        <p:scale>
          <a:sx n="153" d="100"/>
          <a:sy n="153" d="100"/>
        </p:scale>
        <p:origin x="-552" y="-6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Feuille_de_calcul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Feuille_de_calcul_Microsoft_Excel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pieChart>
        <c:varyColors val="1"/>
        <c:ser>
          <c:idx val="0"/>
          <c:order val="0"/>
          <c:tx>
            <c:strRef>
              <c:f>Sheet1!$B$1</c:f>
              <c:strCache>
                <c:ptCount val="1"/>
              </c:strCache>
            </c:strRef>
          </c:tx>
          <c:cat>
            <c:strRef>
              <c:f>Sheet1!$A$2:$A$7</c:f>
              <c:strCache>
                <c:ptCount val="6"/>
                <c:pt idx="0">
                  <c:v>Maquette FRR</c:v>
                </c:pt>
                <c:pt idx="1">
                  <c:v>TPs formation</c:v>
                </c:pt>
                <c:pt idx="2">
                  <c:v>Hardware NFVIS/C8000v</c:v>
                </c:pt>
                <c:pt idx="3">
                  <c:v>Interconnexion DC</c:v>
                </c:pt>
                <c:pt idx="4">
                  <c:v>Observabilité</c:v>
                </c:pt>
                <c:pt idx="5">
                  <c:v>Services</c:v>
                </c:pt>
              </c:strCache>
            </c:strRef>
          </c:cat>
          <c:val>
            <c:numRef>
              <c:f>Sheet1!$B$2:$B$7</c:f>
              <c:numCache>
                <c:formatCode>General</c:formatCode>
                <c:ptCount val="6"/>
                <c:pt idx="0">
                  <c:v>25</c:v>
                </c:pt>
                <c:pt idx="1">
                  <c:v>27</c:v>
                </c:pt>
                <c:pt idx="2">
                  <c:v>16</c:v>
                </c:pt>
                <c:pt idx="3">
                  <c:v>11</c:v>
                </c:pt>
                <c:pt idx="4">
                  <c:v>8</c:v>
                </c:pt>
                <c:pt idx="5">
                  <c:v>5</c:v>
                </c:pt>
              </c:numCache>
            </c:numRef>
          </c:val>
          <c:extLst>
            <c:ext xmlns:c16="http://schemas.microsoft.com/office/drawing/2014/chart" uri="{C3380CC4-5D6E-409C-BE32-E72D297353CC}">
              <c16:uniqueId val="{00000000-8D4F-794C-A0EE-4D88E4687336}"/>
            </c:ext>
          </c:extLst>
        </c:ser>
        <c:dLbls>
          <c:showLegendKey val="0"/>
          <c:showVal val="0"/>
          <c:showCatName val="0"/>
          <c:showSerName val="0"/>
          <c:showPercent val="0"/>
          <c:showBubbleSize val="0"/>
          <c:showLeaderLines val="1"/>
        </c:dLbls>
        <c:firstSliceAng val="0"/>
      </c:pieChart>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pieChart>
        <c:varyColors val="1"/>
        <c:ser>
          <c:idx val="0"/>
          <c:order val="0"/>
          <c:tx>
            <c:strRef>
              <c:f>Sheet1!$B$1</c:f>
              <c:strCache>
                <c:ptCount val="1"/>
              </c:strCache>
            </c:strRef>
          </c:tx>
          <c:cat>
            <c:strRef>
              <c:f>Sheet1!$A$2:$A$7</c:f>
              <c:strCache>
                <c:ptCount val="6"/>
                <c:pt idx="0">
                  <c:v>Maquette iBGP finale</c:v>
                </c:pt>
                <c:pt idx="1">
                  <c:v>VXLAN TPs</c:v>
                </c:pt>
                <c:pt idx="2">
                  <c:v>Hardware/Infra</c:v>
                </c:pt>
                <c:pt idx="3">
                  <c:v>Interconnexion DC</c:v>
                </c:pt>
                <c:pt idx="4">
                  <c:v>TPs formation</c:v>
                </c:pt>
                <c:pt idx="5">
                  <c:v>Services (DNS/Vault)</c:v>
                </c:pt>
              </c:strCache>
            </c:strRef>
          </c:cat>
          <c:val>
            <c:numRef>
              <c:f>Sheet1!$B$2:$B$7</c:f>
              <c:numCache>
                <c:formatCode>General</c:formatCode>
                <c:ptCount val="6"/>
                <c:pt idx="0">
                  <c:v>23</c:v>
                </c:pt>
                <c:pt idx="1">
                  <c:v>18</c:v>
                </c:pt>
                <c:pt idx="2">
                  <c:v>17</c:v>
                </c:pt>
                <c:pt idx="3">
                  <c:v>11</c:v>
                </c:pt>
                <c:pt idx="4">
                  <c:v>15</c:v>
                </c:pt>
                <c:pt idx="5">
                  <c:v>9</c:v>
                </c:pt>
              </c:numCache>
            </c:numRef>
          </c:val>
          <c:extLst>
            <c:ext xmlns:c16="http://schemas.microsoft.com/office/drawing/2014/chart" uri="{C3380CC4-5D6E-409C-BE32-E72D297353CC}">
              <c16:uniqueId val="{00000000-CE37-EF48-A63B-524648A0A91E}"/>
            </c:ext>
          </c:extLst>
        </c:ser>
        <c:dLbls>
          <c:showLegendKey val="0"/>
          <c:showVal val="0"/>
          <c:showCatName val="0"/>
          <c:showSerName val="0"/>
          <c:showPercent val="0"/>
          <c:showBubbleSize val="0"/>
          <c:showLeaderLines val="1"/>
        </c:dLbls>
        <c:firstSliceAng val="0"/>
      </c:pieChart>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4726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Bonjour. Pierre Urtado et Valentin Malot, groupe 8. SAE 4D01 DevCloud. Société PiVal — deux datacenters leaf &amp; spine interconnectés.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 chapitres. Le coeur : deux approches BGP comparées, la même fabric déclinée iBGP chez Valentin et eBGP chez Pierre, avec benchmarks et observabilité.</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CCTP demande une fabric multi-vendeur FRR + Arista, avec du VXLAN, une supervision, et des benchmarks. Originalité : on a décliné la même fabric en deux technos BGP différentes pour les comparer objectivement.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Répartition claire : Pierre sur FRR, Cisco, observabilité maison. Valentin sur Arista cEOS, iBGP, monitoring sFlow. Collaboration sur l'interconnexion inter-DC finale.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Environ 92-93h chacun sur 3 semaines effectives (8-22 juin). Pierre a passé le plus de temps sur la maquette FRR multi-topos et les TPs de formation. Valentin sur la maquette iBGP et les TPs VXLAN.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Choix délibéré d'implémenter les deux pour les comparer. eBGP RFC 7938 est le design recommandé pour les datacenters modernes. iBGP avec RR est le design legacy encore présent en production mais plus complexe à opérer.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datacenter Valentin. Arista cEOS en iBGP AS unique 65899. Spines en route-reflectors. La supervision passe par des liens point-à-point dédiés sur spine1 — isolée du trafic fabric.</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peering direct spine1 spine2 n'était pas évident. Sans lien entre les deux RR, spine2 n'apprenait pas les préfixes annoncés uniquement par spine1 — notamment les sous-réseaux monitoring. Un RR ne réfléchit pas les routes entre ses propres clients.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L'anycast gateway VARP : même IP et même MAC sur toutes les leafs. Transparent pour les VMs. L'IRB route inter-VLAN directement sur la leaf sans remonter aux spines — beaucoup plus efficace pour le trafic est-ouest.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supervision utilise sFlow plutôt que gNMI car FRR ne supporte pas gNMI nativement. sFlow est supporté par tous les équipements du fabric. Les liens dédiés sur spine1 évitent que le trafic de monitoring influence lui-même les métriques collectées.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Architecture physique RFC 7938 sur vrai matériel. NFVIS héberge la C8000v. MikroTik connecté en câble direct à NFVIS via sous-réseau /30 dédié car le switch salle fait de l'isolation de ports — les deux équipements ne se joignaient pas sur le réseau partagé.</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C8000v n'a pas bootté pendant 3 séances. L'OVA Cisco pour NFVIS est un format spécifique avec qcow2 intégré. On a dû installer IOS-XE depuis l'ISO dans QEMU pour créer un qcow2 bootable, puis le repackager au format NFVIS. Ensuite le switch salle faisait de l'isolation de ports — le câble direct a tout résolu.</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fabric eBGP FRR. 6 conteneurs sur VM220. clab inspect montre les 6 nœuds en état Running avec leurs IPs de management. L'insight clé du benchmark : le protocole de routage n'impacte pas le débit. 38 à 39 Gbit/s pour les 4 technologies. La différence réelle c'est la convergence et la simplicité d'exploitation.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bleaf FRR reprend l'IP 10.202.8.253 — l'ancienne IP du Cisco. Tous les pairs BGP campus qui avaient neighbor 10.202.8.253 configuré reconnectent automatiquement. VNI 560100 tunnel VXLAN vers Valentin — prouvé par Wireshark. Le paquet interne ICMP 172.16.30.253 vers 172.16.30.1 est encapsulé dans UDP 4789 entre les deux VTEPs.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cAdvisor — l'outil standard — ne fonctionnait pas avec containerlab sur cgroup v2. On a écrit clab_exporter.py qui utilise nsenter pour entrer dans la network namespace de chaque conteneur et lire les compteurs depuis /proc/net/dev. Exposé en format Prometheus sur port 9101.</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résultat clé : 38 à 39 Gbit/s pour toutes les 4 technologies. L'écart est inférieur au bruit de mesure des veth Linux. Une fois la route dans la FIB, le control-plane n'intervient plus. La vraie différence entre les protocoles c'est la convergence, la scalabilité, la policy — pas le débit.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 bugs résolus en tout. Les plus instructifs côté Pierre : le port-isolation switch (invisible car ARP fonctionnait) et le hash ECMP L3 (tout passait par un seul spine en silence). Côté Valentin : le NAT absent de cEOS 4.36 conteneurisé — changement de comportement silencieux entre versions.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échecs nets. Le NAT cEOS est un changement de comportement entre versions — non documenté. L'exposition des conteneurs : le FORWARD DROP par défaut de Docker bloque les paquets de retour. Les deux limitent ce qu'on peut exposer publiquement depuis la fabric.</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 domaines de compétences mobilisés. Tout est documenté et prouvé — configurations, benchmarks, captures Wireshark. La compétence la plus rare : savoir documenter ses erreurs. Les 8 bugs résolus montrent une compréhension profonde des protocoles.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vrai consensus entre Pierre et Valentin : eBGP pour l'underlay, iBGP EVPN pour l'overlay. C'est exactement le modèle que tous les grands datacenters utilisent. On a exploré les deux extrêmes pour comprendre pourquoi ce modèle hybride s'est imposé.</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C0A07"/>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1783080"/>
            <a:ext cx="10515600" cy="3383280"/>
          </a:xfrm>
          <a:prstGeom prst="rect">
            <a:avLst/>
          </a:prstGeom>
          <a:solidFill>
            <a:srgbClr val="16120C"/>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868680"/>
            <a:ext cx="9144000" cy="457200"/>
          </a:xfrm>
          <a:prstGeom prst="rect">
            <a:avLst/>
          </a:prstGeom>
          <a:noFill/>
        </p:spPr>
        <p:txBody>
          <a:bodyPr wrap="square" lIns="0" tIns="0" rIns="0" bIns="0" anchor="t">
            <a:spAutoFit/>
          </a:bodyPr>
          <a:lstStyle/>
          <a:p>
            <a:pPr algn="l">
              <a:lnSpc>
                <a:spcPct val="100000"/>
              </a:lnSpc>
              <a:spcBef>
                <a:spcPts val="0"/>
              </a:spcBef>
              <a:spcAft>
                <a:spcPts val="400"/>
              </a:spcAft>
            </a:pPr>
            <a:r>
              <a:rPr sz="1200" b="1">
                <a:solidFill>
                  <a:srgbClr val="FF5A1F"/>
                </a:solidFill>
                <a:latin typeface="IBM Plex Mono"/>
              </a:rPr>
              <a:t>NETSYNK · PORTFOLIO INFRASTRUCTURE &amp; CLOUD</a:t>
            </a:r>
          </a:p>
        </p:txBody>
      </p:sp>
      <p:sp>
        <p:nvSpPr>
          <p:cNvPr id="5" name="TextBox 4"/>
          <p:cNvSpPr txBox="1"/>
          <p:nvPr/>
        </p:nvSpPr>
        <p:spPr>
          <a:xfrm>
            <a:off x="1188720" y="2057400"/>
            <a:ext cx="9784080" cy="1828800"/>
          </a:xfrm>
          <a:prstGeom prst="rect">
            <a:avLst/>
          </a:prstGeom>
          <a:noFill/>
        </p:spPr>
        <p:txBody>
          <a:bodyPr wrap="square" lIns="0" tIns="0" rIns="0" bIns="0" anchor="t">
            <a:spAutoFit/>
          </a:bodyPr>
          <a:lstStyle/>
          <a:p>
            <a:pPr algn="l">
              <a:lnSpc>
                <a:spcPct val="100000"/>
              </a:lnSpc>
              <a:spcBef>
                <a:spcPts val="0"/>
              </a:spcBef>
              <a:spcAft>
                <a:spcPts val="600"/>
              </a:spcAft>
            </a:pPr>
            <a:r>
              <a:rPr sz="5000" b="1">
                <a:solidFill>
                  <a:srgbClr val="F4ECDD"/>
                </a:solidFill>
                <a:latin typeface="Syne"/>
              </a:rPr>
              <a:t>SAE DevCloud 4D04</a:t>
            </a:r>
          </a:p>
          <a:p>
            <a:pPr algn="l">
              <a:lnSpc>
                <a:spcPct val="100000"/>
              </a:lnSpc>
              <a:spcBef>
                <a:spcPts val="0"/>
              </a:spcBef>
              <a:spcAft>
                <a:spcPts val="600"/>
              </a:spcAft>
            </a:pPr>
            <a:r>
              <a:rPr sz="2700" b="1">
                <a:solidFill>
                  <a:srgbClr val="FF8A3D"/>
                </a:solidFill>
                <a:latin typeface="Syne"/>
              </a:rPr>
              <a:t>Datacenter Leaf &amp; Spine — BGP / EVPN / VXLAN</a:t>
            </a:r>
          </a:p>
        </p:txBody>
      </p:sp>
      <p:sp>
        <p:nvSpPr>
          <p:cNvPr id="6" name="TextBox 5"/>
          <p:cNvSpPr txBox="1"/>
          <p:nvPr/>
        </p:nvSpPr>
        <p:spPr>
          <a:xfrm>
            <a:off x="1188720" y="3703320"/>
            <a:ext cx="9784080" cy="548640"/>
          </a:xfrm>
          <a:prstGeom prst="rect">
            <a:avLst/>
          </a:prstGeom>
          <a:noFill/>
        </p:spPr>
        <p:txBody>
          <a:bodyPr wrap="square" lIns="0" tIns="0" rIns="0" bIns="0" anchor="t">
            <a:spAutoFit/>
          </a:bodyPr>
          <a:lstStyle/>
          <a:p>
            <a:pPr algn="l">
              <a:lnSpc>
                <a:spcPct val="100000"/>
              </a:lnSpc>
              <a:spcBef>
                <a:spcPts val="0"/>
              </a:spcBef>
              <a:spcAft>
                <a:spcPts val="400"/>
              </a:spcAft>
            </a:pPr>
            <a:r>
              <a:rPr sz="1700" b="0">
                <a:solidFill>
                  <a:srgbClr val="CFC4AD"/>
                </a:solidFill>
                <a:latin typeface="Newsreader Medium"/>
              </a:rPr>
              <a:t>Planning &amp; Dossier d'Architecture Technique (DAT)</a:t>
            </a:r>
          </a:p>
        </p:txBody>
      </p:sp>
      <p:sp>
        <p:nvSpPr>
          <p:cNvPr id="7" name="TextBox 6"/>
          <p:cNvSpPr txBox="1"/>
          <p:nvPr/>
        </p:nvSpPr>
        <p:spPr>
          <a:xfrm>
            <a:off x="1188720" y="5257800"/>
            <a:ext cx="10058400" cy="914400"/>
          </a:xfrm>
          <a:prstGeom prst="rect">
            <a:avLst/>
          </a:prstGeom>
          <a:noFill/>
        </p:spPr>
        <p:txBody>
          <a:bodyPr wrap="square" lIns="0" tIns="0" rIns="0" bIns="0" anchor="t">
            <a:spAutoFit/>
          </a:bodyPr>
          <a:lstStyle/>
          <a:p>
            <a:pPr algn="l">
              <a:lnSpc>
                <a:spcPct val="100000"/>
              </a:lnSpc>
              <a:spcBef>
                <a:spcPts val="0"/>
              </a:spcBef>
              <a:spcAft>
                <a:spcPts val="400"/>
              </a:spcAft>
            </a:pPr>
            <a:r>
              <a:rPr sz="1500" b="1">
                <a:solidFill>
                  <a:srgbClr val="F4ECDD"/>
                </a:solidFill>
                <a:latin typeface="IBM Plex Mono"/>
              </a:rPr>
              <a:t>URTADO Pierre</a:t>
            </a:r>
            <a:r>
              <a:rPr sz="1400" b="0">
                <a:solidFill>
                  <a:srgbClr val="94896F"/>
                </a:solidFill>
                <a:latin typeface="IBM Plex Mono"/>
              </a:rPr>
              <a:t>  &amp;  </a:t>
            </a:r>
            <a:r>
              <a:rPr sz="1500" b="1">
                <a:solidFill>
                  <a:srgbClr val="F4ECDD"/>
                </a:solidFill>
                <a:latin typeface="IBM Plex Mono"/>
              </a:rPr>
              <a:t>MALOT Valentin</a:t>
            </a:r>
            <a:r>
              <a:rPr sz="1300" b="0">
                <a:solidFill>
                  <a:srgbClr val="94896F"/>
                </a:solidFill>
                <a:latin typeface="IBM Plex Mono"/>
              </a:rPr>
              <a:t>   ·   Groupe 8</a:t>
            </a:r>
          </a:p>
          <a:p>
            <a:pPr algn="l">
              <a:lnSpc>
                <a:spcPct val="100000"/>
              </a:lnSpc>
              <a:spcBef>
                <a:spcPts val="0"/>
              </a:spcBef>
              <a:spcAft>
                <a:spcPts val="400"/>
              </a:spcAft>
            </a:pPr>
            <a:r>
              <a:rPr sz="1200" b="0">
                <a:solidFill>
                  <a:srgbClr val="94896F"/>
                </a:solidFill>
                <a:latin typeface="IBM Plex Mono"/>
              </a:rPr>
              <a:t>Commanditaire : Jean-Marc Pouchoulon   ·   B202   ·   8 juin → 7 juillet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C0A07"/>
        </a:solidFill>
        <a:effectLst/>
      </p:bgPr>
    </p:bg>
    <p:spTree>
      <p:nvGrpSpPr>
        <p:cNvPr id="1" name=""/>
        <p:cNvGrpSpPr/>
        <p:nvPr/>
      </p:nvGrpSpPr>
      <p:grpSpPr>
        <a:xfrm>
          <a:off x="0" y="0"/>
          <a:ext cx="0" cy="0"/>
          <a:chOff x="0" y="0"/>
          <a:chExt cx="0" cy="0"/>
        </a:xfrm>
      </p:grpSpPr>
      <p:sp>
        <p:nvSpPr>
          <p:cNvPr id="2" name="Rectangle 1"/>
          <p:cNvSpPr/>
          <p:nvPr/>
        </p:nvSpPr>
        <p:spPr>
          <a:xfrm>
            <a:off x="640080" y="713232"/>
            <a:ext cx="502920"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10058400" cy="365760"/>
          </a:xfrm>
          <a:prstGeom prst="rect">
            <a:avLst/>
          </a:prstGeom>
          <a:noFill/>
        </p:spPr>
        <p:txBody>
          <a:bodyPr wrap="square" lIns="0" tIns="0" rIns="0" bIns="0" anchor="t">
            <a:spAutoFit/>
          </a:bodyPr>
          <a:lstStyle/>
          <a:p>
            <a:pPr algn="l">
              <a:lnSpc>
                <a:spcPct val="100000"/>
              </a:lnSpc>
              <a:spcBef>
                <a:spcPts val="0"/>
              </a:spcBef>
              <a:spcAft>
                <a:spcPts val="400"/>
              </a:spcAft>
            </a:pPr>
            <a:r>
              <a:rPr sz="1100" b="1">
                <a:solidFill>
                  <a:srgbClr val="FF5A1F"/>
                </a:solidFill>
                <a:latin typeface="IBM Plex Mono"/>
              </a:rPr>
              <a:t>REPÈRES</a:t>
            </a:r>
          </a:p>
        </p:txBody>
      </p:sp>
      <p:sp>
        <p:nvSpPr>
          <p:cNvPr id="4" name="TextBox 3"/>
          <p:cNvSpPr txBox="1"/>
          <p:nvPr/>
        </p:nvSpPr>
        <p:spPr>
          <a:xfrm>
            <a:off x="640080" y="777240"/>
            <a:ext cx="10789920" cy="822960"/>
          </a:xfrm>
          <a:prstGeom prst="rect">
            <a:avLst/>
          </a:prstGeom>
          <a:noFill/>
        </p:spPr>
        <p:txBody>
          <a:bodyPr wrap="square" lIns="0" tIns="0" rIns="0" bIns="0" anchor="t">
            <a:spAutoFit/>
          </a:bodyPr>
          <a:lstStyle/>
          <a:p>
            <a:pPr algn="l">
              <a:lnSpc>
                <a:spcPct val="100000"/>
              </a:lnSpc>
              <a:spcBef>
                <a:spcPts val="0"/>
              </a:spcBef>
              <a:spcAft>
                <a:spcPts val="400"/>
              </a:spcAft>
            </a:pPr>
            <a:r>
              <a:rPr sz="2800" b="1">
                <a:solidFill>
                  <a:srgbClr val="F4ECDD"/>
                </a:solidFill>
                <a:latin typeface="Syne"/>
              </a:rPr>
              <a:t>Sommaire</a:t>
            </a:r>
          </a:p>
        </p:txBody>
      </p:sp>
      <p:sp>
        <p:nvSpPr>
          <p:cNvPr id="5" name="Rectangle 4"/>
          <p:cNvSpPr/>
          <p:nvPr/>
        </p:nvSpPr>
        <p:spPr>
          <a:xfrm>
            <a:off x="640080" y="1417320"/>
            <a:ext cx="10908792" cy="12700"/>
          </a:xfrm>
          <a:prstGeom prst="rect">
            <a:avLst/>
          </a:prstGeom>
          <a:solidFill>
            <a:srgbClr val="3A3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627632"/>
            <a:ext cx="5303520" cy="1024128"/>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8" y="1737360"/>
            <a:ext cx="777240" cy="731520"/>
          </a:xfrm>
          <a:prstGeom prst="rect">
            <a:avLst/>
          </a:prstGeom>
          <a:noFill/>
        </p:spPr>
        <p:txBody>
          <a:bodyPr wrap="square" lIns="0" tIns="0" rIns="0" bIns="0" anchor="ctr">
            <a:spAutoFit/>
          </a:bodyPr>
          <a:lstStyle/>
          <a:p>
            <a:pPr algn="l">
              <a:lnSpc>
                <a:spcPct val="100000"/>
              </a:lnSpc>
              <a:spcBef>
                <a:spcPts val="0"/>
              </a:spcBef>
              <a:spcAft>
                <a:spcPts val="400"/>
              </a:spcAft>
            </a:pPr>
            <a:r>
              <a:rPr sz="2200" b="1">
                <a:solidFill>
                  <a:srgbClr val="FF5A1F"/>
                </a:solidFill>
                <a:latin typeface="Syne"/>
              </a:rPr>
              <a:t>01</a:t>
            </a:r>
          </a:p>
        </p:txBody>
      </p:sp>
      <p:sp>
        <p:nvSpPr>
          <p:cNvPr id="8" name="TextBox 7"/>
          <p:cNvSpPr txBox="1"/>
          <p:nvPr/>
        </p:nvSpPr>
        <p:spPr>
          <a:xfrm>
            <a:off x="1600200" y="1737360"/>
            <a:ext cx="4160520" cy="777240"/>
          </a:xfrm>
          <a:prstGeom prst="rect">
            <a:avLst/>
          </a:prstGeom>
          <a:noFill/>
        </p:spPr>
        <p:txBody>
          <a:bodyPr wrap="square" lIns="0" tIns="0" rIns="0" bIns="0" anchor="t">
            <a:spAutoFit/>
          </a:bodyPr>
          <a:lstStyle/>
          <a:p>
            <a:pPr algn="l">
              <a:lnSpc>
                <a:spcPct val="100000"/>
              </a:lnSpc>
              <a:spcBef>
                <a:spcPts val="0"/>
              </a:spcBef>
              <a:spcAft>
                <a:spcPts val="300"/>
              </a:spcAft>
            </a:pPr>
            <a:r>
              <a:rPr sz="1450" b="1">
                <a:solidFill>
                  <a:srgbClr val="F4ECDD"/>
                </a:solidFill>
                <a:latin typeface="Syne"/>
              </a:rPr>
              <a:t>Cahier des charges</a:t>
            </a:r>
          </a:p>
          <a:p>
            <a:pPr algn="l">
              <a:lnSpc>
                <a:spcPct val="100000"/>
              </a:lnSpc>
              <a:spcBef>
                <a:spcPts val="0"/>
              </a:spcBef>
              <a:spcAft>
                <a:spcPts val="300"/>
              </a:spcAft>
            </a:pPr>
            <a:r>
              <a:rPr sz="1050" b="0">
                <a:solidFill>
                  <a:srgbClr val="94896F"/>
                </a:solidFill>
                <a:latin typeface="Newsreader Medium"/>
              </a:rPr>
              <a:t>CCTP : leaf &amp; spine multi-vendeur, BGP+OSPF, VXLAN</a:t>
            </a:r>
          </a:p>
        </p:txBody>
      </p:sp>
      <p:sp>
        <p:nvSpPr>
          <p:cNvPr id="9" name="Rounded Rectangle 8"/>
          <p:cNvSpPr/>
          <p:nvPr/>
        </p:nvSpPr>
        <p:spPr>
          <a:xfrm>
            <a:off x="6217920" y="1627632"/>
            <a:ext cx="5303520" cy="1024128"/>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19088" y="1737360"/>
            <a:ext cx="777240" cy="731520"/>
          </a:xfrm>
          <a:prstGeom prst="rect">
            <a:avLst/>
          </a:prstGeom>
          <a:noFill/>
        </p:spPr>
        <p:txBody>
          <a:bodyPr wrap="square" lIns="0" tIns="0" rIns="0" bIns="0" anchor="ctr">
            <a:spAutoFit/>
          </a:bodyPr>
          <a:lstStyle/>
          <a:p>
            <a:pPr algn="l">
              <a:lnSpc>
                <a:spcPct val="100000"/>
              </a:lnSpc>
              <a:spcBef>
                <a:spcPts val="0"/>
              </a:spcBef>
              <a:spcAft>
                <a:spcPts val="400"/>
              </a:spcAft>
            </a:pPr>
            <a:r>
              <a:rPr sz="2200" b="1">
                <a:solidFill>
                  <a:srgbClr val="FF5A1F"/>
                </a:solidFill>
                <a:latin typeface="Syne"/>
              </a:rPr>
              <a:t>02</a:t>
            </a:r>
          </a:p>
        </p:txBody>
      </p:sp>
      <p:sp>
        <p:nvSpPr>
          <p:cNvPr id="11" name="TextBox 10"/>
          <p:cNvSpPr txBox="1"/>
          <p:nvPr/>
        </p:nvSpPr>
        <p:spPr>
          <a:xfrm>
            <a:off x="7178040" y="1737360"/>
            <a:ext cx="4160520" cy="777240"/>
          </a:xfrm>
          <a:prstGeom prst="rect">
            <a:avLst/>
          </a:prstGeom>
          <a:noFill/>
        </p:spPr>
        <p:txBody>
          <a:bodyPr wrap="square" lIns="0" tIns="0" rIns="0" bIns="0" anchor="t">
            <a:spAutoFit/>
          </a:bodyPr>
          <a:lstStyle/>
          <a:p>
            <a:pPr algn="l">
              <a:lnSpc>
                <a:spcPct val="100000"/>
              </a:lnSpc>
              <a:spcBef>
                <a:spcPts val="0"/>
              </a:spcBef>
              <a:spcAft>
                <a:spcPts val="300"/>
              </a:spcAft>
            </a:pPr>
            <a:r>
              <a:rPr sz="1450" b="1">
                <a:solidFill>
                  <a:srgbClr val="F4ECDD"/>
                </a:solidFill>
                <a:latin typeface="Syne"/>
              </a:rPr>
              <a:t>Répartition du travail</a:t>
            </a:r>
          </a:p>
          <a:p>
            <a:pPr algn="l">
              <a:lnSpc>
                <a:spcPct val="100000"/>
              </a:lnSpc>
              <a:spcBef>
                <a:spcPts val="0"/>
              </a:spcBef>
              <a:spcAft>
                <a:spcPts val="300"/>
              </a:spcAft>
            </a:pPr>
            <a:r>
              <a:rPr sz="1050" b="0">
                <a:solidFill>
                  <a:srgbClr val="94896F"/>
                </a:solidFill>
                <a:latin typeface="Newsreader Medium"/>
              </a:rPr>
              <a:t>Qui fait quoi — Pierre / Valentin + heures</a:t>
            </a:r>
          </a:p>
        </p:txBody>
      </p:sp>
      <p:sp>
        <p:nvSpPr>
          <p:cNvPr id="12" name="Rounded Rectangle 11"/>
          <p:cNvSpPr/>
          <p:nvPr/>
        </p:nvSpPr>
        <p:spPr>
          <a:xfrm>
            <a:off x="640080" y="2816352"/>
            <a:ext cx="5303520" cy="1024128"/>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1248" y="2926080"/>
            <a:ext cx="777240" cy="731520"/>
          </a:xfrm>
          <a:prstGeom prst="rect">
            <a:avLst/>
          </a:prstGeom>
          <a:noFill/>
        </p:spPr>
        <p:txBody>
          <a:bodyPr wrap="square" lIns="0" tIns="0" rIns="0" bIns="0" anchor="ctr">
            <a:spAutoFit/>
          </a:bodyPr>
          <a:lstStyle/>
          <a:p>
            <a:pPr algn="l">
              <a:lnSpc>
                <a:spcPct val="100000"/>
              </a:lnSpc>
              <a:spcBef>
                <a:spcPts val="0"/>
              </a:spcBef>
              <a:spcAft>
                <a:spcPts val="400"/>
              </a:spcAft>
            </a:pPr>
            <a:r>
              <a:rPr sz="2200" b="1">
                <a:solidFill>
                  <a:srgbClr val="FF5A1F"/>
                </a:solidFill>
                <a:latin typeface="Syne"/>
              </a:rPr>
              <a:t>03</a:t>
            </a:r>
          </a:p>
        </p:txBody>
      </p:sp>
      <p:sp>
        <p:nvSpPr>
          <p:cNvPr id="14" name="TextBox 13"/>
          <p:cNvSpPr txBox="1"/>
          <p:nvPr/>
        </p:nvSpPr>
        <p:spPr>
          <a:xfrm>
            <a:off x="1600200" y="2926080"/>
            <a:ext cx="4160520" cy="777240"/>
          </a:xfrm>
          <a:prstGeom prst="rect">
            <a:avLst/>
          </a:prstGeom>
          <a:noFill/>
        </p:spPr>
        <p:txBody>
          <a:bodyPr wrap="square" lIns="0" tIns="0" rIns="0" bIns="0" anchor="t">
            <a:spAutoFit/>
          </a:bodyPr>
          <a:lstStyle/>
          <a:p>
            <a:pPr algn="l">
              <a:lnSpc>
                <a:spcPct val="100000"/>
              </a:lnSpc>
              <a:spcBef>
                <a:spcPts val="0"/>
              </a:spcBef>
              <a:spcAft>
                <a:spcPts val="300"/>
              </a:spcAft>
            </a:pPr>
            <a:r>
              <a:rPr sz="1450" b="1">
                <a:solidFill>
                  <a:srgbClr val="F4ECDD"/>
                </a:solidFill>
                <a:latin typeface="Syne"/>
              </a:rPr>
              <a:t>Deux approches BGP</a:t>
            </a:r>
          </a:p>
          <a:p>
            <a:pPr algn="l">
              <a:lnSpc>
                <a:spcPct val="100000"/>
              </a:lnSpc>
              <a:spcBef>
                <a:spcPts val="0"/>
              </a:spcBef>
              <a:spcAft>
                <a:spcPts val="300"/>
              </a:spcAft>
            </a:pPr>
            <a:r>
              <a:rPr sz="1050" b="0">
                <a:solidFill>
                  <a:srgbClr val="94896F"/>
                </a:solidFill>
                <a:latin typeface="Newsreader Medium"/>
              </a:rPr>
              <a:t>Valentin iBGP / Pierre eBGP — comparées</a:t>
            </a:r>
          </a:p>
        </p:txBody>
      </p:sp>
      <p:sp>
        <p:nvSpPr>
          <p:cNvPr id="15" name="Rounded Rectangle 14"/>
          <p:cNvSpPr/>
          <p:nvPr/>
        </p:nvSpPr>
        <p:spPr>
          <a:xfrm>
            <a:off x="6217920" y="2816352"/>
            <a:ext cx="5303520" cy="1024128"/>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19088" y="2926080"/>
            <a:ext cx="777240" cy="731520"/>
          </a:xfrm>
          <a:prstGeom prst="rect">
            <a:avLst/>
          </a:prstGeom>
          <a:noFill/>
        </p:spPr>
        <p:txBody>
          <a:bodyPr wrap="square" lIns="0" tIns="0" rIns="0" bIns="0" anchor="ctr">
            <a:spAutoFit/>
          </a:bodyPr>
          <a:lstStyle/>
          <a:p>
            <a:pPr algn="l">
              <a:lnSpc>
                <a:spcPct val="100000"/>
              </a:lnSpc>
              <a:spcBef>
                <a:spcPts val="0"/>
              </a:spcBef>
              <a:spcAft>
                <a:spcPts val="400"/>
              </a:spcAft>
            </a:pPr>
            <a:r>
              <a:rPr sz="2200" b="1">
                <a:solidFill>
                  <a:srgbClr val="FF5A1F"/>
                </a:solidFill>
                <a:latin typeface="Syne"/>
              </a:rPr>
              <a:t>04</a:t>
            </a:r>
          </a:p>
        </p:txBody>
      </p:sp>
      <p:sp>
        <p:nvSpPr>
          <p:cNvPr id="17" name="TextBox 16"/>
          <p:cNvSpPr txBox="1"/>
          <p:nvPr/>
        </p:nvSpPr>
        <p:spPr>
          <a:xfrm>
            <a:off x="7178040" y="2926080"/>
            <a:ext cx="4160520" cy="777240"/>
          </a:xfrm>
          <a:prstGeom prst="rect">
            <a:avLst/>
          </a:prstGeom>
          <a:noFill/>
        </p:spPr>
        <p:txBody>
          <a:bodyPr wrap="square" lIns="0" tIns="0" rIns="0" bIns="0" anchor="t">
            <a:spAutoFit/>
          </a:bodyPr>
          <a:lstStyle/>
          <a:p>
            <a:pPr algn="l">
              <a:lnSpc>
                <a:spcPct val="100000"/>
              </a:lnSpc>
              <a:spcBef>
                <a:spcPts val="0"/>
              </a:spcBef>
              <a:spcAft>
                <a:spcPts val="300"/>
              </a:spcAft>
            </a:pPr>
            <a:r>
              <a:rPr sz="1450" b="1">
                <a:solidFill>
                  <a:srgbClr val="F4ECDD"/>
                </a:solidFill>
                <a:latin typeface="Syne"/>
              </a:rPr>
              <a:t>EVPN / VXLAN</a:t>
            </a:r>
          </a:p>
          <a:p>
            <a:pPr algn="l">
              <a:lnSpc>
                <a:spcPct val="100000"/>
              </a:lnSpc>
              <a:spcBef>
                <a:spcPts val="0"/>
              </a:spcBef>
              <a:spcAft>
                <a:spcPts val="300"/>
              </a:spcAft>
            </a:pPr>
            <a:r>
              <a:rPr sz="1050" b="0">
                <a:solidFill>
                  <a:srgbClr val="94896F"/>
                </a:solidFill>
                <a:latin typeface="Newsreader Medium"/>
              </a:rPr>
              <a:t>Valentin : VNI L2/L3, anycast GW, IRB symétrique</a:t>
            </a:r>
          </a:p>
        </p:txBody>
      </p:sp>
      <p:sp>
        <p:nvSpPr>
          <p:cNvPr id="18" name="Rounded Rectangle 17"/>
          <p:cNvSpPr/>
          <p:nvPr/>
        </p:nvSpPr>
        <p:spPr>
          <a:xfrm>
            <a:off x="640080" y="4005072"/>
            <a:ext cx="5303520" cy="1024128"/>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1248" y="4114800"/>
            <a:ext cx="777240" cy="731520"/>
          </a:xfrm>
          <a:prstGeom prst="rect">
            <a:avLst/>
          </a:prstGeom>
          <a:noFill/>
        </p:spPr>
        <p:txBody>
          <a:bodyPr wrap="square" lIns="0" tIns="0" rIns="0" bIns="0" anchor="ctr">
            <a:spAutoFit/>
          </a:bodyPr>
          <a:lstStyle/>
          <a:p>
            <a:pPr algn="l">
              <a:lnSpc>
                <a:spcPct val="100000"/>
              </a:lnSpc>
              <a:spcBef>
                <a:spcPts val="0"/>
              </a:spcBef>
              <a:spcAft>
                <a:spcPts val="400"/>
              </a:spcAft>
            </a:pPr>
            <a:r>
              <a:rPr sz="2200" b="1">
                <a:solidFill>
                  <a:srgbClr val="FF5A1F"/>
                </a:solidFill>
                <a:latin typeface="Syne"/>
              </a:rPr>
              <a:t>05</a:t>
            </a:r>
          </a:p>
        </p:txBody>
      </p:sp>
      <p:sp>
        <p:nvSpPr>
          <p:cNvPr id="20" name="TextBox 19"/>
          <p:cNvSpPr txBox="1"/>
          <p:nvPr/>
        </p:nvSpPr>
        <p:spPr>
          <a:xfrm>
            <a:off x="1600200" y="4114800"/>
            <a:ext cx="4160520" cy="777240"/>
          </a:xfrm>
          <a:prstGeom prst="rect">
            <a:avLst/>
          </a:prstGeom>
          <a:noFill/>
        </p:spPr>
        <p:txBody>
          <a:bodyPr wrap="square" lIns="0" tIns="0" rIns="0" bIns="0" anchor="t">
            <a:spAutoFit/>
          </a:bodyPr>
          <a:lstStyle/>
          <a:p>
            <a:pPr algn="l">
              <a:lnSpc>
                <a:spcPct val="100000"/>
              </a:lnSpc>
              <a:spcBef>
                <a:spcPts val="0"/>
              </a:spcBef>
              <a:spcAft>
                <a:spcPts val="300"/>
              </a:spcAft>
            </a:pPr>
            <a:r>
              <a:rPr sz="1450" b="1">
                <a:solidFill>
                  <a:srgbClr val="F4ECDD"/>
                </a:solidFill>
                <a:latin typeface="Syne"/>
              </a:rPr>
              <a:t>Équipements physiques</a:t>
            </a:r>
          </a:p>
          <a:p>
            <a:pPr algn="l">
              <a:lnSpc>
                <a:spcPct val="100000"/>
              </a:lnSpc>
              <a:spcBef>
                <a:spcPts val="0"/>
              </a:spcBef>
              <a:spcAft>
                <a:spcPts val="300"/>
              </a:spcAft>
            </a:pPr>
            <a:r>
              <a:rPr sz="1050" b="0">
                <a:solidFill>
                  <a:srgbClr val="94896F"/>
                </a:solidFill>
                <a:latin typeface="Newsreader Medium"/>
              </a:rPr>
              <a:t>Pierre : NFVIS · C8000v · MikroTik + rebuild Cisco</a:t>
            </a:r>
          </a:p>
        </p:txBody>
      </p:sp>
      <p:sp>
        <p:nvSpPr>
          <p:cNvPr id="21" name="Rounded Rectangle 20"/>
          <p:cNvSpPr/>
          <p:nvPr/>
        </p:nvSpPr>
        <p:spPr>
          <a:xfrm>
            <a:off x="6217920" y="4005072"/>
            <a:ext cx="5303520" cy="1024128"/>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9088" y="4114800"/>
            <a:ext cx="777240" cy="731520"/>
          </a:xfrm>
          <a:prstGeom prst="rect">
            <a:avLst/>
          </a:prstGeom>
          <a:noFill/>
        </p:spPr>
        <p:txBody>
          <a:bodyPr wrap="square" lIns="0" tIns="0" rIns="0" bIns="0" anchor="ctr">
            <a:spAutoFit/>
          </a:bodyPr>
          <a:lstStyle/>
          <a:p>
            <a:pPr algn="l">
              <a:lnSpc>
                <a:spcPct val="100000"/>
              </a:lnSpc>
              <a:spcBef>
                <a:spcPts val="0"/>
              </a:spcBef>
              <a:spcAft>
                <a:spcPts val="400"/>
              </a:spcAft>
            </a:pPr>
            <a:r>
              <a:rPr sz="2200" b="1">
                <a:solidFill>
                  <a:srgbClr val="FF5A1F"/>
                </a:solidFill>
                <a:latin typeface="Syne"/>
              </a:rPr>
              <a:t>06</a:t>
            </a:r>
          </a:p>
        </p:txBody>
      </p:sp>
      <p:sp>
        <p:nvSpPr>
          <p:cNvPr id="23" name="TextBox 22"/>
          <p:cNvSpPr txBox="1"/>
          <p:nvPr/>
        </p:nvSpPr>
        <p:spPr>
          <a:xfrm>
            <a:off x="7178040" y="4114800"/>
            <a:ext cx="4160520" cy="777240"/>
          </a:xfrm>
          <a:prstGeom prst="rect">
            <a:avLst/>
          </a:prstGeom>
          <a:noFill/>
        </p:spPr>
        <p:txBody>
          <a:bodyPr wrap="square" lIns="0" tIns="0" rIns="0" bIns="0" anchor="t">
            <a:spAutoFit/>
          </a:bodyPr>
          <a:lstStyle/>
          <a:p>
            <a:pPr algn="l">
              <a:lnSpc>
                <a:spcPct val="100000"/>
              </a:lnSpc>
              <a:spcBef>
                <a:spcPts val="0"/>
              </a:spcBef>
              <a:spcAft>
                <a:spcPts val="300"/>
              </a:spcAft>
            </a:pPr>
            <a:r>
              <a:rPr sz="1450" b="1">
                <a:solidFill>
                  <a:srgbClr val="F4ECDD"/>
                </a:solidFill>
                <a:latin typeface="Syne"/>
              </a:rPr>
              <a:t>Observabilité</a:t>
            </a:r>
          </a:p>
          <a:p>
            <a:pPr algn="l">
              <a:lnSpc>
                <a:spcPct val="100000"/>
              </a:lnSpc>
              <a:spcBef>
                <a:spcPts val="0"/>
              </a:spcBef>
              <a:spcAft>
                <a:spcPts val="300"/>
              </a:spcAft>
            </a:pPr>
            <a:r>
              <a:rPr sz="1050" b="0">
                <a:solidFill>
                  <a:srgbClr val="94896F"/>
                </a:solidFill>
                <a:latin typeface="Newsreader Medium"/>
              </a:rPr>
              <a:t>sFlow + export Python → Prometheus / Grafana</a:t>
            </a:r>
          </a:p>
        </p:txBody>
      </p:sp>
      <p:sp>
        <p:nvSpPr>
          <p:cNvPr id="24" name="Rounded Rectangle 23"/>
          <p:cNvSpPr/>
          <p:nvPr/>
        </p:nvSpPr>
        <p:spPr>
          <a:xfrm>
            <a:off x="640080" y="5193792"/>
            <a:ext cx="5303520" cy="1024128"/>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41248" y="5303520"/>
            <a:ext cx="777240" cy="731520"/>
          </a:xfrm>
          <a:prstGeom prst="rect">
            <a:avLst/>
          </a:prstGeom>
          <a:noFill/>
        </p:spPr>
        <p:txBody>
          <a:bodyPr wrap="square" lIns="0" tIns="0" rIns="0" bIns="0" anchor="ctr">
            <a:spAutoFit/>
          </a:bodyPr>
          <a:lstStyle/>
          <a:p>
            <a:pPr algn="l">
              <a:lnSpc>
                <a:spcPct val="100000"/>
              </a:lnSpc>
              <a:spcBef>
                <a:spcPts val="0"/>
              </a:spcBef>
              <a:spcAft>
                <a:spcPts val="400"/>
              </a:spcAft>
            </a:pPr>
            <a:r>
              <a:rPr sz="2200" b="1">
                <a:solidFill>
                  <a:srgbClr val="FF5A1F"/>
                </a:solidFill>
                <a:latin typeface="Syne"/>
              </a:rPr>
              <a:t>07</a:t>
            </a:r>
          </a:p>
        </p:txBody>
      </p:sp>
      <p:sp>
        <p:nvSpPr>
          <p:cNvPr id="26" name="TextBox 25"/>
          <p:cNvSpPr txBox="1"/>
          <p:nvPr/>
        </p:nvSpPr>
        <p:spPr>
          <a:xfrm>
            <a:off x="1600200" y="5303520"/>
            <a:ext cx="4160520" cy="777240"/>
          </a:xfrm>
          <a:prstGeom prst="rect">
            <a:avLst/>
          </a:prstGeom>
          <a:noFill/>
        </p:spPr>
        <p:txBody>
          <a:bodyPr wrap="square" lIns="0" tIns="0" rIns="0" bIns="0" anchor="t">
            <a:spAutoFit/>
          </a:bodyPr>
          <a:lstStyle/>
          <a:p>
            <a:pPr algn="l">
              <a:lnSpc>
                <a:spcPct val="100000"/>
              </a:lnSpc>
              <a:spcBef>
                <a:spcPts val="0"/>
              </a:spcBef>
              <a:spcAft>
                <a:spcPts val="300"/>
              </a:spcAft>
            </a:pPr>
            <a:r>
              <a:rPr sz="1450" b="1">
                <a:solidFill>
                  <a:srgbClr val="F4ECDD"/>
                </a:solidFill>
                <a:latin typeface="Syne"/>
              </a:rPr>
              <a:t>Risques &amp; compétences</a:t>
            </a:r>
          </a:p>
          <a:p>
            <a:pPr algn="l">
              <a:lnSpc>
                <a:spcPct val="100000"/>
              </a:lnSpc>
              <a:spcBef>
                <a:spcPts val="0"/>
              </a:spcBef>
              <a:spcAft>
                <a:spcPts val="300"/>
              </a:spcAft>
            </a:pPr>
            <a:r>
              <a:rPr sz="1050" b="0">
                <a:solidFill>
                  <a:srgbClr val="94896F"/>
                </a:solidFill>
                <a:latin typeface="Newsreader Medium"/>
              </a:rPr>
              <a:t>Dette technique, acquis portfolio</a:t>
            </a:r>
          </a:p>
        </p:txBody>
      </p:sp>
      <p:sp>
        <p:nvSpPr>
          <p:cNvPr id="27" name="Rounded Rectangle 26"/>
          <p:cNvSpPr/>
          <p:nvPr/>
        </p:nvSpPr>
        <p:spPr>
          <a:xfrm>
            <a:off x="6217920" y="5193792"/>
            <a:ext cx="5303520" cy="1024128"/>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19088" y="5303520"/>
            <a:ext cx="777240" cy="731520"/>
          </a:xfrm>
          <a:prstGeom prst="rect">
            <a:avLst/>
          </a:prstGeom>
          <a:noFill/>
        </p:spPr>
        <p:txBody>
          <a:bodyPr wrap="square" lIns="0" tIns="0" rIns="0" bIns="0" anchor="ctr">
            <a:spAutoFit/>
          </a:bodyPr>
          <a:lstStyle/>
          <a:p>
            <a:pPr algn="l">
              <a:lnSpc>
                <a:spcPct val="100000"/>
              </a:lnSpc>
              <a:spcBef>
                <a:spcPts val="0"/>
              </a:spcBef>
              <a:spcAft>
                <a:spcPts val="400"/>
              </a:spcAft>
            </a:pPr>
            <a:r>
              <a:rPr sz="2200" b="1">
                <a:solidFill>
                  <a:srgbClr val="FF5A1F"/>
                </a:solidFill>
                <a:latin typeface="Syne"/>
              </a:rPr>
              <a:t>08</a:t>
            </a:r>
          </a:p>
        </p:txBody>
      </p:sp>
      <p:sp>
        <p:nvSpPr>
          <p:cNvPr id="29" name="TextBox 28"/>
          <p:cNvSpPr txBox="1"/>
          <p:nvPr/>
        </p:nvSpPr>
        <p:spPr>
          <a:xfrm>
            <a:off x="7178040" y="5303520"/>
            <a:ext cx="4160520" cy="777240"/>
          </a:xfrm>
          <a:prstGeom prst="rect">
            <a:avLst/>
          </a:prstGeom>
          <a:noFill/>
        </p:spPr>
        <p:txBody>
          <a:bodyPr wrap="square" lIns="0" tIns="0" rIns="0" bIns="0" anchor="t">
            <a:spAutoFit/>
          </a:bodyPr>
          <a:lstStyle/>
          <a:p>
            <a:pPr algn="l">
              <a:lnSpc>
                <a:spcPct val="100000"/>
              </a:lnSpc>
              <a:spcBef>
                <a:spcPts val="0"/>
              </a:spcBef>
              <a:spcAft>
                <a:spcPts val="300"/>
              </a:spcAft>
            </a:pPr>
            <a:r>
              <a:rPr sz="1450" b="1">
                <a:solidFill>
                  <a:srgbClr val="F4ECDD"/>
                </a:solidFill>
                <a:latin typeface="Syne"/>
              </a:rPr>
              <a:t>Conclusion</a:t>
            </a:r>
          </a:p>
          <a:p>
            <a:pPr algn="l">
              <a:lnSpc>
                <a:spcPct val="100000"/>
              </a:lnSpc>
              <a:spcBef>
                <a:spcPts val="0"/>
              </a:spcBef>
              <a:spcAft>
                <a:spcPts val="300"/>
              </a:spcAft>
            </a:pPr>
            <a:r>
              <a:rPr sz="1050" b="0">
                <a:solidFill>
                  <a:srgbClr val="94896F"/>
                </a:solidFill>
                <a:latin typeface="Newsreader Medium"/>
              </a:rPr>
              <a:t>Techno préférée + arguments</a:t>
            </a:r>
          </a:p>
        </p:txBody>
      </p:sp>
      <p:sp>
        <p:nvSpPr>
          <p:cNvPr id="30" name="TextBox 29"/>
          <p:cNvSpPr txBox="1"/>
          <p:nvPr/>
        </p:nvSpPr>
        <p:spPr>
          <a:xfrm>
            <a:off x="640080" y="6446520"/>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a:solidFill>
                  <a:srgbClr val="94896F"/>
                </a:solidFill>
                <a:latin typeface="IBM Plex Mono"/>
              </a:rPr>
              <a:t>SAE4D01 DevCloud · Groupe 8 · URTADO P. / MALOT V.</a:t>
            </a:r>
          </a:p>
        </p:txBody>
      </p:sp>
      <p:sp>
        <p:nvSpPr>
          <p:cNvPr id="31" name="TextBox 30"/>
          <p:cNvSpPr txBox="1"/>
          <p:nvPr/>
        </p:nvSpPr>
        <p:spPr>
          <a:xfrm>
            <a:off x="10698480" y="6446520"/>
            <a:ext cx="91440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0">
                <a:solidFill>
                  <a:srgbClr val="94896F"/>
                </a:solidFill>
                <a:latin typeface="IBM Plex Mono"/>
              </a:rPr>
              <a:t>01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C0A07"/>
        </a:solidFill>
        <a:effectLst/>
      </p:bgPr>
    </p:bg>
    <p:spTree>
      <p:nvGrpSpPr>
        <p:cNvPr id="1" name=""/>
        <p:cNvGrpSpPr/>
        <p:nvPr/>
      </p:nvGrpSpPr>
      <p:grpSpPr>
        <a:xfrm>
          <a:off x="0" y="0"/>
          <a:ext cx="0" cy="0"/>
          <a:chOff x="0" y="0"/>
          <a:chExt cx="0" cy="0"/>
        </a:xfrm>
      </p:grpSpPr>
      <p:sp>
        <p:nvSpPr>
          <p:cNvPr id="2" name="Rectangle 1"/>
          <p:cNvSpPr/>
          <p:nvPr/>
        </p:nvSpPr>
        <p:spPr>
          <a:xfrm>
            <a:off x="640080" y="713232"/>
            <a:ext cx="502920"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10058400" cy="365760"/>
          </a:xfrm>
          <a:prstGeom prst="rect">
            <a:avLst/>
          </a:prstGeom>
          <a:noFill/>
        </p:spPr>
        <p:txBody>
          <a:bodyPr wrap="square" lIns="0" tIns="0" rIns="0" bIns="0" anchor="t">
            <a:spAutoFit/>
          </a:bodyPr>
          <a:lstStyle/>
          <a:p>
            <a:pPr algn="l">
              <a:lnSpc>
                <a:spcPct val="100000"/>
              </a:lnSpc>
              <a:spcBef>
                <a:spcPts val="0"/>
              </a:spcBef>
              <a:spcAft>
                <a:spcPts val="400"/>
              </a:spcAft>
            </a:pPr>
            <a:r>
              <a:rPr sz="1100" b="1">
                <a:solidFill>
                  <a:srgbClr val="FF5A1F"/>
                </a:solidFill>
                <a:latin typeface="IBM Plex Mono"/>
              </a:rPr>
              <a:t>01 · LE BESOIN</a:t>
            </a:r>
          </a:p>
        </p:txBody>
      </p:sp>
      <p:sp>
        <p:nvSpPr>
          <p:cNvPr id="4" name="TextBox 3"/>
          <p:cNvSpPr txBox="1"/>
          <p:nvPr/>
        </p:nvSpPr>
        <p:spPr>
          <a:xfrm>
            <a:off x="640080" y="777240"/>
            <a:ext cx="10789920" cy="822960"/>
          </a:xfrm>
          <a:prstGeom prst="rect">
            <a:avLst/>
          </a:prstGeom>
          <a:noFill/>
        </p:spPr>
        <p:txBody>
          <a:bodyPr wrap="square" lIns="0" tIns="0" rIns="0" bIns="0" anchor="t">
            <a:spAutoFit/>
          </a:bodyPr>
          <a:lstStyle/>
          <a:p>
            <a:pPr algn="l">
              <a:lnSpc>
                <a:spcPct val="100000"/>
              </a:lnSpc>
              <a:spcBef>
                <a:spcPts val="0"/>
              </a:spcBef>
              <a:spcAft>
                <a:spcPts val="400"/>
              </a:spcAft>
            </a:pPr>
            <a:r>
              <a:rPr sz="2800" b="1">
                <a:solidFill>
                  <a:srgbClr val="F4ECDD"/>
                </a:solidFill>
                <a:latin typeface="Syne"/>
              </a:rPr>
              <a:t>Cahier des charges</a:t>
            </a:r>
          </a:p>
        </p:txBody>
      </p:sp>
      <p:sp>
        <p:nvSpPr>
          <p:cNvPr id="5" name="Rectangle 4"/>
          <p:cNvSpPr/>
          <p:nvPr/>
        </p:nvSpPr>
        <p:spPr>
          <a:xfrm>
            <a:off x="640080" y="1417320"/>
            <a:ext cx="10908792" cy="12700"/>
          </a:xfrm>
          <a:prstGeom prst="rect">
            <a:avLst/>
          </a:prstGeom>
          <a:solidFill>
            <a:srgbClr val="3A3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72768"/>
            <a:ext cx="10908792" cy="685800"/>
          </a:xfrm>
          <a:prstGeom prst="rect">
            <a:avLst/>
          </a:prstGeom>
          <a:noFill/>
        </p:spPr>
        <p:txBody>
          <a:bodyPr wrap="square" lIns="0" tIns="0" rIns="0" bIns="0" anchor="t">
            <a:spAutoFit/>
          </a:bodyPr>
          <a:lstStyle/>
          <a:p>
            <a:pPr algn="l">
              <a:lnSpc>
                <a:spcPct val="120000"/>
              </a:lnSpc>
              <a:spcBef>
                <a:spcPts val="0"/>
              </a:spcBef>
              <a:spcAft>
                <a:spcPts val="400"/>
              </a:spcAft>
            </a:pPr>
            <a:r>
              <a:rPr sz="1400" b="0">
                <a:solidFill>
                  <a:srgbClr val="CFC4AD"/>
                </a:solidFill>
                <a:latin typeface="Newsreader Medium"/>
              </a:rPr>
              <a:t>Pierre et Valentin coprésident "PiVal" : deux datacenters </a:t>
            </a:r>
            <a:r>
              <a:rPr sz="1400" b="1">
                <a:solidFill>
                  <a:srgbClr val="F4ECDD"/>
                </a:solidFill>
                <a:latin typeface="Newsreader ExtraBold"/>
              </a:rPr>
              <a:t>leaf &amp; spine</a:t>
            </a:r>
            <a:r>
              <a:rPr sz="1400" b="0">
                <a:solidFill>
                  <a:srgbClr val="CFC4AD"/>
                </a:solidFill>
                <a:latin typeface="Newsreader Medium"/>
              </a:rPr>
              <a:t>, interconnectés via réseau B202 (10.202.0.0/16).</a:t>
            </a:r>
          </a:p>
        </p:txBody>
      </p:sp>
      <p:sp>
        <p:nvSpPr>
          <p:cNvPr id="7" name="Rounded Rectangle 6"/>
          <p:cNvSpPr/>
          <p:nvPr/>
        </p:nvSpPr>
        <p:spPr>
          <a:xfrm>
            <a:off x="640080" y="2377440"/>
            <a:ext cx="5303520" cy="109728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377440"/>
            <a:ext cx="50800" cy="109728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8" y="2487168"/>
            <a:ext cx="1645920" cy="411480"/>
          </a:xfrm>
          <a:prstGeom prst="rect">
            <a:avLst/>
          </a:prstGeom>
          <a:noFill/>
        </p:spPr>
        <p:txBody>
          <a:bodyPr wrap="square" lIns="0" tIns="0" rIns="0" bIns="0" anchor="t">
            <a:spAutoFit/>
          </a:bodyPr>
          <a:lstStyle/>
          <a:p>
            <a:pPr algn="l">
              <a:lnSpc>
                <a:spcPct val="100000"/>
              </a:lnSpc>
              <a:spcBef>
                <a:spcPts val="0"/>
              </a:spcBef>
              <a:spcAft>
                <a:spcPts val="400"/>
              </a:spcAft>
            </a:pPr>
            <a:r>
              <a:rPr sz="1250" b="1">
                <a:solidFill>
                  <a:srgbClr val="FF8A3D"/>
                </a:solidFill>
                <a:latin typeface="IBM Plex Mono"/>
              </a:rPr>
              <a:t>Topologie</a:t>
            </a:r>
          </a:p>
        </p:txBody>
      </p:sp>
      <p:sp>
        <p:nvSpPr>
          <p:cNvPr id="10" name="TextBox 9"/>
          <p:cNvSpPr txBox="1"/>
          <p:nvPr/>
        </p:nvSpPr>
        <p:spPr>
          <a:xfrm>
            <a:off x="841248" y="2880360"/>
            <a:ext cx="4892040" cy="548640"/>
          </a:xfrm>
          <a:prstGeom prst="rect">
            <a:avLst/>
          </a:prstGeom>
          <a:noFill/>
        </p:spPr>
        <p:txBody>
          <a:bodyPr wrap="square" lIns="0" tIns="0" rIns="0" bIns="0" anchor="t">
            <a:spAutoFit/>
          </a:bodyPr>
          <a:lstStyle/>
          <a:p>
            <a:pPr algn="l">
              <a:lnSpc>
                <a:spcPct val="105000"/>
              </a:lnSpc>
              <a:spcBef>
                <a:spcPts val="0"/>
              </a:spcBef>
              <a:spcAft>
                <a:spcPts val="400"/>
              </a:spcAft>
            </a:pPr>
            <a:r>
              <a:rPr sz="1150" b="0">
                <a:solidFill>
                  <a:srgbClr val="CFC4AD"/>
                </a:solidFill>
                <a:latin typeface="Newsreader Medium"/>
              </a:rPr>
              <a:t>Explorer les topologies datacenter : spines, leafs, border-leafs, management.</a:t>
            </a:r>
          </a:p>
        </p:txBody>
      </p:sp>
      <p:sp>
        <p:nvSpPr>
          <p:cNvPr id="11" name="Rounded Rectangle 10"/>
          <p:cNvSpPr/>
          <p:nvPr/>
        </p:nvSpPr>
        <p:spPr>
          <a:xfrm>
            <a:off x="6217920" y="2377440"/>
            <a:ext cx="5303520" cy="109728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17920" y="2377440"/>
            <a:ext cx="50800" cy="109728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19088" y="2487168"/>
            <a:ext cx="1645920" cy="411480"/>
          </a:xfrm>
          <a:prstGeom prst="rect">
            <a:avLst/>
          </a:prstGeom>
          <a:noFill/>
        </p:spPr>
        <p:txBody>
          <a:bodyPr wrap="square" lIns="0" tIns="0" rIns="0" bIns="0" anchor="t">
            <a:spAutoFit/>
          </a:bodyPr>
          <a:lstStyle/>
          <a:p>
            <a:pPr algn="l">
              <a:lnSpc>
                <a:spcPct val="100000"/>
              </a:lnSpc>
              <a:spcBef>
                <a:spcPts val="0"/>
              </a:spcBef>
              <a:spcAft>
                <a:spcPts val="400"/>
              </a:spcAft>
            </a:pPr>
            <a:r>
              <a:rPr sz="1250" b="1">
                <a:solidFill>
                  <a:srgbClr val="FF8A3D"/>
                </a:solidFill>
                <a:latin typeface="IBM Plex Mono"/>
              </a:rPr>
              <a:t>Routage</a:t>
            </a:r>
          </a:p>
        </p:txBody>
      </p:sp>
      <p:sp>
        <p:nvSpPr>
          <p:cNvPr id="14" name="TextBox 13"/>
          <p:cNvSpPr txBox="1"/>
          <p:nvPr/>
        </p:nvSpPr>
        <p:spPr>
          <a:xfrm>
            <a:off x="6419088" y="2880360"/>
            <a:ext cx="4892040" cy="548640"/>
          </a:xfrm>
          <a:prstGeom prst="rect">
            <a:avLst/>
          </a:prstGeom>
          <a:noFill/>
        </p:spPr>
        <p:txBody>
          <a:bodyPr wrap="square" lIns="0" tIns="0" rIns="0" bIns="0" anchor="t">
            <a:spAutoFit/>
          </a:bodyPr>
          <a:lstStyle/>
          <a:p>
            <a:pPr algn="l">
              <a:lnSpc>
                <a:spcPct val="105000"/>
              </a:lnSpc>
              <a:spcBef>
                <a:spcPts val="0"/>
              </a:spcBef>
              <a:spcAft>
                <a:spcPts val="400"/>
              </a:spcAft>
            </a:pPr>
            <a:r>
              <a:rPr sz="1150" b="0">
                <a:solidFill>
                  <a:srgbClr val="CFC4AD"/>
                </a:solidFill>
                <a:latin typeface="Newsreader Medium"/>
              </a:rPr>
              <a:t>BGP underlay et overlay (eBGP et iBGP), OSPF.</a:t>
            </a:r>
          </a:p>
        </p:txBody>
      </p:sp>
      <p:sp>
        <p:nvSpPr>
          <p:cNvPr id="15" name="Rounded Rectangle 14"/>
          <p:cNvSpPr/>
          <p:nvPr/>
        </p:nvSpPr>
        <p:spPr>
          <a:xfrm>
            <a:off x="640080" y="3657600"/>
            <a:ext cx="5303520" cy="109728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0080" y="3657600"/>
            <a:ext cx="50800" cy="109728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8" y="3767328"/>
            <a:ext cx="1645920" cy="411480"/>
          </a:xfrm>
          <a:prstGeom prst="rect">
            <a:avLst/>
          </a:prstGeom>
          <a:noFill/>
        </p:spPr>
        <p:txBody>
          <a:bodyPr wrap="square" lIns="0" tIns="0" rIns="0" bIns="0" anchor="t">
            <a:spAutoFit/>
          </a:bodyPr>
          <a:lstStyle/>
          <a:p>
            <a:pPr algn="l">
              <a:lnSpc>
                <a:spcPct val="100000"/>
              </a:lnSpc>
              <a:spcBef>
                <a:spcPts val="0"/>
              </a:spcBef>
              <a:spcAft>
                <a:spcPts val="400"/>
              </a:spcAft>
            </a:pPr>
            <a:r>
              <a:rPr sz="1250" b="1">
                <a:solidFill>
                  <a:srgbClr val="FF8A3D"/>
                </a:solidFill>
                <a:latin typeface="IBM Plex Mono"/>
              </a:rPr>
              <a:t>Matériel</a:t>
            </a:r>
          </a:p>
        </p:txBody>
      </p:sp>
      <p:sp>
        <p:nvSpPr>
          <p:cNvPr id="18" name="TextBox 17"/>
          <p:cNvSpPr txBox="1"/>
          <p:nvPr/>
        </p:nvSpPr>
        <p:spPr>
          <a:xfrm>
            <a:off x="841248" y="4160520"/>
            <a:ext cx="4892040" cy="548640"/>
          </a:xfrm>
          <a:prstGeom prst="rect">
            <a:avLst/>
          </a:prstGeom>
          <a:noFill/>
        </p:spPr>
        <p:txBody>
          <a:bodyPr wrap="square" lIns="0" tIns="0" rIns="0" bIns="0" anchor="t">
            <a:spAutoFit/>
          </a:bodyPr>
          <a:lstStyle/>
          <a:p>
            <a:pPr algn="l">
              <a:lnSpc>
                <a:spcPct val="105000"/>
              </a:lnSpc>
              <a:spcBef>
                <a:spcPts val="0"/>
              </a:spcBef>
              <a:spcAft>
                <a:spcPts val="400"/>
              </a:spcAft>
            </a:pPr>
            <a:r>
              <a:rPr sz="1150" b="0">
                <a:solidFill>
                  <a:srgbClr val="CFC4AD"/>
                </a:solidFill>
                <a:latin typeface="Newsreader Medium"/>
              </a:rPr>
              <a:t>Cisco Catalyst 8200 · C8000v · MikroTik · Arista cEOS · FRR.</a:t>
            </a:r>
          </a:p>
        </p:txBody>
      </p:sp>
      <p:sp>
        <p:nvSpPr>
          <p:cNvPr id="19" name="Rounded Rectangle 18"/>
          <p:cNvSpPr/>
          <p:nvPr/>
        </p:nvSpPr>
        <p:spPr>
          <a:xfrm>
            <a:off x="6217920" y="3657600"/>
            <a:ext cx="5303520" cy="109728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17920" y="3657600"/>
            <a:ext cx="50800" cy="109728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19088" y="3767328"/>
            <a:ext cx="1645920" cy="411480"/>
          </a:xfrm>
          <a:prstGeom prst="rect">
            <a:avLst/>
          </a:prstGeom>
          <a:noFill/>
        </p:spPr>
        <p:txBody>
          <a:bodyPr wrap="square" lIns="0" tIns="0" rIns="0" bIns="0" anchor="t">
            <a:spAutoFit/>
          </a:bodyPr>
          <a:lstStyle/>
          <a:p>
            <a:pPr algn="l">
              <a:lnSpc>
                <a:spcPct val="100000"/>
              </a:lnSpc>
              <a:spcBef>
                <a:spcPts val="0"/>
              </a:spcBef>
              <a:spcAft>
                <a:spcPts val="400"/>
              </a:spcAft>
            </a:pPr>
            <a:r>
              <a:rPr sz="1250" b="1">
                <a:solidFill>
                  <a:srgbClr val="FF8A3D"/>
                </a:solidFill>
                <a:latin typeface="IBM Plex Mono"/>
              </a:rPr>
              <a:t>VXLAN (data)</a:t>
            </a:r>
          </a:p>
        </p:txBody>
      </p:sp>
      <p:sp>
        <p:nvSpPr>
          <p:cNvPr id="22" name="TextBox 21"/>
          <p:cNvSpPr txBox="1"/>
          <p:nvPr/>
        </p:nvSpPr>
        <p:spPr>
          <a:xfrm>
            <a:off x="6419088" y="4160520"/>
            <a:ext cx="4892040" cy="548640"/>
          </a:xfrm>
          <a:prstGeom prst="rect">
            <a:avLst/>
          </a:prstGeom>
          <a:noFill/>
        </p:spPr>
        <p:txBody>
          <a:bodyPr wrap="square" lIns="0" tIns="0" rIns="0" bIns="0" anchor="t">
            <a:spAutoFit/>
          </a:bodyPr>
          <a:lstStyle/>
          <a:p>
            <a:pPr algn="l">
              <a:lnSpc>
                <a:spcPct val="105000"/>
              </a:lnSpc>
              <a:spcBef>
                <a:spcPts val="0"/>
              </a:spcBef>
              <a:spcAft>
                <a:spcPts val="400"/>
              </a:spcAft>
            </a:pPr>
            <a:r>
              <a:rPr sz="1150" b="0">
                <a:solidFill>
                  <a:srgbClr val="CFC4AD"/>
                </a:solidFill>
                <a:latin typeface="Newsreader Medium"/>
              </a:rPr>
              <a:t>Réseaux superposés L2 au-dessus du L3. Lever les limites VLAN.</a:t>
            </a:r>
          </a:p>
        </p:txBody>
      </p:sp>
      <p:sp>
        <p:nvSpPr>
          <p:cNvPr id="23" name="Rounded Rectangle 22"/>
          <p:cNvSpPr/>
          <p:nvPr/>
        </p:nvSpPr>
        <p:spPr>
          <a:xfrm>
            <a:off x="640080" y="4937760"/>
            <a:ext cx="5303520" cy="109728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40080" y="4937760"/>
            <a:ext cx="50800" cy="109728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41248" y="5047488"/>
            <a:ext cx="1645920" cy="411480"/>
          </a:xfrm>
          <a:prstGeom prst="rect">
            <a:avLst/>
          </a:prstGeom>
          <a:noFill/>
        </p:spPr>
        <p:txBody>
          <a:bodyPr wrap="square" lIns="0" tIns="0" rIns="0" bIns="0" anchor="t">
            <a:spAutoFit/>
          </a:bodyPr>
          <a:lstStyle/>
          <a:p>
            <a:pPr algn="l">
              <a:lnSpc>
                <a:spcPct val="100000"/>
              </a:lnSpc>
              <a:spcBef>
                <a:spcPts val="0"/>
              </a:spcBef>
              <a:spcAft>
                <a:spcPts val="400"/>
              </a:spcAft>
            </a:pPr>
            <a:r>
              <a:rPr sz="1250" b="1">
                <a:solidFill>
                  <a:srgbClr val="FF8A3D"/>
                </a:solidFill>
                <a:latin typeface="IBM Plex Mono"/>
              </a:rPr>
              <a:t>MP-BGP/EVPN</a:t>
            </a:r>
          </a:p>
        </p:txBody>
      </p:sp>
      <p:sp>
        <p:nvSpPr>
          <p:cNvPr id="26" name="TextBox 25"/>
          <p:cNvSpPr txBox="1"/>
          <p:nvPr/>
        </p:nvSpPr>
        <p:spPr>
          <a:xfrm>
            <a:off x="841248" y="5440680"/>
            <a:ext cx="4892040" cy="548640"/>
          </a:xfrm>
          <a:prstGeom prst="rect">
            <a:avLst/>
          </a:prstGeom>
          <a:noFill/>
        </p:spPr>
        <p:txBody>
          <a:bodyPr wrap="square" lIns="0" tIns="0" rIns="0" bIns="0" anchor="t">
            <a:spAutoFit/>
          </a:bodyPr>
          <a:lstStyle/>
          <a:p>
            <a:pPr algn="l">
              <a:lnSpc>
                <a:spcPct val="105000"/>
              </a:lnSpc>
              <a:spcBef>
                <a:spcPts val="0"/>
              </a:spcBef>
              <a:spcAft>
                <a:spcPts val="400"/>
              </a:spcAft>
            </a:pPr>
            <a:r>
              <a:rPr sz="1150" b="0">
                <a:solidFill>
                  <a:srgbClr val="CFC4AD"/>
                </a:solidFill>
                <a:latin typeface="Newsreader Medium"/>
              </a:rPr>
              <a:t>Distribuer les infos MAC/IP entre VTEPs (control-plane).</a:t>
            </a:r>
          </a:p>
        </p:txBody>
      </p:sp>
      <p:sp>
        <p:nvSpPr>
          <p:cNvPr id="27" name="Rounded Rectangle 26"/>
          <p:cNvSpPr/>
          <p:nvPr/>
        </p:nvSpPr>
        <p:spPr>
          <a:xfrm>
            <a:off x="6217920" y="4937760"/>
            <a:ext cx="5303520" cy="109728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17920" y="4937760"/>
            <a:ext cx="50800" cy="109728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19088" y="5047488"/>
            <a:ext cx="1645920" cy="411480"/>
          </a:xfrm>
          <a:prstGeom prst="rect">
            <a:avLst/>
          </a:prstGeom>
          <a:noFill/>
        </p:spPr>
        <p:txBody>
          <a:bodyPr wrap="square" lIns="0" tIns="0" rIns="0" bIns="0" anchor="t">
            <a:spAutoFit/>
          </a:bodyPr>
          <a:lstStyle/>
          <a:p>
            <a:pPr algn="l">
              <a:lnSpc>
                <a:spcPct val="100000"/>
              </a:lnSpc>
              <a:spcBef>
                <a:spcPts val="0"/>
              </a:spcBef>
              <a:spcAft>
                <a:spcPts val="400"/>
              </a:spcAft>
            </a:pPr>
            <a:r>
              <a:rPr sz="1250" b="1">
                <a:solidFill>
                  <a:srgbClr val="FF8A3D"/>
                </a:solidFill>
                <a:latin typeface="IBM Plex Mono"/>
              </a:rPr>
              <a:t>Observabilité</a:t>
            </a:r>
          </a:p>
        </p:txBody>
      </p:sp>
      <p:sp>
        <p:nvSpPr>
          <p:cNvPr id="30" name="TextBox 29"/>
          <p:cNvSpPr txBox="1"/>
          <p:nvPr/>
        </p:nvSpPr>
        <p:spPr>
          <a:xfrm>
            <a:off x="6419088" y="5440680"/>
            <a:ext cx="4892040" cy="548640"/>
          </a:xfrm>
          <a:prstGeom prst="rect">
            <a:avLst/>
          </a:prstGeom>
          <a:noFill/>
        </p:spPr>
        <p:txBody>
          <a:bodyPr wrap="square" lIns="0" tIns="0" rIns="0" bIns="0" anchor="t">
            <a:spAutoFit/>
          </a:bodyPr>
          <a:lstStyle/>
          <a:p>
            <a:pPr algn="l">
              <a:lnSpc>
                <a:spcPct val="105000"/>
              </a:lnSpc>
              <a:spcBef>
                <a:spcPts val="0"/>
              </a:spcBef>
              <a:spcAft>
                <a:spcPts val="400"/>
              </a:spcAft>
            </a:pPr>
            <a:r>
              <a:rPr sz="1150" b="0">
                <a:solidFill>
                  <a:srgbClr val="CFC4AD"/>
                </a:solidFill>
                <a:latin typeface="Newsreader Medium"/>
              </a:rPr>
              <a:t>Monitorer la fabric. Tests de charge, benchmarks débit.</a:t>
            </a:r>
          </a:p>
        </p:txBody>
      </p:sp>
      <p:sp>
        <p:nvSpPr>
          <p:cNvPr id="31" name="TextBox 30"/>
          <p:cNvSpPr txBox="1"/>
          <p:nvPr/>
        </p:nvSpPr>
        <p:spPr>
          <a:xfrm>
            <a:off x="640080" y="6446520"/>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a:solidFill>
                  <a:srgbClr val="94896F"/>
                </a:solidFill>
                <a:latin typeface="IBM Plex Mono"/>
              </a:rPr>
              <a:t>SAE4D01 DevCloud · Groupe 8 · URTADO P. / MALOT V.</a:t>
            </a:r>
          </a:p>
        </p:txBody>
      </p:sp>
      <p:sp>
        <p:nvSpPr>
          <p:cNvPr id="32" name="TextBox 31"/>
          <p:cNvSpPr txBox="1"/>
          <p:nvPr/>
        </p:nvSpPr>
        <p:spPr>
          <a:xfrm>
            <a:off x="10698480" y="6446520"/>
            <a:ext cx="91440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0">
                <a:solidFill>
                  <a:srgbClr val="94896F"/>
                </a:solidFill>
                <a:latin typeface="IBM Plex Mono"/>
              </a:rPr>
              <a:t>02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C0A07"/>
        </a:solidFill>
        <a:effectLst/>
      </p:bgPr>
    </p:bg>
    <p:spTree>
      <p:nvGrpSpPr>
        <p:cNvPr id="1" name=""/>
        <p:cNvGrpSpPr/>
        <p:nvPr/>
      </p:nvGrpSpPr>
      <p:grpSpPr>
        <a:xfrm>
          <a:off x="0" y="0"/>
          <a:ext cx="0" cy="0"/>
          <a:chOff x="0" y="0"/>
          <a:chExt cx="0" cy="0"/>
        </a:xfrm>
      </p:grpSpPr>
      <p:sp>
        <p:nvSpPr>
          <p:cNvPr id="2" name="Rectangle 1"/>
          <p:cNvSpPr/>
          <p:nvPr/>
        </p:nvSpPr>
        <p:spPr>
          <a:xfrm>
            <a:off x="640080" y="713232"/>
            <a:ext cx="502920"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10058400" cy="365760"/>
          </a:xfrm>
          <a:prstGeom prst="rect">
            <a:avLst/>
          </a:prstGeom>
          <a:noFill/>
        </p:spPr>
        <p:txBody>
          <a:bodyPr wrap="square" lIns="0" tIns="0" rIns="0" bIns="0" anchor="t">
            <a:spAutoFit/>
          </a:bodyPr>
          <a:lstStyle/>
          <a:p>
            <a:pPr algn="l">
              <a:lnSpc>
                <a:spcPct val="100000"/>
              </a:lnSpc>
              <a:spcBef>
                <a:spcPts val="0"/>
              </a:spcBef>
              <a:spcAft>
                <a:spcPts val="400"/>
              </a:spcAft>
            </a:pPr>
            <a:r>
              <a:rPr sz="1100" b="1">
                <a:solidFill>
                  <a:srgbClr val="FF5A1F"/>
                </a:solidFill>
                <a:latin typeface="IBM Plex Mono"/>
              </a:rPr>
              <a:t>02 · ORGANISATION</a:t>
            </a:r>
          </a:p>
        </p:txBody>
      </p:sp>
      <p:sp>
        <p:nvSpPr>
          <p:cNvPr id="4" name="TextBox 3"/>
          <p:cNvSpPr txBox="1"/>
          <p:nvPr/>
        </p:nvSpPr>
        <p:spPr>
          <a:xfrm>
            <a:off x="640080" y="777240"/>
            <a:ext cx="10789920" cy="822960"/>
          </a:xfrm>
          <a:prstGeom prst="rect">
            <a:avLst/>
          </a:prstGeom>
          <a:noFill/>
        </p:spPr>
        <p:txBody>
          <a:bodyPr wrap="square" lIns="0" tIns="0" rIns="0" bIns="0" anchor="t">
            <a:spAutoFit/>
          </a:bodyPr>
          <a:lstStyle/>
          <a:p>
            <a:pPr algn="l">
              <a:lnSpc>
                <a:spcPct val="100000"/>
              </a:lnSpc>
              <a:spcBef>
                <a:spcPts val="0"/>
              </a:spcBef>
              <a:spcAft>
                <a:spcPts val="400"/>
              </a:spcAft>
            </a:pPr>
            <a:r>
              <a:rPr sz="2800" b="1">
                <a:solidFill>
                  <a:srgbClr val="F4ECDD"/>
                </a:solidFill>
                <a:latin typeface="Syne"/>
              </a:rPr>
              <a:t>Répartition du travail</a:t>
            </a:r>
          </a:p>
        </p:txBody>
      </p:sp>
      <p:sp>
        <p:nvSpPr>
          <p:cNvPr id="5" name="Rectangle 4"/>
          <p:cNvSpPr/>
          <p:nvPr/>
        </p:nvSpPr>
        <p:spPr>
          <a:xfrm>
            <a:off x="640080" y="1417320"/>
            <a:ext cx="10908792" cy="12700"/>
          </a:xfrm>
          <a:prstGeom prst="rect">
            <a:avLst/>
          </a:prstGeom>
          <a:solidFill>
            <a:srgbClr val="3A3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646920" y="384048"/>
            <a:ext cx="1901952" cy="384048"/>
          </a:xfrm>
          <a:prstGeom prst="roundRect">
            <a:avLst/>
          </a:prstGeom>
          <a:solidFill>
            <a:srgbClr val="16120C"/>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46920" y="457200"/>
            <a:ext cx="1901952" cy="274320"/>
          </a:xfrm>
          <a:prstGeom prst="rect">
            <a:avLst/>
          </a:prstGeom>
          <a:noFill/>
        </p:spPr>
        <p:txBody>
          <a:bodyPr wrap="square" lIns="0" tIns="0" rIns="0" bIns="0" anchor="t">
            <a:spAutoFit/>
          </a:bodyPr>
          <a:lstStyle/>
          <a:p>
            <a:pPr algn="ctr">
              <a:lnSpc>
                <a:spcPct val="100000"/>
              </a:lnSpc>
              <a:spcBef>
                <a:spcPts val="0"/>
              </a:spcBef>
              <a:spcAft>
                <a:spcPts val="400"/>
              </a:spcAft>
            </a:pPr>
            <a:r>
              <a:rPr sz="1100" b="1">
                <a:solidFill>
                  <a:srgbClr val="CFC4AD"/>
                </a:solidFill>
                <a:latin typeface="IBM Plex Mono"/>
              </a:rPr>
              <a:t>● ○ BINÔME</a:t>
            </a:r>
          </a:p>
        </p:txBody>
      </p:sp>
      <p:sp>
        <p:nvSpPr>
          <p:cNvPr id="8" name="Rounded Rectangle 7"/>
          <p:cNvSpPr/>
          <p:nvPr/>
        </p:nvSpPr>
        <p:spPr>
          <a:xfrm>
            <a:off x="640080" y="1627632"/>
            <a:ext cx="5330952" cy="457200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627632"/>
            <a:ext cx="5330952"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 y="1783080"/>
            <a:ext cx="4846320" cy="685800"/>
          </a:xfrm>
          <a:prstGeom prst="rect">
            <a:avLst/>
          </a:prstGeom>
          <a:noFill/>
        </p:spPr>
        <p:txBody>
          <a:bodyPr wrap="square" lIns="0" tIns="0" rIns="0" bIns="0" anchor="t">
            <a:spAutoFit/>
          </a:bodyPr>
          <a:lstStyle/>
          <a:p>
            <a:pPr algn="l">
              <a:lnSpc>
                <a:spcPct val="100000"/>
              </a:lnSpc>
              <a:spcBef>
                <a:spcPts val="0"/>
              </a:spcBef>
              <a:spcAft>
                <a:spcPts val="200"/>
              </a:spcAft>
            </a:pPr>
            <a:r>
              <a:rPr sz="1700" b="1">
                <a:solidFill>
                  <a:srgbClr val="F4ECDD"/>
                </a:solidFill>
                <a:latin typeface="Syne"/>
              </a:rPr>
              <a:t>● PIERRE URTADO</a:t>
            </a:r>
          </a:p>
          <a:p>
            <a:pPr algn="l">
              <a:lnSpc>
                <a:spcPct val="100000"/>
              </a:lnSpc>
              <a:spcBef>
                <a:spcPts val="0"/>
              </a:spcBef>
              <a:spcAft>
                <a:spcPts val="200"/>
              </a:spcAft>
            </a:pPr>
            <a:r>
              <a:rPr sz="1100" b="1">
                <a:solidFill>
                  <a:srgbClr val="FF5A1F"/>
                </a:solidFill>
                <a:latin typeface="IBM Plex Mono"/>
              </a:rPr>
              <a:t>eBGP · Cisco, FRR · VXLAN &amp; Observabilité</a:t>
            </a:r>
          </a:p>
        </p:txBody>
      </p:sp>
      <p:sp>
        <p:nvSpPr>
          <p:cNvPr id="11" name="TextBox 10"/>
          <p:cNvSpPr txBox="1"/>
          <p:nvPr/>
        </p:nvSpPr>
        <p:spPr>
          <a:xfrm>
            <a:off x="896112" y="2606040"/>
            <a:ext cx="4846320" cy="548640"/>
          </a:xfrm>
          <a:prstGeom prst="rect">
            <a:avLst/>
          </a:prstGeom>
          <a:noFill/>
        </p:spPr>
        <p:txBody>
          <a:bodyPr wrap="square" lIns="0" tIns="0" rIns="0" bIns="0" anchor="t">
            <a:spAutoFit/>
          </a:bodyPr>
          <a:lstStyle/>
          <a:p>
            <a:pPr algn="l">
              <a:lnSpc>
                <a:spcPct val="105000"/>
              </a:lnSpc>
              <a:spcBef>
                <a:spcPts val="0"/>
              </a:spcBef>
              <a:spcAft>
                <a:spcPts val="400"/>
              </a:spcAft>
            </a:pPr>
            <a:r>
              <a:rPr sz="1250" b="1">
                <a:solidFill>
                  <a:srgbClr val="FF5A1F"/>
                </a:solidFill>
                <a:latin typeface="Newsreader ExtraBold"/>
              </a:rPr>
              <a:t>• </a:t>
            </a:r>
            <a:r>
              <a:rPr sz="1250" b="0">
                <a:solidFill>
                  <a:srgbClr val="CFC4AD"/>
                </a:solidFill>
                <a:latin typeface="Newsreader Medium"/>
              </a:rPr>
              <a:t>Fabric eBGP/FRR (5 topos : eBGP, iBGP, OSPF, mixed, EVPN)</a:t>
            </a:r>
          </a:p>
        </p:txBody>
      </p:sp>
      <p:sp>
        <p:nvSpPr>
          <p:cNvPr id="12" name="TextBox 11"/>
          <p:cNvSpPr txBox="1"/>
          <p:nvPr/>
        </p:nvSpPr>
        <p:spPr>
          <a:xfrm>
            <a:off x="896112" y="3200400"/>
            <a:ext cx="4846320" cy="548640"/>
          </a:xfrm>
          <a:prstGeom prst="rect">
            <a:avLst/>
          </a:prstGeom>
          <a:noFill/>
        </p:spPr>
        <p:txBody>
          <a:bodyPr wrap="square" lIns="0" tIns="0" rIns="0" bIns="0" anchor="t">
            <a:spAutoFit/>
          </a:bodyPr>
          <a:lstStyle/>
          <a:p>
            <a:pPr algn="l">
              <a:lnSpc>
                <a:spcPct val="105000"/>
              </a:lnSpc>
              <a:spcBef>
                <a:spcPts val="0"/>
              </a:spcBef>
              <a:spcAft>
                <a:spcPts val="400"/>
              </a:spcAft>
            </a:pPr>
            <a:r>
              <a:rPr sz="1250" b="1">
                <a:solidFill>
                  <a:srgbClr val="FF5A1F"/>
                </a:solidFill>
                <a:latin typeface="Newsreader ExtraBold"/>
              </a:rPr>
              <a:t>• </a:t>
            </a:r>
            <a:r>
              <a:rPr sz="1250" b="0">
                <a:solidFill>
                  <a:srgbClr val="CFC4AD"/>
                </a:solidFill>
                <a:latin typeface="Newsreader Medium"/>
              </a:rPr>
              <a:t>Lab VXLAN IRB + Anycast Gateway</a:t>
            </a:r>
          </a:p>
        </p:txBody>
      </p:sp>
      <p:sp>
        <p:nvSpPr>
          <p:cNvPr id="13" name="TextBox 12"/>
          <p:cNvSpPr txBox="1"/>
          <p:nvPr/>
        </p:nvSpPr>
        <p:spPr>
          <a:xfrm>
            <a:off x="896112" y="3794760"/>
            <a:ext cx="4846320" cy="548640"/>
          </a:xfrm>
          <a:prstGeom prst="rect">
            <a:avLst/>
          </a:prstGeom>
          <a:noFill/>
        </p:spPr>
        <p:txBody>
          <a:bodyPr wrap="square" lIns="0" tIns="0" rIns="0" bIns="0" anchor="t">
            <a:spAutoFit/>
          </a:bodyPr>
          <a:lstStyle/>
          <a:p>
            <a:pPr algn="l">
              <a:lnSpc>
                <a:spcPct val="105000"/>
              </a:lnSpc>
              <a:spcBef>
                <a:spcPts val="0"/>
              </a:spcBef>
              <a:spcAft>
                <a:spcPts val="400"/>
              </a:spcAft>
            </a:pPr>
            <a:r>
              <a:rPr sz="1250" b="1">
                <a:solidFill>
                  <a:srgbClr val="FF5A1F"/>
                </a:solidFill>
                <a:latin typeface="Newsreader ExtraBold"/>
              </a:rPr>
              <a:t>• </a:t>
            </a:r>
            <a:r>
              <a:rPr sz="1250" b="0">
                <a:solidFill>
                  <a:srgbClr val="CFC4AD"/>
                </a:solidFill>
                <a:latin typeface="Newsreader Medium"/>
              </a:rPr>
              <a:t>NFVIS + rebuild &amp; déploiement VM C8000v</a:t>
            </a:r>
          </a:p>
        </p:txBody>
      </p:sp>
      <p:sp>
        <p:nvSpPr>
          <p:cNvPr id="14" name="TextBox 13"/>
          <p:cNvSpPr txBox="1"/>
          <p:nvPr/>
        </p:nvSpPr>
        <p:spPr>
          <a:xfrm>
            <a:off x="896112" y="4389120"/>
            <a:ext cx="4846320" cy="548640"/>
          </a:xfrm>
          <a:prstGeom prst="rect">
            <a:avLst/>
          </a:prstGeom>
          <a:noFill/>
        </p:spPr>
        <p:txBody>
          <a:bodyPr wrap="square" lIns="0" tIns="0" rIns="0" bIns="0" anchor="t">
            <a:spAutoFit/>
          </a:bodyPr>
          <a:lstStyle/>
          <a:p>
            <a:pPr algn="l">
              <a:lnSpc>
                <a:spcPct val="105000"/>
              </a:lnSpc>
              <a:spcBef>
                <a:spcPts val="0"/>
              </a:spcBef>
              <a:spcAft>
                <a:spcPts val="400"/>
              </a:spcAft>
            </a:pPr>
            <a:r>
              <a:rPr sz="1250" b="1">
                <a:solidFill>
                  <a:srgbClr val="FF5A1F"/>
                </a:solidFill>
                <a:latin typeface="Newsreader ExtraBold"/>
              </a:rPr>
              <a:t>• </a:t>
            </a:r>
            <a:r>
              <a:rPr sz="1250" b="0">
                <a:solidFill>
                  <a:srgbClr val="CFC4AD"/>
                </a:solidFill>
                <a:latin typeface="Newsreader Medium"/>
              </a:rPr>
              <a:t>eBGP physique AS65080/65081 + intergroupe</a:t>
            </a:r>
          </a:p>
        </p:txBody>
      </p:sp>
      <p:sp>
        <p:nvSpPr>
          <p:cNvPr id="15" name="TextBox 14"/>
          <p:cNvSpPr txBox="1"/>
          <p:nvPr/>
        </p:nvSpPr>
        <p:spPr>
          <a:xfrm>
            <a:off x="896112" y="4983480"/>
            <a:ext cx="4846320" cy="548640"/>
          </a:xfrm>
          <a:prstGeom prst="rect">
            <a:avLst/>
          </a:prstGeom>
          <a:noFill/>
        </p:spPr>
        <p:txBody>
          <a:bodyPr wrap="square" lIns="0" tIns="0" rIns="0" bIns="0" anchor="t">
            <a:spAutoFit/>
          </a:bodyPr>
          <a:lstStyle/>
          <a:p>
            <a:pPr algn="l">
              <a:lnSpc>
                <a:spcPct val="105000"/>
              </a:lnSpc>
              <a:spcBef>
                <a:spcPts val="0"/>
              </a:spcBef>
              <a:spcAft>
                <a:spcPts val="400"/>
              </a:spcAft>
            </a:pPr>
            <a:r>
              <a:rPr sz="1250" b="1">
                <a:solidFill>
                  <a:srgbClr val="FF5A1F"/>
                </a:solidFill>
                <a:latin typeface="Newsreader ExtraBold"/>
              </a:rPr>
              <a:t>• </a:t>
            </a:r>
            <a:r>
              <a:rPr sz="1250" b="0">
                <a:solidFill>
                  <a:srgbClr val="CFC4AD"/>
                </a:solidFill>
                <a:latin typeface="Newsreader Medium"/>
              </a:rPr>
              <a:t>Observabilité : clab_exporter.py + Grafana</a:t>
            </a:r>
          </a:p>
        </p:txBody>
      </p:sp>
      <p:sp>
        <p:nvSpPr>
          <p:cNvPr id="16" name="Rounded Rectangle 15"/>
          <p:cNvSpPr/>
          <p:nvPr/>
        </p:nvSpPr>
        <p:spPr>
          <a:xfrm>
            <a:off x="6217920" y="1627632"/>
            <a:ext cx="5330952" cy="457200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17920" y="1627632"/>
            <a:ext cx="5330952" cy="50800"/>
          </a:xfrm>
          <a:prstGeom prst="rect">
            <a:avLst/>
          </a:prstGeom>
          <a:solidFill>
            <a:srgbClr val="FF8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73952" y="1783080"/>
            <a:ext cx="4846320" cy="685800"/>
          </a:xfrm>
          <a:prstGeom prst="rect">
            <a:avLst/>
          </a:prstGeom>
          <a:noFill/>
        </p:spPr>
        <p:txBody>
          <a:bodyPr wrap="square" lIns="0" tIns="0" rIns="0" bIns="0" anchor="t">
            <a:spAutoFit/>
          </a:bodyPr>
          <a:lstStyle/>
          <a:p>
            <a:pPr algn="l">
              <a:lnSpc>
                <a:spcPct val="100000"/>
              </a:lnSpc>
              <a:spcBef>
                <a:spcPts val="0"/>
              </a:spcBef>
              <a:spcAft>
                <a:spcPts val="200"/>
              </a:spcAft>
            </a:pPr>
            <a:r>
              <a:rPr sz="1700" b="1">
                <a:solidFill>
                  <a:srgbClr val="F4ECDD"/>
                </a:solidFill>
                <a:latin typeface="Syne"/>
              </a:rPr>
              <a:t>○ VALENTIN MALOT</a:t>
            </a:r>
          </a:p>
          <a:p>
            <a:pPr algn="l">
              <a:lnSpc>
                <a:spcPct val="100000"/>
              </a:lnSpc>
              <a:spcBef>
                <a:spcPts val="0"/>
              </a:spcBef>
              <a:spcAft>
                <a:spcPts val="200"/>
              </a:spcAft>
            </a:pPr>
            <a:r>
              <a:rPr sz="1100" b="1">
                <a:solidFill>
                  <a:srgbClr val="FF8A3D"/>
                </a:solidFill>
                <a:latin typeface="IBM Plex Mono"/>
              </a:rPr>
              <a:t>iBGP, eBGP, VXLAN · Arista · MP-BGP/EVPN</a:t>
            </a:r>
          </a:p>
        </p:txBody>
      </p:sp>
      <p:sp>
        <p:nvSpPr>
          <p:cNvPr id="19" name="TextBox 18"/>
          <p:cNvSpPr txBox="1"/>
          <p:nvPr/>
        </p:nvSpPr>
        <p:spPr>
          <a:xfrm>
            <a:off x="6473952" y="2606040"/>
            <a:ext cx="4846320" cy="548640"/>
          </a:xfrm>
          <a:prstGeom prst="rect">
            <a:avLst/>
          </a:prstGeom>
          <a:noFill/>
        </p:spPr>
        <p:txBody>
          <a:bodyPr wrap="square" lIns="0" tIns="0" rIns="0" bIns="0" anchor="t">
            <a:spAutoFit/>
          </a:bodyPr>
          <a:lstStyle/>
          <a:p>
            <a:pPr algn="l">
              <a:lnSpc>
                <a:spcPct val="105000"/>
              </a:lnSpc>
              <a:spcBef>
                <a:spcPts val="0"/>
              </a:spcBef>
              <a:spcAft>
                <a:spcPts val="400"/>
              </a:spcAft>
            </a:pPr>
            <a:r>
              <a:rPr sz="1250" b="1">
                <a:solidFill>
                  <a:srgbClr val="FF8A3D"/>
                </a:solidFill>
                <a:latin typeface="Newsreader ExtraBold"/>
              </a:rPr>
              <a:t>• </a:t>
            </a:r>
            <a:r>
              <a:rPr sz="1250" b="0">
                <a:solidFill>
                  <a:srgbClr val="CFC4AD"/>
                </a:solidFill>
                <a:latin typeface="Newsreader Medium"/>
              </a:rPr>
              <a:t>Déploiement : Technitium DNS et VaultWarden</a:t>
            </a:r>
          </a:p>
        </p:txBody>
      </p:sp>
      <p:sp>
        <p:nvSpPr>
          <p:cNvPr id="20" name="TextBox 19"/>
          <p:cNvSpPr txBox="1"/>
          <p:nvPr/>
        </p:nvSpPr>
        <p:spPr>
          <a:xfrm>
            <a:off x="6473952" y="3200400"/>
            <a:ext cx="4846320" cy="548640"/>
          </a:xfrm>
          <a:prstGeom prst="rect">
            <a:avLst/>
          </a:prstGeom>
          <a:noFill/>
        </p:spPr>
        <p:txBody>
          <a:bodyPr wrap="square" lIns="0" tIns="0" rIns="0" bIns="0" anchor="t">
            <a:spAutoFit/>
          </a:bodyPr>
          <a:lstStyle/>
          <a:p>
            <a:pPr algn="l">
              <a:lnSpc>
                <a:spcPct val="105000"/>
              </a:lnSpc>
              <a:spcBef>
                <a:spcPts val="0"/>
              </a:spcBef>
              <a:spcAft>
                <a:spcPts val="400"/>
              </a:spcAft>
            </a:pPr>
            <a:r>
              <a:rPr sz="1250" b="1">
                <a:solidFill>
                  <a:srgbClr val="FF8A3D"/>
                </a:solidFill>
                <a:latin typeface="Newsreader ExtraBold"/>
              </a:rPr>
              <a:t>• </a:t>
            </a:r>
            <a:r>
              <a:rPr sz="1250" b="0">
                <a:solidFill>
                  <a:srgbClr val="CFC4AD"/>
                </a:solidFill>
                <a:latin typeface="Newsreader Medium"/>
              </a:rPr>
              <a:t>Formation : TPs VXLAN, eBGP et iBGP (TP 1→5)</a:t>
            </a:r>
          </a:p>
        </p:txBody>
      </p:sp>
      <p:sp>
        <p:nvSpPr>
          <p:cNvPr id="21" name="TextBox 20"/>
          <p:cNvSpPr txBox="1"/>
          <p:nvPr/>
        </p:nvSpPr>
        <p:spPr>
          <a:xfrm>
            <a:off x="6473952" y="3794760"/>
            <a:ext cx="4846320" cy="548640"/>
          </a:xfrm>
          <a:prstGeom prst="rect">
            <a:avLst/>
          </a:prstGeom>
          <a:noFill/>
        </p:spPr>
        <p:txBody>
          <a:bodyPr wrap="square" lIns="0" tIns="0" rIns="0" bIns="0" anchor="t">
            <a:spAutoFit/>
          </a:bodyPr>
          <a:lstStyle/>
          <a:p>
            <a:pPr algn="l">
              <a:lnSpc>
                <a:spcPct val="105000"/>
              </a:lnSpc>
              <a:spcBef>
                <a:spcPts val="0"/>
              </a:spcBef>
              <a:spcAft>
                <a:spcPts val="400"/>
              </a:spcAft>
            </a:pPr>
            <a:r>
              <a:rPr sz="1250" b="1">
                <a:solidFill>
                  <a:srgbClr val="FF8A3D"/>
                </a:solidFill>
                <a:latin typeface="Newsreader ExtraBold"/>
              </a:rPr>
              <a:t>• </a:t>
            </a:r>
            <a:r>
              <a:rPr sz="1250" b="0">
                <a:solidFill>
                  <a:srgbClr val="CFC4AD"/>
                </a:solidFill>
                <a:latin typeface="Newsreader Medium"/>
              </a:rPr>
              <a:t>Fabric iBGP AS unique 65899 (Arista cEOS 4.36.1F)</a:t>
            </a:r>
          </a:p>
        </p:txBody>
      </p:sp>
      <p:sp>
        <p:nvSpPr>
          <p:cNvPr id="22" name="TextBox 21"/>
          <p:cNvSpPr txBox="1"/>
          <p:nvPr/>
        </p:nvSpPr>
        <p:spPr>
          <a:xfrm>
            <a:off x="6473952" y="4389120"/>
            <a:ext cx="4846320" cy="548640"/>
          </a:xfrm>
          <a:prstGeom prst="rect">
            <a:avLst/>
          </a:prstGeom>
          <a:noFill/>
        </p:spPr>
        <p:txBody>
          <a:bodyPr wrap="square" lIns="0" tIns="0" rIns="0" bIns="0" anchor="t">
            <a:spAutoFit/>
          </a:bodyPr>
          <a:lstStyle/>
          <a:p>
            <a:pPr algn="l">
              <a:lnSpc>
                <a:spcPct val="105000"/>
              </a:lnSpc>
              <a:spcBef>
                <a:spcPts val="0"/>
              </a:spcBef>
              <a:spcAft>
                <a:spcPts val="400"/>
              </a:spcAft>
            </a:pPr>
            <a:r>
              <a:rPr sz="1250" b="1">
                <a:solidFill>
                  <a:srgbClr val="FF8A3D"/>
                </a:solidFill>
                <a:latin typeface="Newsreader ExtraBold"/>
              </a:rPr>
              <a:t>• </a:t>
            </a:r>
            <a:r>
              <a:rPr sz="1250" b="0">
                <a:solidFill>
                  <a:srgbClr val="CFC4AD"/>
                </a:solidFill>
                <a:latin typeface="Newsreader Medium"/>
              </a:rPr>
              <a:t>VXLAN + IRB asymétrique + anycast VARP</a:t>
            </a:r>
          </a:p>
        </p:txBody>
      </p:sp>
      <p:sp>
        <p:nvSpPr>
          <p:cNvPr id="23" name="TextBox 22"/>
          <p:cNvSpPr txBox="1"/>
          <p:nvPr/>
        </p:nvSpPr>
        <p:spPr>
          <a:xfrm>
            <a:off x="6473952" y="4983480"/>
            <a:ext cx="4846320" cy="548640"/>
          </a:xfrm>
          <a:prstGeom prst="rect">
            <a:avLst/>
          </a:prstGeom>
          <a:noFill/>
        </p:spPr>
        <p:txBody>
          <a:bodyPr wrap="square" lIns="0" tIns="0" rIns="0" bIns="0" anchor="t">
            <a:spAutoFit/>
          </a:bodyPr>
          <a:lstStyle/>
          <a:p>
            <a:pPr algn="l">
              <a:lnSpc>
                <a:spcPct val="105000"/>
              </a:lnSpc>
              <a:spcBef>
                <a:spcPts val="0"/>
              </a:spcBef>
              <a:spcAft>
                <a:spcPts val="400"/>
              </a:spcAft>
            </a:pPr>
            <a:r>
              <a:rPr sz="1250" b="1">
                <a:solidFill>
                  <a:srgbClr val="FF8A3D"/>
                </a:solidFill>
                <a:latin typeface="Newsreader ExtraBold"/>
              </a:rPr>
              <a:t>• </a:t>
            </a:r>
            <a:r>
              <a:rPr sz="1250" b="0">
                <a:solidFill>
                  <a:srgbClr val="CFC4AD"/>
                </a:solidFill>
                <a:latin typeface="Newsreader Medium"/>
              </a:rPr>
              <a:t>Monitoring sFlow → Prometheus → Grafana (cEOS)</a:t>
            </a:r>
          </a:p>
        </p:txBody>
      </p:sp>
      <p:sp>
        <p:nvSpPr>
          <p:cNvPr id="24" name="TextBox 23"/>
          <p:cNvSpPr txBox="1"/>
          <p:nvPr/>
        </p:nvSpPr>
        <p:spPr>
          <a:xfrm>
            <a:off x="640080" y="6446520"/>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a:solidFill>
                  <a:srgbClr val="94896F"/>
                </a:solidFill>
                <a:latin typeface="IBM Plex Mono"/>
              </a:rPr>
              <a:t>SAE4D01 DevCloud · Groupe 8 · URTADO P. / MALOT V.</a:t>
            </a:r>
          </a:p>
        </p:txBody>
      </p:sp>
      <p:sp>
        <p:nvSpPr>
          <p:cNvPr id="25" name="TextBox 24"/>
          <p:cNvSpPr txBox="1"/>
          <p:nvPr/>
        </p:nvSpPr>
        <p:spPr>
          <a:xfrm>
            <a:off x="10698480" y="6446520"/>
            <a:ext cx="91440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0">
                <a:solidFill>
                  <a:srgbClr val="94896F"/>
                </a:solidFill>
                <a:latin typeface="IBM Plex Mono"/>
              </a:rPr>
              <a:t>03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C0A07"/>
        </a:solidFill>
        <a:effectLst/>
      </p:bgPr>
    </p:bg>
    <p:spTree>
      <p:nvGrpSpPr>
        <p:cNvPr id="1" name=""/>
        <p:cNvGrpSpPr/>
        <p:nvPr/>
      </p:nvGrpSpPr>
      <p:grpSpPr>
        <a:xfrm>
          <a:off x="0" y="0"/>
          <a:ext cx="0" cy="0"/>
          <a:chOff x="0" y="0"/>
          <a:chExt cx="0" cy="0"/>
        </a:xfrm>
      </p:grpSpPr>
      <p:sp>
        <p:nvSpPr>
          <p:cNvPr id="2" name="Rectangle 1"/>
          <p:cNvSpPr/>
          <p:nvPr/>
        </p:nvSpPr>
        <p:spPr>
          <a:xfrm>
            <a:off x="640080" y="713232"/>
            <a:ext cx="502920"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10058400" cy="169277"/>
          </a:xfrm>
          <a:prstGeom prst="rect">
            <a:avLst/>
          </a:prstGeom>
          <a:noFill/>
        </p:spPr>
        <p:txBody>
          <a:bodyPr wrap="square" lIns="0" tIns="0" rIns="0" bIns="0" anchor="t">
            <a:spAutoFit/>
          </a:bodyPr>
          <a:lstStyle/>
          <a:p>
            <a:pPr algn="l">
              <a:lnSpc>
                <a:spcPct val="100000"/>
              </a:lnSpc>
              <a:spcBef>
                <a:spcPts val="0"/>
              </a:spcBef>
              <a:spcAft>
                <a:spcPts val="400"/>
              </a:spcAft>
            </a:pPr>
            <a:r>
              <a:rPr sz="1100" b="1" dirty="0">
                <a:solidFill>
                  <a:srgbClr val="FF5A1F"/>
                </a:solidFill>
                <a:latin typeface="IBM Plex Mono"/>
              </a:rPr>
              <a:t>0</a:t>
            </a:r>
            <a:r>
              <a:rPr lang="fr-FR" sz="1100" b="1" dirty="0">
                <a:solidFill>
                  <a:srgbClr val="FF5A1F"/>
                </a:solidFill>
                <a:latin typeface="IBM Plex Mono"/>
              </a:rPr>
              <a:t>3</a:t>
            </a:r>
            <a:r>
              <a:rPr sz="1100" b="1" dirty="0">
                <a:solidFill>
                  <a:srgbClr val="FF5A1F"/>
                </a:solidFill>
                <a:latin typeface="IBM Plex Mono"/>
              </a:rPr>
              <a:t> · ORGANISATION</a:t>
            </a:r>
          </a:p>
        </p:txBody>
      </p:sp>
      <p:sp>
        <p:nvSpPr>
          <p:cNvPr id="4" name="TextBox 3"/>
          <p:cNvSpPr txBox="1"/>
          <p:nvPr/>
        </p:nvSpPr>
        <p:spPr>
          <a:xfrm>
            <a:off x="640080" y="777240"/>
            <a:ext cx="10789920" cy="822960"/>
          </a:xfrm>
          <a:prstGeom prst="rect">
            <a:avLst/>
          </a:prstGeom>
          <a:noFill/>
        </p:spPr>
        <p:txBody>
          <a:bodyPr wrap="square" lIns="0" tIns="0" rIns="0" bIns="0" anchor="t">
            <a:spAutoFit/>
          </a:bodyPr>
          <a:lstStyle/>
          <a:p>
            <a:pPr algn="l">
              <a:lnSpc>
                <a:spcPct val="100000"/>
              </a:lnSpc>
              <a:spcBef>
                <a:spcPts val="0"/>
              </a:spcBef>
              <a:spcAft>
                <a:spcPts val="400"/>
              </a:spcAft>
            </a:pPr>
            <a:r>
              <a:rPr sz="2800" b="1">
                <a:solidFill>
                  <a:srgbClr val="F4ECDD"/>
                </a:solidFill>
                <a:latin typeface="Syne"/>
              </a:rPr>
              <a:t>Répartition des heures par tâche</a:t>
            </a:r>
          </a:p>
        </p:txBody>
      </p:sp>
      <p:sp>
        <p:nvSpPr>
          <p:cNvPr id="5" name="Rectangle 4"/>
          <p:cNvSpPr/>
          <p:nvPr/>
        </p:nvSpPr>
        <p:spPr>
          <a:xfrm>
            <a:off x="640080" y="1417320"/>
            <a:ext cx="10908792" cy="12700"/>
          </a:xfrm>
          <a:prstGeom prst="rect">
            <a:avLst/>
          </a:prstGeom>
          <a:solidFill>
            <a:srgbClr val="3A3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646920" y="384048"/>
            <a:ext cx="1901952" cy="384048"/>
          </a:xfrm>
          <a:prstGeom prst="roundRect">
            <a:avLst/>
          </a:prstGeom>
          <a:solidFill>
            <a:srgbClr val="16120C"/>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46920" y="457200"/>
            <a:ext cx="1901952" cy="274320"/>
          </a:xfrm>
          <a:prstGeom prst="rect">
            <a:avLst/>
          </a:prstGeom>
          <a:noFill/>
        </p:spPr>
        <p:txBody>
          <a:bodyPr wrap="square" lIns="0" tIns="0" rIns="0" bIns="0" anchor="t">
            <a:spAutoFit/>
          </a:bodyPr>
          <a:lstStyle/>
          <a:p>
            <a:pPr algn="ctr">
              <a:lnSpc>
                <a:spcPct val="100000"/>
              </a:lnSpc>
              <a:spcBef>
                <a:spcPts val="0"/>
              </a:spcBef>
              <a:spcAft>
                <a:spcPts val="400"/>
              </a:spcAft>
            </a:pPr>
            <a:r>
              <a:rPr sz="1100" b="1">
                <a:solidFill>
                  <a:srgbClr val="CFC4AD"/>
                </a:solidFill>
                <a:latin typeface="IBM Plex Mono"/>
              </a:rPr>
              <a:t>● ○ BINÔME</a:t>
            </a:r>
          </a:p>
        </p:txBody>
      </p:sp>
      <p:sp>
        <p:nvSpPr>
          <p:cNvPr id="8" name="Rounded Rectangle 7"/>
          <p:cNvSpPr/>
          <p:nvPr/>
        </p:nvSpPr>
        <p:spPr>
          <a:xfrm>
            <a:off x="548640" y="1371600"/>
            <a:ext cx="5303520" cy="512064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463040"/>
            <a:ext cx="5029200" cy="365760"/>
          </a:xfrm>
          <a:prstGeom prst="rect">
            <a:avLst/>
          </a:prstGeom>
          <a:noFill/>
        </p:spPr>
        <p:txBody>
          <a:bodyPr wrap="square" lIns="0" tIns="0" rIns="0" bIns="0" anchor="t">
            <a:spAutoFit/>
          </a:bodyPr>
          <a:lstStyle/>
          <a:p>
            <a:pPr algn="ctr">
              <a:lnSpc>
                <a:spcPct val="100000"/>
              </a:lnSpc>
              <a:spcBef>
                <a:spcPts val="0"/>
              </a:spcBef>
              <a:spcAft>
                <a:spcPts val="400"/>
              </a:spcAft>
            </a:pPr>
            <a:r>
              <a:rPr sz="1300" b="1">
                <a:solidFill>
                  <a:srgbClr val="FF5A1F"/>
                </a:solidFill>
                <a:latin typeface="IBM Plex Mono"/>
              </a:rPr>
              <a:t>● PIERRE — ~92h</a:t>
            </a:r>
          </a:p>
        </p:txBody>
      </p:sp>
      <p:graphicFrame>
        <p:nvGraphicFramePr>
          <p:cNvPr id="10" name="Chart 9"/>
          <p:cNvGraphicFramePr>
            <a:graphicFrameLocks noGrp="1"/>
          </p:cNvGraphicFramePr>
          <p:nvPr/>
        </p:nvGraphicFramePr>
        <p:xfrm>
          <a:off x="685800" y="1828800"/>
          <a:ext cx="50292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11" name="Rounded Rectangle 10"/>
          <p:cNvSpPr/>
          <p:nvPr/>
        </p:nvSpPr>
        <p:spPr>
          <a:xfrm>
            <a:off x="164592" y="4572001"/>
            <a:ext cx="256032" cy="256032"/>
          </a:xfrm>
          <a:prstGeom prst="round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4590289"/>
            <a:ext cx="4389120" cy="256032"/>
          </a:xfrm>
          <a:prstGeom prst="rect">
            <a:avLst/>
          </a:prstGeom>
          <a:noFill/>
        </p:spPr>
        <p:txBody>
          <a:bodyPr wrap="square" lIns="0" tIns="0" rIns="0" bIns="0" anchor="t">
            <a:spAutoFit/>
          </a:bodyPr>
          <a:lstStyle/>
          <a:p>
            <a:pPr algn="l">
              <a:lnSpc>
                <a:spcPct val="100000"/>
              </a:lnSpc>
              <a:spcBef>
                <a:spcPts val="0"/>
              </a:spcBef>
              <a:spcAft>
                <a:spcPts val="400"/>
              </a:spcAft>
            </a:pPr>
            <a:r>
              <a:rPr sz="1000" b="0" dirty="0">
                <a:solidFill>
                  <a:srgbClr val="CFC4AD"/>
                </a:solidFill>
                <a:latin typeface="Newsreader Medium"/>
              </a:rPr>
              <a:t>Maquette FRR  25h</a:t>
            </a:r>
          </a:p>
        </p:txBody>
      </p:sp>
      <p:sp>
        <p:nvSpPr>
          <p:cNvPr id="13" name="Rounded Rectangle 12"/>
          <p:cNvSpPr/>
          <p:nvPr/>
        </p:nvSpPr>
        <p:spPr>
          <a:xfrm>
            <a:off x="164592" y="4892041"/>
            <a:ext cx="256032" cy="256032"/>
          </a:xfrm>
          <a:prstGeom prst="roundRect">
            <a:avLst/>
          </a:prstGeom>
          <a:solidFill>
            <a:srgbClr val="FF8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4910328"/>
            <a:ext cx="4389120" cy="256032"/>
          </a:xfrm>
          <a:prstGeom prst="rect">
            <a:avLst/>
          </a:prstGeom>
          <a:noFill/>
        </p:spPr>
        <p:txBody>
          <a:bodyPr wrap="square" lIns="0" tIns="0" rIns="0" bIns="0" anchor="t">
            <a:spAutoFit/>
          </a:bodyPr>
          <a:lstStyle/>
          <a:p>
            <a:pPr algn="l">
              <a:lnSpc>
                <a:spcPct val="100000"/>
              </a:lnSpc>
              <a:spcBef>
                <a:spcPts val="0"/>
              </a:spcBef>
              <a:spcAft>
                <a:spcPts val="400"/>
              </a:spcAft>
            </a:pPr>
            <a:r>
              <a:rPr sz="1000" b="0" dirty="0">
                <a:solidFill>
                  <a:srgbClr val="CFC4AD"/>
                </a:solidFill>
                <a:latin typeface="Newsreader Medium"/>
              </a:rPr>
              <a:t>TPs formation  27h</a:t>
            </a:r>
          </a:p>
        </p:txBody>
      </p:sp>
      <p:sp>
        <p:nvSpPr>
          <p:cNvPr id="15" name="Rounded Rectangle 14"/>
          <p:cNvSpPr/>
          <p:nvPr/>
        </p:nvSpPr>
        <p:spPr>
          <a:xfrm>
            <a:off x="164592" y="5212080"/>
            <a:ext cx="256032" cy="256032"/>
          </a:xfrm>
          <a:prstGeom prst="roundRect">
            <a:avLst/>
          </a:prstGeom>
          <a:solidFill>
            <a:srgbClr val="52D2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5230368"/>
            <a:ext cx="4389120" cy="256032"/>
          </a:xfrm>
          <a:prstGeom prst="rect">
            <a:avLst/>
          </a:prstGeom>
          <a:noFill/>
        </p:spPr>
        <p:txBody>
          <a:bodyPr wrap="square" lIns="0" tIns="0" rIns="0" bIns="0" anchor="t">
            <a:spAutoFit/>
          </a:bodyPr>
          <a:lstStyle/>
          <a:p>
            <a:pPr algn="l">
              <a:lnSpc>
                <a:spcPct val="100000"/>
              </a:lnSpc>
              <a:spcBef>
                <a:spcPts val="0"/>
              </a:spcBef>
              <a:spcAft>
                <a:spcPts val="400"/>
              </a:spcAft>
            </a:pPr>
            <a:r>
              <a:rPr sz="1000" b="0" dirty="0">
                <a:solidFill>
                  <a:srgbClr val="CFC4AD"/>
                </a:solidFill>
                <a:latin typeface="Newsreader Medium"/>
              </a:rPr>
              <a:t>Hardware NFVIS/C8000v  16h</a:t>
            </a:r>
          </a:p>
        </p:txBody>
      </p:sp>
      <p:sp>
        <p:nvSpPr>
          <p:cNvPr id="17" name="Rounded Rectangle 16"/>
          <p:cNvSpPr/>
          <p:nvPr/>
        </p:nvSpPr>
        <p:spPr>
          <a:xfrm>
            <a:off x="164592" y="5532120"/>
            <a:ext cx="256032" cy="256032"/>
          </a:xfrm>
          <a:prstGeom prst="round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8640" y="5550408"/>
            <a:ext cx="4389120" cy="256032"/>
          </a:xfrm>
          <a:prstGeom prst="rect">
            <a:avLst/>
          </a:prstGeom>
          <a:noFill/>
        </p:spPr>
        <p:txBody>
          <a:bodyPr wrap="square" lIns="0" tIns="0" rIns="0" bIns="0" anchor="t">
            <a:spAutoFit/>
          </a:bodyPr>
          <a:lstStyle/>
          <a:p>
            <a:pPr algn="l">
              <a:lnSpc>
                <a:spcPct val="100000"/>
              </a:lnSpc>
              <a:spcBef>
                <a:spcPts val="0"/>
              </a:spcBef>
              <a:spcAft>
                <a:spcPts val="400"/>
              </a:spcAft>
            </a:pPr>
            <a:r>
              <a:rPr sz="1000" b="0">
                <a:solidFill>
                  <a:srgbClr val="CFC4AD"/>
                </a:solidFill>
                <a:latin typeface="Newsreader Medium"/>
              </a:rPr>
              <a:t>Interconnexion DC  11h</a:t>
            </a:r>
          </a:p>
        </p:txBody>
      </p:sp>
      <p:sp>
        <p:nvSpPr>
          <p:cNvPr id="19" name="Rounded Rectangle 18"/>
          <p:cNvSpPr/>
          <p:nvPr/>
        </p:nvSpPr>
        <p:spPr>
          <a:xfrm>
            <a:off x="164592" y="5852160"/>
            <a:ext cx="256032" cy="256032"/>
          </a:xfrm>
          <a:prstGeom prst="roundRect">
            <a:avLst/>
          </a:prstGeom>
          <a:solidFill>
            <a:srgbClr val="9489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79121" y="5907023"/>
            <a:ext cx="4389120" cy="153888"/>
          </a:xfrm>
          <a:prstGeom prst="rect">
            <a:avLst/>
          </a:prstGeom>
          <a:noFill/>
        </p:spPr>
        <p:txBody>
          <a:bodyPr wrap="square" lIns="0" tIns="0" rIns="0" bIns="0" anchor="t">
            <a:spAutoFit/>
          </a:bodyPr>
          <a:lstStyle/>
          <a:p>
            <a:pPr algn="l">
              <a:lnSpc>
                <a:spcPct val="100000"/>
              </a:lnSpc>
              <a:spcBef>
                <a:spcPts val="0"/>
              </a:spcBef>
              <a:spcAft>
                <a:spcPts val="400"/>
              </a:spcAft>
            </a:pPr>
            <a:r>
              <a:rPr lang="fr-FR" sz="1000" b="0" dirty="0">
                <a:solidFill>
                  <a:srgbClr val="CFC4AD"/>
                </a:solidFill>
                <a:latin typeface="Newsreader Medium"/>
              </a:rPr>
              <a:t>Bench</a:t>
            </a:r>
            <a:r>
              <a:rPr sz="1000" b="0" dirty="0">
                <a:solidFill>
                  <a:srgbClr val="CFC4AD"/>
                </a:solidFill>
                <a:latin typeface="Newsreader Medium"/>
              </a:rPr>
              <a:t> </a:t>
            </a:r>
            <a:r>
              <a:rPr lang="fr-FR" sz="1000" dirty="0">
                <a:solidFill>
                  <a:srgbClr val="CFC4AD"/>
                </a:solidFill>
                <a:latin typeface="Newsreader Medium"/>
              </a:rPr>
              <a:t>+ Maquette</a:t>
            </a:r>
            <a:r>
              <a:rPr sz="1000" b="0" dirty="0">
                <a:solidFill>
                  <a:srgbClr val="CFC4AD"/>
                </a:solidFill>
                <a:latin typeface="Newsreader Medium"/>
              </a:rPr>
              <a:t> 8h</a:t>
            </a:r>
          </a:p>
        </p:txBody>
      </p:sp>
      <p:sp>
        <p:nvSpPr>
          <p:cNvPr id="21" name="Rounded Rectangle 20"/>
          <p:cNvSpPr/>
          <p:nvPr/>
        </p:nvSpPr>
        <p:spPr>
          <a:xfrm>
            <a:off x="164592" y="6172200"/>
            <a:ext cx="256032" cy="256032"/>
          </a:xfrm>
          <a:prstGeom prst="roundRect">
            <a:avLst/>
          </a:prstGeom>
          <a:solidFill>
            <a:srgbClr val="E5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6190488"/>
            <a:ext cx="4389120" cy="153888"/>
          </a:xfrm>
          <a:prstGeom prst="rect">
            <a:avLst/>
          </a:prstGeom>
          <a:noFill/>
        </p:spPr>
        <p:txBody>
          <a:bodyPr wrap="square" lIns="0" tIns="0" rIns="0" bIns="0" anchor="t">
            <a:spAutoFit/>
          </a:bodyPr>
          <a:lstStyle/>
          <a:p>
            <a:pPr algn="l">
              <a:lnSpc>
                <a:spcPct val="100000"/>
              </a:lnSpc>
              <a:spcBef>
                <a:spcPts val="0"/>
              </a:spcBef>
              <a:spcAft>
                <a:spcPts val="400"/>
              </a:spcAft>
            </a:pPr>
            <a:r>
              <a:rPr lang="fr-FR" sz="1000" b="0" dirty="0">
                <a:solidFill>
                  <a:srgbClr val="CFC4AD"/>
                </a:solidFill>
                <a:latin typeface="Newsreader Medium"/>
              </a:rPr>
              <a:t>Compte rendu </a:t>
            </a:r>
            <a:r>
              <a:rPr sz="1000" b="0" dirty="0">
                <a:solidFill>
                  <a:srgbClr val="CFC4AD"/>
                </a:solidFill>
                <a:latin typeface="Newsreader Medium"/>
              </a:rPr>
              <a:t>5h</a:t>
            </a:r>
          </a:p>
        </p:txBody>
      </p:sp>
      <p:sp>
        <p:nvSpPr>
          <p:cNvPr id="23" name="Rounded Rectangle 22"/>
          <p:cNvSpPr/>
          <p:nvPr/>
        </p:nvSpPr>
        <p:spPr>
          <a:xfrm>
            <a:off x="6309359" y="1371600"/>
            <a:ext cx="5303520" cy="512064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46520" y="1463040"/>
            <a:ext cx="5029200" cy="365760"/>
          </a:xfrm>
          <a:prstGeom prst="rect">
            <a:avLst/>
          </a:prstGeom>
          <a:noFill/>
        </p:spPr>
        <p:txBody>
          <a:bodyPr wrap="square" lIns="0" tIns="0" rIns="0" bIns="0" anchor="t">
            <a:spAutoFit/>
          </a:bodyPr>
          <a:lstStyle/>
          <a:p>
            <a:pPr algn="ctr">
              <a:lnSpc>
                <a:spcPct val="100000"/>
              </a:lnSpc>
              <a:spcBef>
                <a:spcPts val="0"/>
              </a:spcBef>
              <a:spcAft>
                <a:spcPts val="400"/>
              </a:spcAft>
            </a:pPr>
            <a:r>
              <a:rPr sz="1300" b="1">
                <a:solidFill>
                  <a:srgbClr val="FF8A3D"/>
                </a:solidFill>
                <a:latin typeface="IBM Plex Mono"/>
              </a:rPr>
              <a:t>○ VALENTIN — ~93h</a:t>
            </a:r>
          </a:p>
        </p:txBody>
      </p:sp>
      <p:graphicFrame>
        <p:nvGraphicFramePr>
          <p:cNvPr id="25" name="Chart 24"/>
          <p:cNvGraphicFramePr>
            <a:graphicFrameLocks noGrp="1"/>
          </p:cNvGraphicFramePr>
          <p:nvPr>
            <p:extLst>
              <p:ext uri="{D42A27DB-BD31-4B8C-83A1-F6EECF244321}">
                <p14:modId xmlns:p14="http://schemas.microsoft.com/office/powerpoint/2010/main" val="3211171834"/>
              </p:ext>
            </p:extLst>
          </p:nvPr>
        </p:nvGraphicFramePr>
        <p:xfrm>
          <a:off x="6601968" y="1837944"/>
          <a:ext cx="5029200" cy="3200400"/>
        </p:xfrm>
        <a:graphic>
          <a:graphicData uri="http://schemas.openxmlformats.org/drawingml/2006/chart">
            <c:chart xmlns:c="http://schemas.openxmlformats.org/drawingml/2006/chart" xmlns:r="http://schemas.openxmlformats.org/officeDocument/2006/relationships" r:id="rId4"/>
          </a:graphicData>
        </a:graphic>
      </p:graphicFrame>
      <p:sp>
        <p:nvSpPr>
          <p:cNvPr id="26" name="Rounded Rectangle 25"/>
          <p:cNvSpPr/>
          <p:nvPr/>
        </p:nvSpPr>
        <p:spPr>
          <a:xfrm>
            <a:off x="11219688" y="4901184"/>
            <a:ext cx="256032" cy="256032"/>
          </a:xfrm>
          <a:prstGeom prst="round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666514" y="4943113"/>
            <a:ext cx="1523130" cy="153888"/>
          </a:xfrm>
          <a:prstGeom prst="rect">
            <a:avLst/>
          </a:prstGeom>
          <a:noFill/>
        </p:spPr>
        <p:txBody>
          <a:bodyPr wrap="square" lIns="0" tIns="0" rIns="0" bIns="0" anchor="t">
            <a:spAutoFit/>
          </a:bodyPr>
          <a:lstStyle/>
          <a:p>
            <a:pPr algn="l">
              <a:lnSpc>
                <a:spcPct val="100000"/>
              </a:lnSpc>
              <a:spcBef>
                <a:spcPts val="0"/>
              </a:spcBef>
              <a:spcAft>
                <a:spcPts val="400"/>
              </a:spcAft>
            </a:pPr>
            <a:r>
              <a:rPr sz="1000" b="0" dirty="0">
                <a:solidFill>
                  <a:srgbClr val="CFC4AD"/>
                </a:solidFill>
                <a:latin typeface="Newsreader Medium"/>
              </a:rPr>
              <a:t>Maquette iBGP finale  23h</a:t>
            </a:r>
          </a:p>
        </p:txBody>
      </p:sp>
      <p:sp>
        <p:nvSpPr>
          <p:cNvPr id="28" name="Rounded Rectangle 27"/>
          <p:cNvSpPr/>
          <p:nvPr/>
        </p:nvSpPr>
        <p:spPr>
          <a:xfrm>
            <a:off x="11219688" y="5221224"/>
            <a:ext cx="256032" cy="256032"/>
          </a:xfrm>
          <a:prstGeom prst="roundRect">
            <a:avLst/>
          </a:prstGeom>
          <a:solidFill>
            <a:srgbClr val="FF8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66514" y="5263152"/>
            <a:ext cx="1523130" cy="153888"/>
          </a:xfrm>
          <a:prstGeom prst="rect">
            <a:avLst/>
          </a:prstGeom>
          <a:noFill/>
        </p:spPr>
        <p:txBody>
          <a:bodyPr wrap="square" lIns="0" tIns="0" rIns="0" bIns="0" anchor="t">
            <a:spAutoFit/>
          </a:bodyPr>
          <a:lstStyle/>
          <a:p>
            <a:pPr algn="l">
              <a:lnSpc>
                <a:spcPct val="100000"/>
              </a:lnSpc>
              <a:spcBef>
                <a:spcPts val="0"/>
              </a:spcBef>
              <a:spcAft>
                <a:spcPts val="400"/>
              </a:spcAft>
            </a:pPr>
            <a:r>
              <a:rPr sz="1000" b="0" dirty="0">
                <a:solidFill>
                  <a:srgbClr val="CFC4AD"/>
                </a:solidFill>
                <a:latin typeface="Newsreader Medium"/>
              </a:rPr>
              <a:t>VXLAN TPs  18h</a:t>
            </a:r>
          </a:p>
        </p:txBody>
      </p:sp>
      <p:sp>
        <p:nvSpPr>
          <p:cNvPr id="30" name="Rounded Rectangle 29"/>
          <p:cNvSpPr/>
          <p:nvPr/>
        </p:nvSpPr>
        <p:spPr>
          <a:xfrm>
            <a:off x="11219688" y="5541263"/>
            <a:ext cx="256032" cy="256032"/>
          </a:xfrm>
          <a:prstGeom prst="roundRect">
            <a:avLst/>
          </a:prstGeom>
          <a:solidFill>
            <a:srgbClr val="52D2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666514" y="5583192"/>
            <a:ext cx="1523130" cy="153888"/>
          </a:xfrm>
          <a:prstGeom prst="rect">
            <a:avLst/>
          </a:prstGeom>
          <a:noFill/>
        </p:spPr>
        <p:txBody>
          <a:bodyPr wrap="square" lIns="0" tIns="0" rIns="0" bIns="0" anchor="t">
            <a:spAutoFit/>
          </a:bodyPr>
          <a:lstStyle/>
          <a:p>
            <a:pPr algn="l">
              <a:lnSpc>
                <a:spcPct val="100000"/>
              </a:lnSpc>
              <a:spcBef>
                <a:spcPts val="0"/>
              </a:spcBef>
              <a:spcAft>
                <a:spcPts val="400"/>
              </a:spcAft>
            </a:pPr>
            <a:r>
              <a:rPr sz="1000" b="0" dirty="0">
                <a:solidFill>
                  <a:srgbClr val="CFC4AD"/>
                </a:solidFill>
                <a:latin typeface="Newsreader Medium"/>
              </a:rPr>
              <a:t>Hardware/Infra  17h</a:t>
            </a:r>
          </a:p>
        </p:txBody>
      </p:sp>
      <p:sp>
        <p:nvSpPr>
          <p:cNvPr id="32" name="Rounded Rectangle 31"/>
          <p:cNvSpPr/>
          <p:nvPr/>
        </p:nvSpPr>
        <p:spPr>
          <a:xfrm>
            <a:off x="11219688" y="5861303"/>
            <a:ext cx="256032" cy="256032"/>
          </a:xfrm>
          <a:prstGeom prst="round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666514" y="5903232"/>
            <a:ext cx="1523130" cy="153888"/>
          </a:xfrm>
          <a:prstGeom prst="rect">
            <a:avLst/>
          </a:prstGeom>
          <a:noFill/>
        </p:spPr>
        <p:txBody>
          <a:bodyPr wrap="square" lIns="0" tIns="0" rIns="0" bIns="0" anchor="t">
            <a:spAutoFit/>
          </a:bodyPr>
          <a:lstStyle/>
          <a:p>
            <a:pPr algn="l">
              <a:lnSpc>
                <a:spcPct val="100000"/>
              </a:lnSpc>
              <a:spcBef>
                <a:spcPts val="0"/>
              </a:spcBef>
              <a:spcAft>
                <a:spcPts val="400"/>
              </a:spcAft>
            </a:pPr>
            <a:r>
              <a:rPr sz="1000" b="0" dirty="0">
                <a:solidFill>
                  <a:srgbClr val="CFC4AD"/>
                </a:solidFill>
                <a:latin typeface="Newsreader Medium"/>
              </a:rPr>
              <a:t>Interconnexion DC  11h</a:t>
            </a:r>
          </a:p>
        </p:txBody>
      </p:sp>
      <p:sp>
        <p:nvSpPr>
          <p:cNvPr id="34" name="Rounded Rectangle 33"/>
          <p:cNvSpPr/>
          <p:nvPr/>
        </p:nvSpPr>
        <p:spPr>
          <a:xfrm>
            <a:off x="11219688" y="6181343"/>
            <a:ext cx="256032" cy="256032"/>
          </a:xfrm>
          <a:prstGeom prst="roundRect">
            <a:avLst/>
          </a:prstGeom>
          <a:solidFill>
            <a:srgbClr val="9489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666514" y="6223272"/>
            <a:ext cx="1523130" cy="153888"/>
          </a:xfrm>
          <a:prstGeom prst="rect">
            <a:avLst/>
          </a:prstGeom>
          <a:noFill/>
        </p:spPr>
        <p:txBody>
          <a:bodyPr wrap="square" lIns="0" tIns="0" rIns="0" bIns="0" anchor="t">
            <a:spAutoFit/>
          </a:bodyPr>
          <a:lstStyle/>
          <a:p>
            <a:pPr algn="l">
              <a:lnSpc>
                <a:spcPct val="100000"/>
              </a:lnSpc>
              <a:spcBef>
                <a:spcPts val="0"/>
              </a:spcBef>
              <a:spcAft>
                <a:spcPts val="400"/>
              </a:spcAft>
            </a:pPr>
            <a:r>
              <a:rPr sz="1000" b="0" dirty="0">
                <a:solidFill>
                  <a:srgbClr val="CFC4AD"/>
                </a:solidFill>
                <a:latin typeface="Newsreader Medium"/>
              </a:rPr>
              <a:t>TPs formation  15h</a:t>
            </a:r>
          </a:p>
        </p:txBody>
      </p:sp>
      <p:sp>
        <p:nvSpPr>
          <p:cNvPr id="36" name="Rounded Rectangle 35"/>
          <p:cNvSpPr/>
          <p:nvPr/>
        </p:nvSpPr>
        <p:spPr>
          <a:xfrm>
            <a:off x="11219688" y="6501383"/>
            <a:ext cx="256032" cy="256032"/>
          </a:xfrm>
          <a:prstGeom prst="roundRect">
            <a:avLst/>
          </a:prstGeom>
          <a:solidFill>
            <a:srgbClr val="E5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646920" y="6573228"/>
            <a:ext cx="4389120" cy="256032"/>
          </a:xfrm>
          <a:prstGeom prst="rect">
            <a:avLst/>
          </a:prstGeom>
          <a:noFill/>
        </p:spPr>
        <p:txBody>
          <a:bodyPr wrap="square" lIns="0" tIns="0" rIns="0" bIns="0" anchor="t">
            <a:spAutoFit/>
          </a:bodyPr>
          <a:lstStyle/>
          <a:p>
            <a:pPr algn="l">
              <a:lnSpc>
                <a:spcPct val="100000"/>
              </a:lnSpc>
              <a:spcBef>
                <a:spcPts val="0"/>
              </a:spcBef>
              <a:spcAft>
                <a:spcPts val="400"/>
              </a:spcAft>
            </a:pPr>
            <a:r>
              <a:rPr sz="1000" b="0" dirty="0">
                <a:solidFill>
                  <a:srgbClr val="CFC4AD"/>
                </a:solidFill>
                <a:latin typeface="Newsreader Medium"/>
              </a:rPr>
              <a:t>Services (DNS/Vault)  9h</a:t>
            </a:r>
          </a:p>
        </p:txBody>
      </p:sp>
      <p:sp>
        <p:nvSpPr>
          <p:cNvPr id="38" name="TextBox 37"/>
          <p:cNvSpPr txBox="1"/>
          <p:nvPr/>
        </p:nvSpPr>
        <p:spPr>
          <a:xfrm>
            <a:off x="164592" y="659204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dirty="0">
                <a:solidFill>
                  <a:srgbClr val="94896F"/>
                </a:solidFill>
                <a:latin typeface="IBM Plex Mono"/>
              </a:rPr>
              <a:t>SAE4D01 DevCloud · Groupe 8 · URTADO P. / MALOT V.</a:t>
            </a:r>
          </a:p>
        </p:txBody>
      </p:sp>
      <p:sp>
        <p:nvSpPr>
          <p:cNvPr id="39" name="TextBox 38"/>
          <p:cNvSpPr txBox="1"/>
          <p:nvPr/>
        </p:nvSpPr>
        <p:spPr>
          <a:xfrm>
            <a:off x="10698480" y="6446520"/>
            <a:ext cx="91440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0">
                <a:solidFill>
                  <a:srgbClr val="94896F"/>
                </a:solidFill>
                <a:latin typeface="IBM Plex Mono"/>
              </a:rPr>
              <a:t>04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C0A07"/>
        </a:solidFill>
        <a:effectLst/>
      </p:bgPr>
    </p:bg>
    <p:spTree>
      <p:nvGrpSpPr>
        <p:cNvPr id="1" name=""/>
        <p:cNvGrpSpPr/>
        <p:nvPr/>
      </p:nvGrpSpPr>
      <p:grpSpPr>
        <a:xfrm>
          <a:off x="0" y="0"/>
          <a:ext cx="0" cy="0"/>
          <a:chOff x="0" y="0"/>
          <a:chExt cx="0" cy="0"/>
        </a:xfrm>
      </p:grpSpPr>
      <p:sp>
        <p:nvSpPr>
          <p:cNvPr id="2" name="Rectangle 1"/>
          <p:cNvSpPr/>
          <p:nvPr/>
        </p:nvSpPr>
        <p:spPr>
          <a:xfrm>
            <a:off x="640080" y="713232"/>
            <a:ext cx="502920"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10058400" cy="169277"/>
          </a:xfrm>
          <a:prstGeom prst="rect">
            <a:avLst/>
          </a:prstGeom>
          <a:noFill/>
        </p:spPr>
        <p:txBody>
          <a:bodyPr wrap="square" lIns="0" tIns="0" rIns="0" bIns="0" anchor="t">
            <a:spAutoFit/>
          </a:bodyPr>
          <a:lstStyle/>
          <a:p>
            <a:pPr algn="l">
              <a:lnSpc>
                <a:spcPct val="100000"/>
              </a:lnSpc>
              <a:spcBef>
                <a:spcPts val="0"/>
              </a:spcBef>
              <a:spcAft>
                <a:spcPts val="400"/>
              </a:spcAft>
            </a:pPr>
            <a:r>
              <a:rPr sz="1100" b="1" dirty="0">
                <a:solidFill>
                  <a:srgbClr val="FF5A1F"/>
                </a:solidFill>
                <a:latin typeface="IBM Plex Mono"/>
              </a:rPr>
              <a:t>0</a:t>
            </a:r>
            <a:r>
              <a:rPr lang="fr-FR" sz="1100" b="1" dirty="0">
                <a:solidFill>
                  <a:srgbClr val="FF5A1F"/>
                </a:solidFill>
                <a:latin typeface="IBM Plex Mono"/>
              </a:rPr>
              <a:t>4</a:t>
            </a:r>
            <a:r>
              <a:rPr sz="1100" b="1" dirty="0">
                <a:solidFill>
                  <a:srgbClr val="FF5A1F"/>
                </a:solidFill>
                <a:latin typeface="IBM Plex Mono"/>
              </a:rPr>
              <a:t> · CONCEPTION</a:t>
            </a:r>
          </a:p>
        </p:txBody>
      </p:sp>
      <p:sp>
        <p:nvSpPr>
          <p:cNvPr id="4" name="TextBox 3"/>
          <p:cNvSpPr txBox="1"/>
          <p:nvPr/>
        </p:nvSpPr>
        <p:spPr>
          <a:xfrm>
            <a:off x="640080" y="777240"/>
            <a:ext cx="10789920" cy="822960"/>
          </a:xfrm>
          <a:prstGeom prst="rect">
            <a:avLst/>
          </a:prstGeom>
          <a:noFill/>
        </p:spPr>
        <p:txBody>
          <a:bodyPr wrap="square" lIns="0" tIns="0" rIns="0" bIns="0" anchor="t">
            <a:spAutoFit/>
          </a:bodyPr>
          <a:lstStyle/>
          <a:p>
            <a:pPr algn="l">
              <a:lnSpc>
                <a:spcPct val="100000"/>
              </a:lnSpc>
              <a:spcBef>
                <a:spcPts val="0"/>
              </a:spcBef>
              <a:spcAft>
                <a:spcPts val="400"/>
              </a:spcAft>
            </a:pPr>
            <a:r>
              <a:rPr sz="2800" b="1">
                <a:solidFill>
                  <a:srgbClr val="F4ECDD"/>
                </a:solidFill>
                <a:latin typeface="Syne"/>
              </a:rPr>
              <a:t>Deux approches BGP comparées</a:t>
            </a:r>
          </a:p>
        </p:txBody>
      </p:sp>
      <p:sp>
        <p:nvSpPr>
          <p:cNvPr id="5" name="Rectangle 4"/>
          <p:cNvSpPr/>
          <p:nvPr/>
        </p:nvSpPr>
        <p:spPr>
          <a:xfrm>
            <a:off x="640080" y="1417320"/>
            <a:ext cx="10908792" cy="12700"/>
          </a:xfrm>
          <a:prstGeom prst="rect">
            <a:avLst/>
          </a:prstGeom>
          <a:solidFill>
            <a:srgbClr val="3A3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646920" y="384048"/>
            <a:ext cx="1901952" cy="384048"/>
          </a:xfrm>
          <a:prstGeom prst="roundRect">
            <a:avLst/>
          </a:prstGeom>
          <a:solidFill>
            <a:srgbClr val="16120C"/>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46920" y="457200"/>
            <a:ext cx="1901952" cy="274320"/>
          </a:xfrm>
          <a:prstGeom prst="rect">
            <a:avLst/>
          </a:prstGeom>
          <a:noFill/>
        </p:spPr>
        <p:txBody>
          <a:bodyPr wrap="square" lIns="0" tIns="0" rIns="0" bIns="0" anchor="t">
            <a:spAutoFit/>
          </a:bodyPr>
          <a:lstStyle/>
          <a:p>
            <a:pPr algn="ctr">
              <a:lnSpc>
                <a:spcPct val="100000"/>
              </a:lnSpc>
              <a:spcBef>
                <a:spcPts val="0"/>
              </a:spcBef>
              <a:spcAft>
                <a:spcPts val="400"/>
              </a:spcAft>
            </a:pPr>
            <a:r>
              <a:rPr sz="1100" b="1">
                <a:solidFill>
                  <a:srgbClr val="CFC4AD"/>
                </a:solidFill>
                <a:latin typeface="IBM Plex Mono"/>
              </a:rPr>
              <a:t>● ○ BINÔME</a:t>
            </a:r>
          </a:p>
        </p:txBody>
      </p:sp>
      <p:sp>
        <p:nvSpPr>
          <p:cNvPr id="8" name="TextBox 7"/>
          <p:cNvSpPr txBox="1"/>
          <p:nvPr/>
        </p:nvSpPr>
        <p:spPr>
          <a:xfrm>
            <a:off x="640080" y="1572768"/>
            <a:ext cx="10908792" cy="594360"/>
          </a:xfrm>
          <a:prstGeom prst="rect">
            <a:avLst/>
          </a:prstGeom>
          <a:noFill/>
        </p:spPr>
        <p:txBody>
          <a:bodyPr wrap="square" lIns="0" tIns="0" rIns="0" bIns="0" anchor="t">
            <a:spAutoFit/>
          </a:bodyPr>
          <a:lstStyle/>
          <a:p>
            <a:pPr algn="l">
              <a:lnSpc>
                <a:spcPct val="120000"/>
              </a:lnSpc>
              <a:spcBef>
                <a:spcPts val="0"/>
              </a:spcBef>
              <a:spcAft>
                <a:spcPts val="400"/>
              </a:spcAft>
            </a:pPr>
            <a:r>
              <a:rPr sz="1350" b="0">
                <a:solidFill>
                  <a:srgbClr val="CFC4AD"/>
                </a:solidFill>
                <a:latin typeface="Newsreader Medium"/>
              </a:rPr>
              <a:t>Même fabric leaf &amp; spine, deux designs BGP intentionnellement différents pour comparer leurs contraintes.</a:t>
            </a:r>
          </a:p>
        </p:txBody>
      </p:sp>
      <p:sp>
        <p:nvSpPr>
          <p:cNvPr id="9" name="Rounded Rectangle 8"/>
          <p:cNvSpPr/>
          <p:nvPr/>
        </p:nvSpPr>
        <p:spPr>
          <a:xfrm>
            <a:off x="640080" y="2331720"/>
            <a:ext cx="5330952" cy="384048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2331720"/>
            <a:ext cx="5330952"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487168"/>
            <a:ext cx="4892040" cy="685800"/>
          </a:xfrm>
          <a:prstGeom prst="rect">
            <a:avLst/>
          </a:prstGeom>
          <a:noFill/>
        </p:spPr>
        <p:txBody>
          <a:bodyPr wrap="square" lIns="0" tIns="0" rIns="0" bIns="0" anchor="t">
            <a:spAutoFit/>
          </a:bodyPr>
          <a:lstStyle/>
          <a:p>
            <a:pPr algn="l">
              <a:lnSpc>
                <a:spcPct val="110000"/>
              </a:lnSpc>
              <a:spcBef>
                <a:spcPts val="0"/>
              </a:spcBef>
              <a:spcAft>
                <a:spcPts val="200"/>
              </a:spcAft>
            </a:pPr>
            <a:r>
              <a:rPr sz="1600" b="1">
                <a:solidFill>
                  <a:srgbClr val="F4ECDD"/>
                </a:solidFill>
                <a:latin typeface="Syne"/>
              </a:rPr>
              <a:t>Pierre URTADO — eBGP</a:t>
            </a:r>
          </a:p>
          <a:p>
            <a:pPr algn="l">
              <a:lnSpc>
                <a:spcPct val="110000"/>
              </a:lnSpc>
              <a:spcBef>
                <a:spcPts val="0"/>
              </a:spcBef>
              <a:spcAft>
                <a:spcPts val="200"/>
              </a:spcAft>
            </a:pPr>
            <a:r>
              <a:rPr sz="1050" b="1">
                <a:solidFill>
                  <a:srgbClr val="FF5A1F"/>
                </a:solidFill>
                <a:latin typeface="IBM Plex Mono"/>
              </a:rPr>
              <a:t>Multi-AS RFC 7938 — un AS par équipement</a:t>
            </a:r>
          </a:p>
        </p:txBody>
      </p:sp>
      <p:sp>
        <p:nvSpPr>
          <p:cNvPr id="12" name="TextBox 11"/>
          <p:cNvSpPr txBox="1"/>
          <p:nvPr/>
        </p:nvSpPr>
        <p:spPr>
          <a:xfrm>
            <a:off x="868680" y="3273552"/>
            <a:ext cx="4892040" cy="4572000"/>
          </a:xfrm>
          <a:prstGeom prst="rect">
            <a:avLst/>
          </a:prstGeom>
          <a:noFill/>
        </p:spPr>
        <p:txBody>
          <a:bodyPr wrap="square" lIns="0" tIns="0" rIns="0" bIns="0" anchor="t">
            <a:spAutoFit/>
          </a:bodyPr>
          <a:lstStyle/>
          <a:p>
            <a:pPr algn="l">
              <a:lnSpc>
                <a:spcPct val="112000"/>
              </a:lnSpc>
              <a:spcBef>
                <a:spcPts val="0"/>
              </a:spcBef>
              <a:spcAft>
                <a:spcPts val="600"/>
              </a:spcAft>
            </a:pPr>
            <a:r>
              <a:rPr sz="1200" b="1" dirty="0">
                <a:solidFill>
                  <a:srgbClr val="FF5A1F"/>
                </a:solidFill>
                <a:latin typeface="Newsreader ExtraBold"/>
              </a:rPr>
              <a:t>• </a:t>
            </a:r>
            <a:r>
              <a:rPr sz="1200" b="0" dirty="0">
                <a:solidFill>
                  <a:srgbClr val="CFC4AD"/>
                </a:solidFill>
                <a:latin typeface="Newsreader Medium"/>
              </a:rPr>
              <a:t>Next-hop </a:t>
            </a:r>
            <a:r>
              <a:rPr sz="1200" b="0" dirty="0" err="1">
                <a:solidFill>
                  <a:srgbClr val="CFC4AD"/>
                </a:solidFill>
                <a:latin typeface="Newsreader Medium"/>
              </a:rPr>
              <a:t>réécrit</a:t>
            </a:r>
            <a:r>
              <a:rPr sz="1200" b="0" dirty="0">
                <a:solidFill>
                  <a:srgbClr val="CFC4AD"/>
                </a:solidFill>
                <a:latin typeface="Newsreader Medium"/>
              </a:rPr>
              <a:t> à </a:t>
            </a:r>
            <a:r>
              <a:rPr sz="1200" b="0" dirty="0" err="1">
                <a:solidFill>
                  <a:srgbClr val="CFC4AD"/>
                </a:solidFill>
                <a:latin typeface="Newsreader Medium"/>
              </a:rPr>
              <a:t>chaque</a:t>
            </a:r>
            <a:r>
              <a:rPr sz="1200" b="0" dirty="0">
                <a:solidFill>
                  <a:srgbClr val="CFC4AD"/>
                </a:solidFill>
                <a:latin typeface="Newsreader Medium"/>
              </a:rPr>
              <a:t> </a:t>
            </a:r>
            <a:r>
              <a:rPr sz="1200" b="0" dirty="0" err="1">
                <a:solidFill>
                  <a:srgbClr val="CFC4AD"/>
                </a:solidFill>
                <a:latin typeface="Newsreader Medium"/>
              </a:rPr>
              <a:t>saut</a:t>
            </a:r>
            <a:r>
              <a:rPr sz="1200" b="0" dirty="0">
                <a:solidFill>
                  <a:srgbClr val="CFC4AD"/>
                </a:solidFill>
                <a:latin typeface="Newsreader Medium"/>
              </a:rPr>
              <a:t>, </a:t>
            </a:r>
            <a:r>
              <a:rPr sz="1200" b="0" dirty="0" err="1">
                <a:solidFill>
                  <a:srgbClr val="CFC4AD"/>
                </a:solidFill>
                <a:latin typeface="Newsreader Medium"/>
              </a:rPr>
              <a:t>transitif</a:t>
            </a:r>
            <a:r>
              <a:rPr sz="1200" b="0" dirty="0">
                <a:solidFill>
                  <a:srgbClr val="CFC4AD"/>
                </a:solidFill>
                <a:latin typeface="Newsreader Medium"/>
              </a:rPr>
              <a:t> </a:t>
            </a:r>
            <a:r>
              <a:rPr sz="1200" b="0" dirty="0" err="1">
                <a:solidFill>
                  <a:srgbClr val="CFC4AD"/>
                </a:solidFill>
                <a:latin typeface="Newsreader Medium"/>
              </a:rPr>
              <a:t>natif</a:t>
            </a:r>
            <a:r>
              <a:rPr sz="1200" b="0" dirty="0">
                <a:solidFill>
                  <a:srgbClr val="CFC4AD"/>
                </a:solidFill>
                <a:latin typeface="Newsreader Medium"/>
              </a:rPr>
              <a:t>.</a:t>
            </a:r>
          </a:p>
          <a:p>
            <a:pPr algn="l">
              <a:lnSpc>
                <a:spcPct val="112000"/>
              </a:lnSpc>
              <a:spcBef>
                <a:spcPts val="0"/>
              </a:spcBef>
              <a:spcAft>
                <a:spcPts val="600"/>
              </a:spcAft>
            </a:pPr>
            <a:r>
              <a:rPr sz="1200" b="1" dirty="0">
                <a:solidFill>
                  <a:srgbClr val="FF5A1F"/>
                </a:solidFill>
                <a:latin typeface="Newsreader ExtraBold"/>
              </a:rPr>
              <a:t>• </a:t>
            </a:r>
            <a:r>
              <a:rPr sz="1200" b="0" dirty="0">
                <a:solidFill>
                  <a:srgbClr val="CFC4AD"/>
                </a:solidFill>
                <a:latin typeface="Newsreader Medium"/>
              </a:rPr>
              <a:t>Pas de RR </a:t>
            </a:r>
            <a:r>
              <a:rPr sz="1200" b="0" dirty="0" err="1">
                <a:solidFill>
                  <a:srgbClr val="CFC4AD"/>
                </a:solidFill>
                <a:latin typeface="Newsreader Medium"/>
              </a:rPr>
              <a:t>ni</a:t>
            </a:r>
            <a:r>
              <a:rPr sz="1200" b="0" dirty="0">
                <a:solidFill>
                  <a:srgbClr val="CFC4AD"/>
                </a:solidFill>
                <a:latin typeface="Newsreader Medium"/>
              </a:rPr>
              <a:t> next-hop-self.</a:t>
            </a:r>
          </a:p>
          <a:p>
            <a:pPr algn="l">
              <a:lnSpc>
                <a:spcPct val="112000"/>
              </a:lnSpc>
              <a:spcBef>
                <a:spcPts val="0"/>
              </a:spcBef>
              <a:spcAft>
                <a:spcPts val="600"/>
              </a:spcAft>
            </a:pPr>
            <a:r>
              <a:rPr sz="1200" b="1" dirty="0">
                <a:solidFill>
                  <a:srgbClr val="FF5A1F"/>
                </a:solidFill>
                <a:latin typeface="Newsreader ExtraBold"/>
              </a:rPr>
              <a:t>• </a:t>
            </a:r>
            <a:r>
              <a:rPr sz="1200" b="0" dirty="0">
                <a:solidFill>
                  <a:srgbClr val="CFC4AD"/>
                </a:solidFill>
                <a:latin typeface="Newsreader Medium"/>
              </a:rPr>
              <a:t>ECMP naturel via </a:t>
            </a:r>
            <a:r>
              <a:rPr sz="1200" b="0" dirty="0" err="1">
                <a:solidFill>
                  <a:srgbClr val="CFC4AD"/>
                </a:solidFill>
                <a:latin typeface="Newsreader Medium"/>
              </a:rPr>
              <a:t>l'AS</a:t>
            </a:r>
            <a:r>
              <a:rPr sz="1200" b="0" dirty="0">
                <a:solidFill>
                  <a:srgbClr val="CFC4AD"/>
                </a:solidFill>
                <a:latin typeface="Newsreader Medium"/>
              </a:rPr>
              <a:t>-path.</a:t>
            </a:r>
          </a:p>
          <a:p>
            <a:pPr algn="l">
              <a:lnSpc>
                <a:spcPct val="112000"/>
              </a:lnSpc>
              <a:spcBef>
                <a:spcPts val="0"/>
              </a:spcBef>
              <a:spcAft>
                <a:spcPts val="600"/>
              </a:spcAft>
            </a:pPr>
            <a:r>
              <a:rPr sz="1200" b="1" dirty="0">
                <a:solidFill>
                  <a:srgbClr val="FF5A1F"/>
                </a:solidFill>
                <a:latin typeface="Newsreader ExtraBold"/>
              </a:rPr>
              <a:t>• </a:t>
            </a:r>
            <a:r>
              <a:rPr sz="1200" b="0" dirty="0">
                <a:solidFill>
                  <a:srgbClr val="CFC4AD"/>
                </a:solidFill>
                <a:latin typeface="Newsreader Medium"/>
              </a:rPr>
              <a:t>Standard datacenter </a:t>
            </a:r>
            <a:r>
              <a:rPr sz="1200" b="0" dirty="0" err="1">
                <a:solidFill>
                  <a:srgbClr val="CFC4AD"/>
                </a:solidFill>
                <a:latin typeface="Newsreader Medium"/>
              </a:rPr>
              <a:t>moderne</a:t>
            </a:r>
            <a:r>
              <a:rPr sz="1200" b="0" dirty="0">
                <a:solidFill>
                  <a:srgbClr val="CFC4AD"/>
                </a:solidFill>
                <a:latin typeface="Newsreader Medium"/>
              </a:rPr>
              <a:t>.</a:t>
            </a:r>
          </a:p>
          <a:p>
            <a:pPr algn="l">
              <a:lnSpc>
                <a:spcPct val="112000"/>
              </a:lnSpc>
              <a:spcBef>
                <a:spcPts val="0"/>
              </a:spcBef>
              <a:spcAft>
                <a:spcPts val="600"/>
              </a:spcAft>
            </a:pPr>
            <a:r>
              <a:rPr sz="1200" b="1" dirty="0">
                <a:solidFill>
                  <a:srgbClr val="FF5A1F"/>
                </a:solidFill>
                <a:latin typeface="Newsreader ExtraBold"/>
              </a:rPr>
              <a:t>• </a:t>
            </a:r>
            <a:r>
              <a:rPr sz="1200" b="0" dirty="0">
                <a:solidFill>
                  <a:srgbClr val="CFC4AD"/>
                </a:solidFill>
                <a:latin typeface="Newsreader Medium"/>
              </a:rPr>
              <a:t>Isolation de </a:t>
            </a:r>
            <a:r>
              <a:rPr sz="1200" b="0" dirty="0" err="1">
                <a:solidFill>
                  <a:srgbClr val="CFC4AD"/>
                </a:solidFill>
                <a:latin typeface="Newsreader Medium"/>
              </a:rPr>
              <a:t>défaillance</a:t>
            </a:r>
            <a:r>
              <a:rPr sz="1200" b="0" dirty="0">
                <a:solidFill>
                  <a:srgbClr val="CFC4AD"/>
                </a:solidFill>
                <a:latin typeface="Newsreader Medium"/>
              </a:rPr>
              <a:t> par AS.</a:t>
            </a:r>
          </a:p>
        </p:txBody>
      </p:sp>
      <p:sp>
        <p:nvSpPr>
          <p:cNvPr id="13" name="Rounded Rectangle 12"/>
          <p:cNvSpPr/>
          <p:nvPr/>
        </p:nvSpPr>
        <p:spPr>
          <a:xfrm>
            <a:off x="6217920" y="2331720"/>
            <a:ext cx="5330952" cy="384048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17920" y="2331720"/>
            <a:ext cx="5330952" cy="50800"/>
          </a:xfrm>
          <a:prstGeom prst="rect">
            <a:avLst/>
          </a:prstGeom>
          <a:solidFill>
            <a:srgbClr val="FF8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46520" y="2487168"/>
            <a:ext cx="4892040" cy="685800"/>
          </a:xfrm>
          <a:prstGeom prst="rect">
            <a:avLst/>
          </a:prstGeom>
          <a:noFill/>
        </p:spPr>
        <p:txBody>
          <a:bodyPr wrap="square" lIns="0" tIns="0" rIns="0" bIns="0" anchor="t">
            <a:spAutoFit/>
          </a:bodyPr>
          <a:lstStyle/>
          <a:p>
            <a:pPr algn="l">
              <a:lnSpc>
                <a:spcPct val="110000"/>
              </a:lnSpc>
              <a:spcBef>
                <a:spcPts val="0"/>
              </a:spcBef>
              <a:spcAft>
                <a:spcPts val="200"/>
              </a:spcAft>
            </a:pPr>
            <a:r>
              <a:rPr sz="1600" b="1">
                <a:solidFill>
                  <a:srgbClr val="F4ECDD"/>
                </a:solidFill>
                <a:latin typeface="Syne"/>
              </a:rPr>
              <a:t>Valentin MALOT — iBGP</a:t>
            </a:r>
          </a:p>
          <a:p>
            <a:pPr algn="l">
              <a:lnSpc>
                <a:spcPct val="110000"/>
              </a:lnSpc>
              <a:spcBef>
                <a:spcPts val="0"/>
              </a:spcBef>
              <a:spcAft>
                <a:spcPts val="200"/>
              </a:spcAft>
            </a:pPr>
            <a:r>
              <a:rPr sz="1050" b="1">
                <a:solidFill>
                  <a:srgbClr val="FF8A3D"/>
                </a:solidFill>
                <a:latin typeface="IBM Plex Mono"/>
              </a:rPr>
              <a:t>AS unique 65899 + Route-Reflectors (Arista cEOS 4.36.1F)</a:t>
            </a:r>
          </a:p>
        </p:txBody>
      </p:sp>
      <p:sp>
        <p:nvSpPr>
          <p:cNvPr id="16" name="TextBox 15"/>
          <p:cNvSpPr txBox="1"/>
          <p:nvPr/>
        </p:nvSpPr>
        <p:spPr>
          <a:xfrm>
            <a:off x="6446520" y="3273552"/>
            <a:ext cx="4892040" cy="4572000"/>
          </a:xfrm>
          <a:prstGeom prst="rect">
            <a:avLst/>
          </a:prstGeom>
          <a:noFill/>
        </p:spPr>
        <p:txBody>
          <a:bodyPr wrap="square" lIns="0" tIns="0" rIns="0" bIns="0" anchor="t">
            <a:spAutoFit/>
          </a:bodyPr>
          <a:lstStyle/>
          <a:p>
            <a:pPr algn="l">
              <a:lnSpc>
                <a:spcPct val="112000"/>
              </a:lnSpc>
              <a:spcBef>
                <a:spcPts val="0"/>
              </a:spcBef>
              <a:spcAft>
                <a:spcPts val="600"/>
              </a:spcAft>
            </a:pPr>
            <a:r>
              <a:rPr sz="1200" b="1">
                <a:solidFill>
                  <a:srgbClr val="FF8A3D"/>
                </a:solidFill>
                <a:latin typeface="Newsreader ExtraBold"/>
              </a:rPr>
              <a:t>• </a:t>
            </a:r>
            <a:r>
              <a:rPr sz="1200" b="0">
                <a:solidFill>
                  <a:srgbClr val="CFC4AD"/>
                </a:solidFill>
                <a:latin typeface="Newsreader Medium"/>
              </a:rPr>
              <a:t>Spines = RR (route-reflector-client explicite).</a:t>
            </a:r>
          </a:p>
          <a:p>
            <a:pPr algn="l">
              <a:lnSpc>
                <a:spcPct val="112000"/>
              </a:lnSpc>
              <a:spcBef>
                <a:spcPts val="0"/>
              </a:spcBef>
              <a:spcAft>
                <a:spcPts val="600"/>
              </a:spcAft>
            </a:pPr>
            <a:r>
              <a:rPr sz="1200" b="1">
                <a:solidFill>
                  <a:srgbClr val="FF8A3D"/>
                </a:solidFill>
                <a:latin typeface="Newsreader ExtraBold"/>
              </a:rPr>
              <a:t>• </a:t>
            </a:r>
            <a:r>
              <a:rPr sz="1200" b="0">
                <a:solidFill>
                  <a:srgbClr val="CFC4AD"/>
                </a:solidFill>
                <a:latin typeface="Newsreader Medium"/>
              </a:rPr>
              <a:t>next-hop-self obligatoire sur les spines.</a:t>
            </a:r>
          </a:p>
          <a:p>
            <a:pPr algn="l">
              <a:lnSpc>
                <a:spcPct val="112000"/>
              </a:lnSpc>
              <a:spcBef>
                <a:spcPts val="0"/>
              </a:spcBef>
              <a:spcAft>
                <a:spcPts val="600"/>
              </a:spcAft>
            </a:pPr>
            <a:r>
              <a:rPr sz="1200" b="1">
                <a:solidFill>
                  <a:srgbClr val="FF8A3D"/>
                </a:solidFill>
                <a:latin typeface="Newsreader ExtraBold"/>
              </a:rPr>
              <a:t>• </a:t>
            </a:r>
            <a:r>
              <a:rPr sz="1200" b="0">
                <a:solidFill>
                  <a:srgbClr val="CFC4AD"/>
                </a:solidFill>
                <a:latin typeface="Newsreader Medium"/>
              </a:rPr>
              <a:t>Peering direct spine1↔spine2 (sous-réseau /30).</a:t>
            </a:r>
          </a:p>
          <a:p>
            <a:pPr algn="l">
              <a:lnSpc>
                <a:spcPct val="112000"/>
              </a:lnSpc>
              <a:spcBef>
                <a:spcPts val="0"/>
              </a:spcBef>
              <a:spcAft>
                <a:spcPts val="600"/>
              </a:spcAft>
            </a:pPr>
            <a:r>
              <a:rPr sz="1200" b="1">
                <a:solidFill>
                  <a:srgbClr val="FF8A3D"/>
                </a:solidFill>
                <a:latin typeface="Newsreader ExtraBold"/>
              </a:rPr>
              <a:t>• </a:t>
            </a:r>
            <a:r>
              <a:rPr sz="1200" b="0">
                <a:solidFill>
                  <a:srgbClr val="CFC4AD"/>
                </a:solidFill>
                <a:latin typeface="Newsreader Medium"/>
              </a:rPr>
              <a:t>Design legacy : maintenance périlleuse en production.</a:t>
            </a:r>
          </a:p>
          <a:p>
            <a:pPr algn="l">
              <a:lnSpc>
                <a:spcPct val="112000"/>
              </a:lnSpc>
              <a:spcBef>
                <a:spcPts val="0"/>
              </a:spcBef>
              <a:spcAft>
                <a:spcPts val="600"/>
              </a:spcAft>
            </a:pPr>
            <a:r>
              <a:rPr sz="1200" b="1">
                <a:solidFill>
                  <a:srgbClr val="FF8A3D"/>
                </a:solidFill>
                <a:latin typeface="Newsreader ExtraBold"/>
              </a:rPr>
              <a:t>• </a:t>
            </a:r>
            <a:r>
              <a:rPr sz="1200" b="0">
                <a:solidFill>
                  <a:srgbClr val="CFC4AD"/>
                </a:solidFill>
                <a:latin typeface="Newsreader Medium"/>
              </a:rPr>
              <a:t>ECMP à configurer manuellement.</a:t>
            </a:r>
          </a:p>
        </p:txBody>
      </p:sp>
      <p:sp>
        <p:nvSpPr>
          <p:cNvPr id="17" name="TextBox 16"/>
          <p:cNvSpPr txBox="1"/>
          <p:nvPr/>
        </p:nvSpPr>
        <p:spPr>
          <a:xfrm>
            <a:off x="640080" y="6446520"/>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a:solidFill>
                  <a:srgbClr val="94896F"/>
                </a:solidFill>
                <a:latin typeface="IBM Plex Mono"/>
              </a:rPr>
              <a:t>SAE4D01 DevCloud · Groupe 8 · URTADO P. / MALOT V.</a:t>
            </a:r>
          </a:p>
        </p:txBody>
      </p:sp>
      <p:sp>
        <p:nvSpPr>
          <p:cNvPr id="18" name="TextBox 17"/>
          <p:cNvSpPr txBox="1"/>
          <p:nvPr/>
        </p:nvSpPr>
        <p:spPr>
          <a:xfrm>
            <a:off x="10698480" y="6446520"/>
            <a:ext cx="91440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0">
                <a:solidFill>
                  <a:srgbClr val="94896F"/>
                </a:solidFill>
                <a:latin typeface="IBM Plex Mono"/>
              </a:rPr>
              <a:t>05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C0A07"/>
        </a:solidFill>
        <a:effectLst/>
      </p:bgPr>
    </p:bg>
    <p:spTree>
      <p:nvGrpSpPr>
        <p:cNvPr id="1" name=""/>
        <p:cNvGrpSpPr/>
        <p:nvPr/>
      </p:nvGrpSpPr>
      <p:grpSpPr>
        <a:xfrm>
          <a:off x="0" y="0"/>
          <a:ext cx="0" cy="0"/>
          <a:chOff x="0" y="0"/>
          <a:chExt cx="0" cy="0"/>
        </a:xfrm>
      </p:grpSpPr>
      <p:sp>
        <p:nvSpPr>
          <p:cNvPr id="2" name="Rectangle 1"/>
          <p:cNvSpPr/>
          <p:nvPr/>
        </p:nvSpPr>
        <p:spPr>
          <a:xfrm>
            <a:off x="640080" y="713232"/>
            <a:ext cx="502920"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10058400" cy="169277"/>
          </a:xfrm>
          <a:prstGeom prst="rect">
            <a:avLst/>
          </a:prstGeom>
          <a:noFill/>
        </p:spPr>
        <p:txBody>
          <a:bodyPr wrap="square" lIns="0" tIns="0" rIns="0" bIns="0" anchor="t">
            <a:spAutoFit/>
          </a:bodyPr>
          <a:lstStyle/>
          <a:p>
            <a:pPr algn="l">
              <a:lnSpc>
                <a:spcPct val="100000"/>
              </a:lnSpc>
              <a:spcBef>
                <a:spcPts val="0"/>
              </a:spcBef>
              <a:spcAft>
                <a:spcPts val="400"/>
              </a:spcAft>
            </a:pPr>
            <a:r>
              <a:rPr sz="1100" b="1" dirty="0">
                <a:solidFill>
                  <a:srgbClr val="FF5A1F"/>
                </a:solidFill>
                <a:latin typeface="IBM Plex Mono"/>
              </a:rPr>
              <a:t>0</a:t>
            </a:r>
            <a:r>
              <a:rPr lang="fr-FR" sz="1100" b="1" dirty="0">
                <a:solidFill>
                  <a:srgbClr val="FF5A1F"/>
                </a:solidFill>
                <a:latin typeface="IBM Plex Mono"/>
              </a:rPr>
              <a:t>5</a:t>
            </a:r>
            <a:r>
              <a:rPr sz="1100" b="1" dirty="0">
                <a:solidFill>
                  <a:srgbClr val="FF5A1F"/>
                </a:solidFill>
                <a:latin typeface="IBM Plex Mono"/>
              </a:rPr>
              <a:t> · ARCHITECTURE</a:t>
            </a:r>
          </a:p>
        </p:txBody>
      </p:sp>
      <p:sp>
        <p:nvSpPr>
          <p:cNvPr id="4" name="TextBox 3"/>
          <p:cNvSpPr txBox="1"/>
          <p:nvPr/>
        </p:nvSpPr>
        <p:spPr>
          <a:xfrm>
            <a:off x="640080" y="777240"/>
            <a:ext cx="10789920" cy="822960"/>
          </a:xfrm>
          <a:prstGeom prst="rect">
            <a:avLst/>
          </a:prstGeom>
          <a:noFill/>
        </p:spPr>
        <p:txBody>
          <a:bodyPr wrap="square" lIns="0" tIns="0" rIns="0" bIns="0" anchor="t">
            <a:spAutoFit/>
          </a:bodyPr>
          <a:lstStyle/>
          <a:p>
            <a:pPr algn="l">
              <a:lnSpc>
                <a:spcPct val="100000"/>
              </a:lnSpc>
              <a:spcBef>
                <a:spcPts val="0"/>
              </a:spcBef>
              <a:spcAft>
                <a:spcPts val="400"/>
              </a:spcAft>
            </a:pPr>
            <a:r>
              <a:rPr sz="2800" b="1">
                <a:solidFill>
                  <a:srgbClr val="F4ECDD"/>
                </a:solidFill>
                <a:latin typeface="Syne"/>
              </a:rPr>
              <a:t>Fabric iBGP/EVPN — Datacenter Valentin</a:t>
            </a:r>
          </a:p>
        </p:txBody>
      </p:sp>
      <p:sp>
        <p:nvSpPr>
          <p:cNvPr id="5" name="Rectangle 4"/>
          <p:cNvSpPr/>
          <p:nvPr/>
        </p:nvSpPr>
        <p:spPr>
          <a:xfrm>
            <a:off x="640080" y="1417320"/>
            <a:ext cx="10908792" cy="12700"/>
          </a:xfrm>
          <a:prstGeom prst="rect">
            <a:avLst/>
          </a:prstGeom>
          <a:solidFill>
            <a:srgbClr val="3A3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646920" y="384048"/>
            <a:ext cx="1901952" cy="384048"/>
          </a:xfrm>
          <a:prstGeom prst="roundRect">
            <a:avLst/>
          </a:prstGeom>
          <a:solidFill>
            <a:srgbClr val="120F0A"/>
          </a:solidFill>
          <a:ln w="15875">
            <a:solidFill>
              <a:srgbClr val="FF5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46920" y="457200"/>
            <a:ext cx="1901952" cy="274320"/>
          </a:xfrm>
          <a:prstGeom prst="rect">
            <a:avLst/>
          </a:prstGeom>
          <a:noFill/>
        </p:spPr>
        <p:txBody>
          <a:bodyPr wrap="square" lIns="0" tIns="0" rIns="0" bIns="0" anchor="t">
            <a:spAutoFit/>
          </a:bodyPr>
          <a:lstStyle/>
          <a:p>
            <a:pPr algn="ctr">
              <a:lnSpc>
                <a:spcPct val="100000"/>
              </a:lnSpc>
              <a:spcBef>
                <a:spcPts val="0"/>
              </a:spcBef>
              <a:spcAft>
                <a:spcPts val="400"/>
              </a:spcAft>
            </a:pPr>
            <a:r>
              <a:rPr sz="1200" b="1">
                <a:solidFill>
                  <a:srgbClr val="FF5A1F"/>
                </a:solidFill>
                <a:latin typeface="IBM Plex Mono"/>
              </a:rPr>
              <a:t>○ VALENTIN</a:t>
            </a:r>
          </a:p>
        </p:txBody>
      </p:sp>
      <p:sp>
        <p:nvSpPr>
          <p:cNvPr id="8" name="Rectangle 7"/>
          <p:cNvSpPr/>
          <p:nvPr/>
        </p:nvSpPr>
        <p:spPr>
          <a:xfrm>
            <a:off x="557784" y="1517904"/>
            <a:ext cx="4908811" cy="4590288"/>
          </a:xfrm>
          <a:prstGeom prst="rect">
            <a:avLst/>
          </a:prstGeom>
          <a:solidFill>
            <a:srgbClr val="16120C"/>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Datacenter1.png"/>
          <p:cNvPicPr>
            <a:picLocks noChangeAspect="1"/>
          </p:cNvPicPr>
          <p:nvPr/>
        </p:nvPicPr>
        <p:blipFill>
          <a:blip r:embed="rId3"/>
          <a:stretch>
            <a:fillRect/>
          </a:stretch>
        </p:blipFill>
        <p:spPr>
          <a:xfrm>
            <a:off x="612648" y="1572768"/>
            <a:ext cx="4799083" cy="4480560"/>
          </a:xfrm>
          <a:prstGeom prst="rect">
            <a:avLst/>
          </a:prstGeom>
        </p:spPr>
      </p:pic>
      <p:sp>
        <p:nvSpPr>
          <p:cNvPr id="10" name="Rounded Rectangle 9"/>
          <p:cNvSpPr/>
          <p:nvPr/>
        </p:nvSpPr>
        <p:spPr>
          <a:xfrm>
            <a:off x="5640331" y="1572768"/>
            <a:ext cx="5908540" cy="448056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868931" y="1719072"/>
            <a:ext cx="5634220" cy="365760"/>
          </a:xfrm>
          <a:prstGeom prst="rect">
            <a:avLst/>
          </a:prstGeom>
          <a:noFill/>
        </p:spPr>
        <p:txBody>
          <a:bodyPr wrap="square" lIns="0" tIns="0" rIns="0" bIns="0" anchor="t">
            <a:spAutoFit/>
          </a:bodyPr>
          <a:lstStyle/>
          <a:p>
            <a:pPr algn="l">
              <a:lnSpc>
                <a:spcPct val="100000"/>
              </a:lnSpc>
              <a:spcBef>
                <a:spcPts val="0"/>
              </a:spcBef>
              <a:spcAft>
                <a:spcPts val="400"/>
              </a:spcAft>
            </a:pPr>
            <a:r>
              <a:rPr sz="1300" b="1">
                <a:solidFill>
                  <a:srgbClr val="FF5A1F"/>
                </a:solidFill>
                <a:latin typeface="IBM Plex Mono"/>
              </a:rPr>
              <a:t>AS 65899 (Valentin)</a:t>
            </a:r>
          </a:p>
        </p:txBody>
      </p:sp>
      <p:sp>
        <p:nvSpPr>
          <p:cNvPr id="12" name="TextBox 11"/>
          <p:cNvSpPr txBox="1"/>
          <p:nvPr/>
        </p:nvSpPr>
        <p:spPr>
          <a:xfrm>
            <a:off x="5868931" y="2194560"/>
            <a:ext cx="5634220" cy="4572000"/>
          </a:xfrm>
          <a:prstGeom prst="rect">
            <a:avLst/>
          </a:prstGeom>
          <a:noFill/>
        </p:spPr>
        <p:txBody>
          <a:bodyPr wrap="square" lIns="0" tIns="0" rIns="0" bIns="0" anchor="t">
            <a:spAutoFit/>
          </a:bodyPr>
          <a:lstStyle/>
          <a:p>
            <a:pPr algn="l">
              <a:lnSpc>
                <a:spcPct val="112000"/>
              </a:lnSpc>
              <a:spcBef>
                <a:spcPts val="0"/>
              </a:spcBef>
              <a:spcAft>
                <a:spcPts val="500"/>
              </a:spcAft>
            </a:pPr>
            <a:r>
              <a:rPr sz="1100" b="1">
                <a:solidFill>
                  <a:srgbClr val="FF5A1F"/>
                </a:solidFill>
                <a:latin typeface="Newsreader ExtraBold"/>
              </a:rPr>
              <a:t>• </a:t>
            </a:r>
            <a:r>
              <a:rPr sz="1100" b="0">
                <a:solidFill>
                  <a:srgbClr val="CFC4AD"/>
                </a:solidFill>
                <a:latin typeface="Newsreader Medium"/>
              </a:rPr>
              <a:t>iBGP underlay sur les liens physiques (loopbacks).</a:t>
            </a:r>
          </a:p>
          <a:p>
            <a:pPr algn="l">
              <a:lnSpc>
                <a:spcPct val="112000"/>
              </a:lnSpc>
              <a:spcBef>
                <a:spcPts val="0"/>
              </a:spcBef>
              <a:spcAft>
                <a:spcPts val="500"/>
              </a:spcAft>
            </a:pPr>
            <a:r>
              <a:rPr sz="1100" b="1">
                <a:solidFill>
                  <a:srgbClr val="FF5A1F"/>
                </a:solidFill>
                <a:latin typeface="Newsreader ExtraBold"/>
              </a:rPr>
              <a:t>• </a:t>
            </a:r>
            <a:r>
              <a:rPr sz="1100" b="0">
                <a:solidFill>
                  <a:srgbClr val="CFC4AD"/>
                </a:solidFill>
                <a:latin typeface="Newsreader Medium"/>
              </a:rPr>
              <a:t>iBGP overlay entre loopbacks (transporte EVPN).</a:t>
            </a:r>
          </a:p>
          <a:p>
            <a:pPr algn="l">
              <a:lnSpc>
                <a:spcPct val="112000"/>
              </a:lnSpc>
              <a:spcBef>
                <a:spcPts val="0"/>
              </a:spcBef>
              <a:spcAft>
                <a:spcPts val="500"/>
              </a:spcAft>
            </a:pPr>
            <a:r>
              <a:rPr sz="1100" b="1">
                <a:solidFill>
                  <a:srgbClr val="FF5A1F"/>
                </a:solidFill>
                <a:latin typeface="Newsreader ExtraBold"/>
              </a:rPr>
              <a:t>• </a:t>
            </a:r>
            <a:r>
              <a:rPr sz="1100" b="0">
                <a:solidFill>
                  <a:srgbClr val="CFC4AD"/>
                </a:solidFill>
                <a:latin typeface="Newsreader Medium"/>
              </a:rPr>
              <a:t>ECMP maximum-paths 2 ecmp 2 pour HA.</a:t>
            </a:r>
          </a:p>
          <a:p>
            <a:pPr algn="l">
              <a:lnSpc>
                <a:spcPct val="112000"/>
              </a:lnSpc>
              <a:spcBef>
                <a:spcPts val="0"/>
              </a:spcBef>
              <a:spcAft>
                <a:spcPts val="500"/>
              </a:spcAft>
            </a:pPr>
            <a:r>
              <a:rPr sz="1100" b="1">
                <a:solidFill>
                  <a:srgbClr val="FF5A1F"/>
                </a:solidFill>
                <a:latin typeface="Newsreader ExtraBold"/>
              </a:rPr>
              <a:t>• </a:t>
            </a:r>
            <a:r>
              <a:rPr sz="1100" b="0">
                <a:solidFill>
                  <a:srgbClr val="CFC4AD"/>
                </a:solidFill>
                <a:latin typeface="Newsreader Medium"/>
              </a:rPr>
              <a:t>Deux VLANs : 560 (web), 570 (machines).</a:t>
            </a:r>
          </a:p>
          <a:p>
            <a:pPr algn="l">
              <a:lnSpc>
                <a:spcPct val="112000"/>
              </a:lnSpc>
              <a:spcBef>
                <a:spcPts val="0"/>
              </a:spcBef>
              <a:spcAft>
                <a:spcPts val="500"/>
              </a:spcAft>
            </a:pPr>
            <a:r>
              <a:rPr sz="1100" b="1">
                <a:solidFill>
                  <a:srgbClr val="FF5A1F"/>
                </a:solidFill>
                <a:latin typeface="Newsreader ExtraBold"/>
              </a:rPr>
              <a:t>• </a:t>
            </a:r>
            <a:r>
              <a:rPr sz="1100" b="0">
                <a:solidFill>
                  <a:srgbClr val="CFC4AD"/>
                </a:solidFill>
                <a:latin typeface="Newsreader Medium"/>
              </a:rPr>
              <a:t>Anycast GW VARP par VLAN.</a:t>
            </a:r>
          </a:p>
          <a:p>
            <a:pPr algn="l">
              <a:lnSpc>
                <a:spcPct val="112000"/>
              </a:lnSpc>
              <a:spcBef>
                <a:spcPts val="0"/>
              </a:spcBef>
              <a:spcAft>
                <a:spcPts val="500"/>
              </a:spcAft>
            </a:pPr>
            <a:r>
              <a:rPr sz="1100" b="1">
                <a:solidFill>
                  <a:srgbClr val="FF5A1F"/>
                </a:solidFill>
                <a:latin typeface="Newsreader ExtraBold"/>
              </a:rPr>
              <a:t>• </a:t>
            </a:r>
            <a:r>
              <a:rPr sz="1100" b="0">
                <a:solidFill>
                  <a:srgbClr val="CFC4AD"/>
                </a:solidFill>
                <a:latin typeface="Newsreader Medium"/>
              </a:rPr>
              <a:t>Supervision (grafana/prometheus/sflowrt) via liens P2P sur spine1 (10.255.9-11.0/30).</a:t>
            </a:r>
          </a:p>
          <a:p>
            <a:pPr algn="l">
              <a:lnSpc>
                <a:spcPct val="112000"/>
              </a:lnSpc>
              <a:spcBef>
                <a:spcPts val="0"/>
              </a:spcBef>
              <a:spcAft>
                <a:spcPts val="500"/>
              </a:spcAft>
            </a:pPr>
            <a:r>
              <a:rPr sz="1100" b="1">
                <a:solidFill>
                  <a:srgbClr val="FF5A1F"/>
                </a:solidFill>
                <a:latin typeface="Newsreader ExtraBold"/>
              </a:rPr>
              <a:t>• </a:t>
            </a:r>
            <a:r>
              <a:rPr sz="1100" b="0">
                <a:solidFill>
                  <a:srgbClr val="CFC4AD"/>
                </a:solidFill>
                <a:latin typeface="Newsreader Medium"/>
              </a:rPr>
              <a:t>Un lien direct uplink vers réseau opérateur (Bridge ENS18).</a:t>
            </a:r>
          </a:p>
          <a:p>
            <a:pPr algn="l">
              <a:lnSpc>
                <a:spcPct val="112000"/>
              </a:lnSpc>
              <a:spcBef>
                <a:spcPts val="0"/>
              </a:spcBef>
              <a:spcAft>
                <a:spcPts val="500"/>
              </a:spcAft>
            </a:pPr>
            <a:r>
              <a:rPr sz="1100" b="1">
                <a:solidFill>
                  <a:srgbClr val="FF5A1F"/>
                </a:solidFill>
                <a:latin typeface="Newsreader ExtraBold"/>
              </a:rPr>
              <a:t>• </a:t>
            </a:r>
            <a:r>
              <a:rPr sz="1100" b="0">
                <a:solidFill>
                  <a:srgbClr val="CFC4AD"/>
                </a:solidFill>
                <a:latin typeface="Newsreader Medium"/>
              </a:rPr>
              <a:t>Peering iBGP direct spine1↔spine2 (nécessaire : un RR ne réfléchit pas entre clients).</a:t>
            </a:r>
          </a:p>
        </p:txBody>
      </p:sp>
      <p:sp>
        <p:nvSpPr>
          <p:cNvPr id="13" name="TextBox 12"/>
          <p:cNvSpPr txBox="1"/>
          <p:nvPr/>
        </p:nvSpPr>
        <p:spPr>
          <a:xfrm>
            <a:off x="640080" y="6446520"/>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a:solidFill>
                  <a:srgbClr val="94896F"/>
                </a:solidFill>
                <a:latin typeface="IBM Plex Mono"/>
              </a:rPr>
              <a:t>SAE4D01 DevCloud · Groupe 8 · URTADO P. / MALOT V.</a:t>
            </a:r>
          </a:p>
        </p:txBody>
      </p:sp>
      <p:sp>
        <p:nvSpPr>
          <p:cNvPr id="14" name="TextBox 13"/>
          <p:cNvSpPr txBox="1"/>
          <p:nvPr/>
        </p:nvSpPr>
        <p:spPr>
          <a:xfrm>
            <a:off x="10698480" y="6446520"/>
            <a:ext cx="91440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0">
                <a:solidFill>
                  <a:srgbClr val="94896F"/>
                </a:solidFill>
                <a:latin typeface="IBM Plex Mono"/>
              </a:rPr>
              <a:t>06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C0A07"/>
        </a:solidFill>
        <a:effectLst/>
      </p:bgPr>
    </p:bg>
    <p:spTree>
      <p:nvGrpSpPr>
        <p:cNvPr id="1" name=""/>
        <p:cNvGrpSpPr/>
        <p:nvPr/>
      </p:nvGrpSpPr>
      <p:grpSpPr>
        <a:xfrm>
          <a:off x="0" y="0"/>
          <a:ext cx="0" cy="0"/>
          <a:chOff x="0" y="0"/>
          <a:chExt cx="0" cy="0"/>
        </a:xfrm>
      </p:grpSpPr>
      <p:sp>
        <p:nvSpPr>
          <p:cNvPr id="2" name="Rectangle 1"/>
          <p:cNvSpPr/>
          <p:nvPr/>
        </p:nvSpPr>
        <p:spPr>
          <a:xfrm>
            <a:off x="640080" y="713232"/>
            <a:ext cx="502920"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10058400" cy="169277"/>
          </a:xfrm>
          <a:prstGeom prst="rect">
            <a:avLst/>
          </a:prstGeom>
          <a:noFill/>
        </p:spPr>
        <p:txBody>
          <a:bodyPr wrap="square" lIns="0" tIns="0" rIns="0" bIns="0" anchor="t">
            <a:spAutoFit/>
          </a:bodyPr>
          <a:lstStyle/>
          <a:p>
            <a:pPr algn="l">
              <a:lnSpc>
                <a:spcPct val="100000"/>
              </a:lnSpc>
              <a:spcBef>
                <a:spcPts val="0"/>
              </a:spcBef>
              <a:spcAft>
                <a:spcPts val="400"/>
              </a:spcAft>
            </a:pPr>
            <a:r>
              <a:rPr sz="1100" b="1" dirty="0">
                <a:solidFill>
                  <a:srgbClr val="FF5A1F"/>
                </a:solidFill>
                <a:latin typeface="IBM Plex Mono"/>
              </a:rPr>
              <a:t>0</a:t>
            </a:r>
            <a:r>
              <a:rPr lang="fr-FR" sz="1100" b="1" dirty="0">
                <a:solidFill>
                  <a:srgbClr val="FF5A1F"/>
                </a:solidFill>
                <a:latin typeface="IBM Plex Mono"/>
              </a:rPr>
              <a:t>6</a:t>
            </a:r>
            <a:r>
              <a:rPr sz="1100" b="1" dirty="0">
                <a:solidFill>
                  <a:srgbClr val="FF5A1F"/>
                </a:solidFill>
                <a:latin typeface="IBM Plex Mono"/>
              </a:rPr>
              <a:t> · EVPN / VXLAN</a:t>
            </a:r>
          </a:p>
        </p:txBody>
      </p:sp>
      <p:sp>
        <p:nvSpPr>
          <p:cNvPr id="4" name="TextBox 3"/>
          <p:cNvSpPr txBox="1"/>
          <p:nvPr/>
        </p:nvSpPr>
        <p:spPr>
          <a:xfrm>
            <a:off x="640080" y="777240"/>
            <a:ext cx="10789920" cy="822960"/>
          </a:xfrm>
          <a:prstGeom prst="rect">
            <a:avLst/>
          </a:prstGeom>
          <a:noFill/>
        </p:spPr>
        <p:txBody>
          <a:bodyPr wrap="square" lIns="0" tIns="0" rIns="0" bIns="0" anchor="t">
            <a:spAutoFit/>
          </a:bodyPr>
          <a:lstStyle/>
          <a:p>
            <a:pPr algn="l">
              <a:lnSpc>
                <a:spcPct val="100000"/>
              </a:lnSpc>
              <a:spcBef>
                <a:spcPts val="0"/>
              </a:spcBef>
              <a:spcAft>
                <a:spcPts val="400"/>
              </a:spcAft>
            </a:pPr>
            <a:r>
              <a:rPr sz="2800" b="1">
                <a:solidFill>
                  <a:srgbClr val="F4ECDD"/>
                </a:solidFill>
                <a:latin typeface="Syne"/>
              </a:rPr>
              <a:t>RR et iBGP : méthode de distribution des routes</a:t>
            </a:r>
          </a:p>
        </p:txBody>
      </p:sp>
      <p:sp>
        <p:nvSpPr>
          <p:cNvPr id="5" name="Rectangle 4"/>
          <p:cNvSpPr/>
          <p:nvPr/>
        </p:nvSpPr>
        <p:spPr>
          <a:xfrm>
            <a:off x="640080" y="1417320"/>
            <a:ext cx="10908792" cy="12700"/>
          </a:xfrm>
          <a:prstGeom prst="rect">
            <a:avLst/>
          </a:prstGeom>
          <a:solidFill>
            <a:srgbClr val="3A3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646920" y="384048"/>
            <a:ext cx="1901952" cy="384048"/>
          </a:xfrm>
          <a:prstGeom prst="roundRect">
            <a:avLst/>
          </a:prstGeom>
          <a:solidFill>
            <a:srgbClr val="120F0A"/>
          </a:solidFill>
          <a:ln w="15875">
            <a:solidFill>
              <a:srgbClr val="FF5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46920" y="457200"/>
            <a:ext cx="1901952" cy="274320"/>
          </a:xfrm>
          <a:prstGeom prst="rect">
            <a:avLst/>
          </a:prstGeom>
          <a:noFill/>
        </p:spPr>
        <p:txBody>
          <a:bodyPr wrap="square" lIns="0" tIns="0" rIns="0" bIns="0" anchor="t">
            <a:spAutoFit/>
          </a:bodyPr>
          <a:lstStyle/>
          <a:p>
            <a:pPr algn="ctr">
              <a:lnSpc>
                <a:spcPct val="100000"/>
              </a:lnSpc>
              <a:spcBef>
                <a:spcPts val="0"/>
              </a:spcBef>
              <a:spcAft>
                <a:spcPts val="400"/>
              </a:spcAft>
            </a:pPr>
            <a:r>
              <a:rPr sz="1200" b="1">
                <a:solidFill>
                  <a:srgbClr val="FF5A1F"/>
                </a:solidFill>
                <a:latin typeface="IBM Plex Mono"/>
              </a:rPr>
              <a:t>○ VALENTIN</a:t>
            </a:r>
          </a:p>
        </p:txBody>
      </p:sp>
      <p:sp>
        <p:nvSpPr>
          <p:cNvPr id="8" name="Rectangle 7"/>
          <p:cNvSpPr/>
          <p:nvPr/>
        </p:nvSpPr>
        <p:spPr>
          <a:xfrm>
            <a:off x="557784" y="1517904"/>
            <a:ext cx="4844558" cy="4590288"/>
          </a:xfrm>
          <a:prstGeom prst="rect">
            <a:avLst/>
          </a:prstGeom>
          <a:solidFill>
            <a:srgbClr val="16120C"/>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lab.png"/>
          <p:cNvPicPr>
            <a:picLocks noChangeAspect="1"/>
          </p:cNvPicPr>
          <p:nvPr/>
        </p:nvPicPr>
        <p:blipFill>
          <a:blip r:embed="rId3"/>
          <a:stretch>
            <a:fillRect/>
          </a:stretch>
        </p:blipFill>
        <p:spPr>
          <a:xfrm>
            <a:off x="612648" y="1572768"/>
            <a:ext cx="4734830" cy="4480560"/>
          </a:xfrm>
          <a:prstGeom prst="rect">
            <a:avLst/>
          </a:prstGeom>
        </p:spPr>
      </p:pic>
      <p:sp>
        <p:nvSpPr>
          <p:cNvPr id="10" name="Rounded Rectangle 9"/>
          <p:cNvSpPr/>
          <p:nvPr/>
        </p:nvSpPr>
        <p:spPr>
          <a:xfrm>
            <a:off x="5576078" y="1572768"/>
            <a:ext cx="5972793" cy="448056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77246" y="1719072"/>
            <a:ext cx="5716761" cy="457200"/>
          </a:xfrm>
          <a:prstGeom prst="rect">
            <a:avLst/>
          </a:prstGeom>
          <a:noFill/>
        </p:spPr>
        <p:txBody>
          <a:bodyPr wrap="square" lIns="0" tIns="0" rIns="0" bIns="0" anchor="t">
            <a:spAutoFit/>
          </a:bodyPr>
          <a:lstStyle/>
          <a:p>
            <a:pPr algn="l">
              <a:lnSpc>
                <a:spcPct val="100000"/>
              </a:lnSpc>
              <a:spcBef>
                <a:spcPts val="0"/>
              </a:spcBef>
              <a:spcAft>
                <a:spcPts val="400"/>
              </a:spcAft>
            </a:pPr>
            <a:r>
              <a:rPr sz="1200" b="1">
                <a:solidFill>
                  <a:srgbClr val="FF8A3D"/>
                </a:solidFill>
                <a:latin typeface="Newsreader ExtraBold"/>
              </a:rPr>
              <a:t>Un RR ne réfléchit jamais entre clients iBGP.</a:t>
            </a:r>
          </a:p>
        </p:txBody>
      </p:sp>
      <p:sp>
        <p:nvSpPr>
          <p:cNvPr id="12" name="TextBox 11"/>
          <p:cNvSpPr txBox="1"/>
          <p:nvPr/>
        </p:nvSpPr>
        <p:spPr>
          <a:xfrm>
            <a:off x="5777246" y="2331720"/>
            <a:ext cx="5716761" cy="4572000"/>
          </a:xfrm>
          <a:prstGeom prst="rect">
            <a:avLst/>
          </a:prstGeom>
          <a:noFill/>
        </p:spPr>
        <p:txBody>
          <a:bodyPr wrap="square" lIns="0" tIns="0" rIns="0" bIns="0" anchor="t">
            <a:spAutoFit/>
          </a:bodyPr>
          <a:lstStyle/>
          <a:p>
            <a:pPr algn="l">
              <a:lnSpc>
                <a:spcPct val="112000"/>
              </a:lnSpc>
              <a:spcBef>
                <a:spcPts val="0"/>
              </a:spcBef>
              <a:spcAft>
                <a:spcPts val="600"/>
              </a:spcAft>
            </a:pPr>
            <a:r>
              <a:rPr sz="1150" b="1">
                <a:solidFill>
                  <a:srgbClr val="FF5A1F"/>
                </a:solidFill>
                <a:latin typeface="Newsreader ExtraBold"/>
              </a:rPr>
              <a:t>• </a:t>
            </a:r>
            <a:r>
              <a:rPr sz="1150" b="0">
                <a:solidFill>
                  <a:srgbClr val="CFC4AD"/>
                </a:solidFill>
                <a:latin typeface="Newsreader Medium"/>
              </a:rPr>
              <a:t>Liens /30 physiques sécurisés.</a:t>
            </a:r>
          </a:p>
          <a:p>
            <a:pPr algn="l">
              <a:lnSpc>
                <a:spcPct val="112000"/>
              </a:lnSpc>
              <a:spcBef>
                <a:spcPts val="0"/>
              </a:spcBef>
              <a:spcAft>
                <a:spcPts val="600"/>
              </a:spcAft>
            </a:pPr>
            <a:r>
              <a:rPr sz="1150" b="1">
                <a:solidFill>
                  <a:srgbClr val="FF5A1F"/>
                </a:solidFill>
                <a:latin typeface="Newsreader ExtraBold"/>
              </a:rPr>
              <a:t>• </a:t>
            </a:r>
            <a:r>
              <a:rPr sz="1150" b="0">
                <a:solidFill>
                  <a:srgbClr val="CFC4AD"/>
                </a:solidFill>
                <a:latin typeface="Newsreader Medium"/>
              </a:rPr>
              <a:t>S1 : 10.255.1.5 · L1 : 10.255.1.6 → iBGP sur les liens.</a:t>
            </a:r>
          </a:p>
          <a:p>
            <a:pPr algn="l">
              <a:lnSpc>
                <a:spcPct val="112000"/>
              </a:lnSpc>
              <a:spcBef>
                <a:spcPts val="0"/>
              </a:spcBef>
              <a:spcAft>
                <a:spcPts val="600"/>
              </a:spcAft>
            </a:pPr>
            <a:r>
              <a:rPr sz="1150" b="1">
                <a:solidFill>
                  <a:srgbClr val="FF5A1F"/>
                </a:solidFill>
                <a:latin typeface="Newsreader ExtraBold"/>
              </a:rPr>
              <a:t>• </a:t>
            </a:r>
            <a:r>
              <a:rPr sz="1150" b="0">
                <a:solidFill>
                  <a:srgbClr val="CFC4AD"/>
                </a:solidFill>
                <a:latin typeface="Newsreader Medium"/>
              </a:rPr>
              <a:t>Overlay réfléchi : S1→10.255.0.1, S2→10.255.0.2, Ln→10.0.0.n.</a:t>
            </a:r>
          </a:p>
          <a:p>
            <a:pPr algn="l">
              <a:lnSpc>
                <a:spcPct val="112000"/>
              </a:lnSpc>
              <a:spcBef>
                <a:spcPts val="0"/>
              </a:spcBef>
              <a:spcAft>
                <a:spcPts val="600"/>
              </a:spcAft>
            </a:pPr>
            <a:r>
              <a:rPr sz="1150" b="1">
                <a:solidFill>
                  <a:srgbClr val="FF5A1F"/>
                </a:solidFill>
                <a:latin typeface="Newsreader ExtraBold"/>
              </a:rPr>
              <a:t>• </a:t>
            </a:r>
            <a:r>
              <a:rPr sz="1150" b="0">
                <a:solidFill>
                  <a:srgbClr val="CFC4AD"/>
                </a:solidFill>
                <a:latin typeface="Newsreader Medium"/>
              </a:rPr>
              <a:t>Peering direct S1↔S2 (10.255.3.0/30) obligatoire pour que S2 apprenne les préfixes monitoring.</a:t>
            </a:r>
          </a:p>
          <a:p>
            <a:pPr algn="l">
              <a:lnSpc>
                <a:spcPct val="112000"/>
              </a:lnSpc>
              <a:spcBef>
                <a:spcPts val="0"/>
              </a:spcBef>
              <a:spcAft>
                <a:spcPts val="600"/>
              </a:spcAft>
            </a:pPr>
            <a:r>
              <a:rPr sz="1150" b="1">
                <a:solidFill>
                  <a:srgbClr val="FF5A1F"/>
                </a:solidFill>
                <a:latin typeface="Newsreader ExtraBold"/>
              </a:rPr>
              <a:t>• </a:t>
            </a:r>
            <a:r>
              <a:rPr sz="1150" b="0">
                <a:solidFill>
                  <a:srgbClr val="CFC4AD"/>
                </a:solidFill>
                <a:latin typeface="Newsreader Medium"/>
              </a:rPr>
              <a:t>ECMP : maximum-paths 2 ecmp 2.</a:t>
            </a:r>
          </a:p>
        </p:txBody>
      </p:sp>
      <p:sp>
        <p:nvSpPr>
          <p:cNvPr id="13" name="TextBox 12"/>
          <p:cNvSpPr txBox="1"/>
          <p:nvPr/>
        </p:nvSpPr>
        <p:spPr>
          <a:xfrm>
            <a:off x="640080" y="6446520"/>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a:solidFill>
                  <a:srgbClr val="94896F"/>
                </a:solidFill>
                <a:latin typeface="IBM Plex Mono"/>
              </a:rPr>
              <a:t>SAE4D01 DevCloud · Groupe 8 · URTADO P. / MALOT V.</a:t>
            </a:r>
          </a:p>
        </p:txBody>
      </p:sp>
      <p:sp>
        <p:nvSpPr>
          <p:cNvPr id="14" name="TextBox 13"/>
          <p:cNvSpPr txBox="1"/>
          <p:nvPr/>
        </p:nvSpPr>
        <p:spPr>
          <a:xfrm>
            <a:off x="10698480" y="6446520"/>
            <a:ext cx="91440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0">
                <a:solidFill>
                  <a:srgbClr val="94896F"/>
                </a:solidFill>
                <a:latin typeface="IBM Plex Mono"/>
              </a:rPr>
              <a:t>07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C0A07"/>
        </a:solidFill>
        <a:effectLst/>
      </p:bgPr>
    </p:bg>
    <p:spTree>
      <p:nvGrpSpPr>
        <p:cNvPr id="1" name=""/>
        <p:cNvGrpSpPr/>
        <p:nvPr/>
      </p:nvGrpSpPr>
      <p:grpSpPr>
        <a:xfrm>
          <a:off x="0" y="0"/>
          <a:ext cx="0" cy="0"/>
          <a:chOff x="0" y="0"/>
          <a:chExt cx="0" cy="0"/>
        </a:xfrm>
      </p:grpSpPr>
      <p:sp>
        <p:nvSpPr>
          <p:cNvPr id="2" name="Rectangle 1"/>
          <p:cNvSpPr/>
          <p:nvPr/>
        </p:nvSpPr>
        <p:spPr>
          <a:xfrm>
            <a:off x="640080" y="713232"/>
            <a:ext cx="502920"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10058400" cy="169277"/>
          </a:xfrm>
          <a:prstGeom prst="rect">
            <a:avLst/>
          </a:prstGeom>
          <a:noFill/>
        </p:spPr>
        <p:txBody>
          <a:bodyPr wrap="square" lIns="0" tIns="0" rIns="0" bIns="0" anchor="t">
            <a:spAutoFit/>
          </a:bodyPr>
          <a:lstStyle/>
          <a:p>
            <a:pPr algn="l">
              <a:lnSpc>
                <a:spcPct val="100000"/>
              </a:lnSpc>
              <a:spcBef>
                <a:spcPts val="0"/>
              </a:spcBef>
              <a:spcAft>
                <a:spcPts val="400"/>
              </a:spcAft>
            </a:pPr>
            <a:r>
              <a:rPr sz="1100" b="1" dirty="0">
                <a:solidFill>
                  <a:srgbClr val="FF5A1F"/>
                </a:solidFill>
                <a:latin typeface="IBM Plex Mono"/>
              </a:rPr>
              <a:t>0</a:t>
            </a:r>
            <a:r>
              <a:rPr lang="fr-FR" sz="1100" b="1" dirty="0">
                <a:solidFill>
                  <a:srgbClr val="FF5A1F"/>
                </a:solidFill>
                <a:latin typeface="IBM Plex Mono"/>
              </a:rPr>
              <a:t>7</a:t>
            </a:r>
            <a:r>
              <a:rPr sz="1100" b="1" dirty="0">
                <a:solidFill>
                  <a:srgbClr val="FF5A1F"/>
                </a:solidFill>
                <a:latin typeface="IBM Plex Mono"/>
              </a:rPr>
              <a:t> · EVPN / VXLAN</a:t>
            </a:r>
          </a:p>
        </p:txBody>
      </p:sp>
      <p:sp>
        <p:nvSpPr>
          <p:cNvPr id="4" name="TextBox 3"/>
          <p:cNvSpPr txBox="1"/>
          <p:nvPr/>
        </p:nvSpPr>
        <p:spPr>
          <a:xfrm>
            <a:off x="640080" y="777240"/>
            <a:ext cx="10789920" cy="822960"/>
          </a:xfrm>
          <a:prstGeom prst="rect">
            <a:avLst/>
          </a:prstGeom>
          <a:noFill/>
        </p:spPr>
        <p:txBody>
          <a:bodyPr wrap="square" lIns="0" tIns="0" rIns="0" bIns="0" anchor="t">
            <a:spAutoFit/>
          </a:bodyPr>
          <a:lstStyle/>
          <a:p>
            <a:pPr algn="l">
              <a:lnSpc>
                <a:spcPct val="100000"/>
              </a:lnSpc>
              <a:spcBef>
                <a:spcPts val="0"/>
              </a:spcBef>
              <a:spcAft>
                <a:spcPts val="400"/>
              </a:spcAft>
            </a:pPr>
            <a:r>
              <a:rPr sz="2800" b="1">
                <a:solidFill>
                  <a:srgbClr val="F4ECDD"/>
                </a:solidFill>
                <a:latin typeface="Syne"/>
              </a:rPr>
              <a:t>EVPN/VXLAN — VNI, anycast GW, IRB asymétrique</a:t>
            </a:r>
          </a:p>
        </p:txBody>
      </p:sp>
      <p:sp>
        <p:nvSpPr>
          <p:cNvPr id="5" name="Rectangle 4"/>
          <p:cNvSpPr/>
          <p:nvPr/>
        </p:nvSpPr>
        <p:spPr>
          <a:xfrm>
            <a:off x="640080" y="1417320"/>
            <a:ext cx="10908792" cy="12700"/>
          </a:xfrm>
          <a:prstGeom prst="rect">
            <a:avLst/>
          </a:prstGeom>
          <a:solidFill>
            <a:srgbClr val="3A3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646920" y="384048"/>
            <a:ext cx="1901952" cy="384048"/>
          </a:xfrm>
          <a:prstGeom prst="roundRect">
            <a:avLst/>
          </a:prstGeom>
          <a:solidFill>
            <a:srgbClr val="120F0A"/>
          </a:solidFill>
          <a:ln w="15875">
            <a:solidFill>
              <a:srgbClr val="FF5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46920" y="457200"/>
            <a:ext cx="1901952" cy="274320"/>
          </a:xfrm>
          <a:prstGeom prst="rect">
            <a:avLst/>
          </a:prstGeom>
          <a:noFill/>
        </p:spPr>
        <p:txBody>
          <a:bodyPr wrap="square" lIns="0" tIns="0" rIns="0" bIns="0" anchor="t">
            <a:spAutoFit/>
          </a:bodyPr>
          <a:lstStyle/>
          <a:p>
            <a:pPr algn="ctr">
              <a:lnSpc>
                <a:spcPct val="100000"/>
              </a:lnSpc>
              <a:spcBef>
                <a:spcPts val="0"/>
              </a:spcBef>
              <a:spcAft>
                <a:spcPts val="400"/>
              </a:spcAft>
            </a:pPr>
            <a:r>
              <a:rPr sz="1200" b="1">
                <a:solidFill>
                  <a:srgbClr val="FF5A1F"/>
                </a:solidFill>
                <a:latin typeface="IBM Plex Mono"/>
              </a:rPr>
              <a:t>○ VALENTIN</a:t>
            </a:r>
          </a:p>
        </p:txBody>
      </p:sp>
      <p:sp>
        <p:nvSpPr>
          <p:cNvPr id="8" name="TextBox 7"/>
          <p:cNvSpPr txBox="1"/>
          <p:nvPr/>
        </p:nvSpPr>
        <p:spPr>
          <a:xfrm>
            <a:off x="640080" y="1572768"/>
            <a:ext cx="10908792" cy="640080"/>
          </a:xfrm>
          <a:prstGeom prst="rect">
            <a:avLst/>
          </a:prstGeom>
          <a:noFill/>
        </p:spPr>
        <p:txBody>
          <a:bodyPr wrap="square" lIns="0" tIns="0" rIns="0" bIns="0" anchor="t">
            <a:spAutoFit/>
          </a:bodyPr>
          <a:lstStyle/>
          <a:p>
            <a:pPr algn="l">
              <a:lnSpc>
                <a:spcPct val="120000"/>
              </a:lnSpc>
              <a:spcBef>
                <a:spcPts val="0"/>
              </a:spcBef>
              <a:spcAft>
                <a:spcPts val="400"/>
              </a:spcAft>
            </a:pPr>
            <a:r>
              <a:rPr sz="1350" b="0">
                <a:solidFill>
                  <a:srgbClr val="CFC4AD"/>
                </a:solidFill>
                <a:latin typeface="Newsreader Medium"/>
              </a:rPr>
              <a:t>IRB (Integrated Routing and Bridging) : connexion L2 et L3 simultanément sur la leaf, sans remonter au spine. Résout le routage asymétrique.</a:t>
            </a:r>
          </a:p>
        </p:txBody>
      </p:sp>
      <p:sp>
        <p:nvSpPr>
          <p:cNvPr id="9" name="Rounded Rectangle 8"/>
          <p:cNvSpPr/>
          <p:nvPr/>
        </p:nvSpPr>
        <p:spPr>
          <a:xfrm>
            <a:off x="640080" y="2359152"/>
            <a:ext cx="4572000" cy="292608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2487168"/>
            <a:ext cx="4297680" cy="365760"/>
          </a:xfrm>
          <a:prstGeom prst="rect">
            <a:avLst/>
          </a:prstGeom>
          <a:noFill/>
        </p:spPr>
        <p:txBody>
          <a:bodyPr wrap="square" lIns="0" tIns="0" rIns="0" bIns="0" anchor="t">
            <a:spAutoFit/>
          </a:bodyPr>
          <a:lstStyle/>
          <a:p>
            <a:pPr algn="l">
              <a:lnSpc>
                <a:spcPct val="100000"/>
              </a:lnSpc>
              <a:spcBef>
                <a:spcPts val="0"/>
              </a:spcBef>
              <a:spcAft>
                <a:spcPts val="400"/>
              </a:spcAft>
            </a:pPr>
            <a:r>
              <a:rPr sz="1200" b="1">
                <a:solidFill>
                  <a:srgbClr val="FF5A1F"/>
                </a:solidFill>
                <a:latin typeface="IBM Plex Mono"/>
              </a:rPr>
              <a:t>VLANs · N° VLAN : VNI · Sous-réseau</a:t>
            </a:r>
          </a:p>
        </p:txBody>
      </p:sp>
      <p:sp>
        <p:nvSpPr>
          <p:cNvPr id="11" name="Rounded Rectangle 10"/>
          <p:cNvSpPr/>
          <p:nvPr/>
        </p:nvSpPr>
        <p:spPr>
          <a:xfrm>
            <a:off x="804672" y="2999232"/>
            <a:ext cx="4261104" cy="914400"/>
          </a:xfrm>
          <a:prstGeom prst="roundRect">
            <a:avLst/>
          </a:prstGeom>
          <a:solidFill>
            <a:srgbClr val="16120C"/>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9264" y="3090672"/>
            <a:ext cx="3931920" cy="411480"/>
          </a:xfrm>
          <a:prstGeom prst="rect">
            <a:avLst/>
          </a:prstGeom>
          <a:noFill/>
        </p:spPr>
        <p:txBody>
          <a:bodyPr wrap="square" lIns="0" tIns="0" rIns="0" bIns="0" anchor="t">
            <a:spAutoFit/>
          </a:bodyPr>
          <a:lstStyle/>
          <a:p>
            <a:pPr algn="l">
              <a:lnSpc>
                <a:spcPct val="100000"/>
              </a:lnSpc>
              <a:spcBef>
                <a:spcPts val="0"/>
              </a:spcBef>
              <a:spcAft>
                <a:spcPts val="400"/>
              </a:spcAft>
            </a:pPr>
            <a:r>
              <a:rPr sz="1400" b="1">
                <a:solidFill>
                  <a:srgbClr val="F4ECDD"/>
                </a:solidFill>
                <a:latin typeface="Syne"/>
              </a:rPr>
              <a:t>web</a:t>
            </a:r>
            <a:r>
              <a:rPr sz="1250" b="1">
                <a:solidFill>
                  <a:srgbClr val="FF5A1F"/>
                </a:solidFill>
                <a:latin typeface="IBM Plex Mono"/>
              </a:rPr>
              <a:t>  VLAN 560  →  VNI 560100</a:t>
            </a:r>
          </a:p>
        </p:txBody>
      </p:sp>
      <p:sp>
        <p:nvSpPr>
          <p:cNvPr id="13" name="TextBox 12"/>
          <p:cNvSpPr txBox="1"/>
          <p:nvPr/>
        </p:nvSpPr>
        <p:spPr>
          <a:xfrm>
            <a:off x="969264" y="3493008"/>
            <a:ext cx="3931920" cy="347472"/>
          </a:xfrm>
          <a:prstGeom prst="rect">
            <a:avLst/>
          </a:prstGeom>
          <a:noFill/>
        </p:spPr>
        <p:txBody>
          <a:bodyPr wrap="square" lIns="0" tIns="0" rIns="0" bIns="0" anchor="t">
            <a:spAutoFit/>
          </a:bodyPr>
          <a:lstStyle/>
          <a:p>
            <a:pPr algn="l">
              <a:lnSpc>
                <a:spcPct val="100000"/>
              </a:lnSpc>
              <a:spcBef>
                <a:spcPts val="0"/>
              </a:spcBef>
              <a:spcAft>
                <a:spcPts val="400"/>
              </a:spcAft>
            </a:pPr>
            <a:r>
              <a:rPr sz="1100" b="0">
                <a:solidFill>
                  <a:srgbClr val="94896F"/>
                </a:solidFill>
                <a:latin typeface="IBM Plex Mono"/>
              </a:rPr>
              <a:t>172.16.30.0/24  ·  Anycast GW 172.16.30.254</a:t>
            </a:r>
          </a:p>
        </p:txBody>
      </p:sp>
      <p:sp>
        <p:nvSpPr>
          <p:cNvPr id="14" name="Rounded Rectangle 13"/>
          <p:cNvSpPr/>
          <p:nvPr/>
        </p:nvSpPr>
        <p:spPr>
          <a:xfrm>
            <a:off x="804672" y="4078224"/>
            <a:ext cx="4261104" cy="914400"/>
          </a:xfrm>
          <a:prstGeom prst="roundRect">
            <a:avLst/>
          </a:prstGeom>
          <a:solidFill>
            <a:srgbClr val="16120C"/>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9264" y="4169664"/>
            <a:ext cx="3931920" cy="411480"/>
          </a:xfrm>
          <a:prstGeom prst="rect">
            <a:avLst/>
          </a:prstGeom>
          <a:noFill/>
        </p:spPr>
        <p:txBody>
          <a:bodyPr wrap="square" lIns="0" tIns="0" rIns="0" bIns="0" anchor="t">
            <a:spAutoFit/>
          </a:bodyPr>
          <a:lstStyle/>
          <a:p>
            <a:pPr algn="l">
              <a:lnSpc>
                <a:spcPct val="100000"/>
              </a:lnSpc>
              <a:spcBef>
                <a:spcPts val="0"/>
              </a:spcBef>
              <a:spcAft>
                <a:spcPts val="400"/>
              </a:spcAft>
            </a:pPr>
            <a:r>
              <a:rPr sz="1400" b="1">
                <a:solidFill>
                  <a:srgbClr val="F4ECDD"/>
                </a:solidFill>
                <a:latin typeface="Syne"/>
              </a:rPr>
              <a:t>machines</a:t>
            </a:r>
            <a:r>
              <a:rPr sz="1250" b="1">
                <a:solidFill>
                  <a:srgbClr val="FF5A1F"/>
                </a:solidFill>
                <a:latin typeface="IBM Plex Mono"/>
              </a:rPr>
              <a:t>  VLAN 570  →  VNI 570100</a:t>
            </a:r>
          </a:p>
        </p:txBody>
      </p:sp>
      <p:sp>
        <p:nvSpPr>
          <p:cNvPr id="16" name="TextBox 15"/>
          <p:cNvSpPr txBox="1"/>
          <p:nvPr/>
        </p:nvSpPr>
        <p:spPr>
          <a:xfrm>
            <a:off x="969264" y="4572000"/>
            <a:ext cx="3931920" cy="347472"/>
          </a:xfrm>
          <a:prstGeom prst="rect">
            <a:avLst/>
          </a:prstGeom>
          <a:noFill/>
        </p:spPr>
        <p:txBody>
          <a:bodyPr wrap="square" lIns="0" tIns="0" rIns="0" bIns="0" anchor="t">
            <a:spAutoFit/>
          </a:bodyPr>
          <a:lstStyle/>
          <a:p>
            <a:pPr algn="l">
              <a:lnSpc>
                <a:spcPct val="100000"/>
              </a:lnSpc>
              <a:spcBef>
                <a:spcPts val="0"/>
              </a:spcBef>
              <a:spcAft>
                <a:spcPts val="400"/>
              </a:spcAft>
            </a:pPr>
            <a:r>
              <a:rPr sz="1100" b="0">
                <a:solidFill>
                  <a:srgbClr val="94896F"/>
                </a:solidFill>
                <a:latin typeface="IBM Plex Mono"/>
              </a:rPr>
              <a:t>172.16.31.0/24  ·  Anycast GW 172.16.31.254</a:t>
            </a:r>
          </a:p>
        </p:txBody>
      </p:sp>
      <p:sp>
        <p:nvSpPr>
          <p:cNvPr id="17" name="Rounded Rectangle 16"/>
          <p:cNvSpPr/>
          <p:nvPr/>
        </p:nvSpPr>
        <p:spPr>
          <a:xfrm>
            <a:off x="5440680" y="2359152"/>
            <a:ext cx="6108192" cy="292608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23560" y="2487168"/>
            <a:ext cx="5806440" cy="365760"/>
          </a:xfrm>
          <a:prstGeom prst="rect">
            <a:avLst/>
          </a:prstGeom>
          <a:noFill/>
        </p:spPr>
        <p:txBody>
          <a:bodyPr wrap="square" lIns="0" tIns="0" rIns="0" bIns="0" anchor="t">
            <a:spAutoFit/>
          </a:bodyPr>
          <a:lstStyle/>
          <a:p>
            <a:pPr algn="l">
              <a:lnSpc>
                <a:spcPct val="100000"/>
              </a:lnSpc>
              <a:spcBef>
                <a:spcPts val="0"/>
              </a:spcBef>
              <a:spcAft>
                <a:spcPts val="400"/>
              </a:spcAft>
            </a:pPr>
            <a:r>
              <a:rPr sz="1200" b="1">
                <a:solidFill>
                  <a:srgbClr val="FF8A3D"/>
                </a:solidFill>
                <a:latin typeface="IBM Plex Mono"/>
              </a:rPr>
              <a:t>Anycast VARP + services</a:t>
            </a:r>
          </a:p>
        </p:txBody>
      </p:sp>
      <p:sp>
        <p:nvSpPr>
          <p:cNvPr id="19" name="TextBox 18"/>
          <p:cNvSpPr txBox="1"/>
          <p:nvPr/>
        </p:nvSpPr>
        <p:spPr>
          <a:xfrm>
            <a:off x="5623560" y="2944368"/>
            <a:ext cx="5806440" cy="4572000"/>
          </a:xfrm>
          <a:prstGeom prst="rect">
            <a:avLst/>
          </a:prstGeom>
          <a:noFill/>
        </p:spPr>
        <p:txBody>
          <a:bodyPr wrap="square" lIns="0" tIns="0" rIns="0" bIns="0" anchor="t">
            <a:spAutoFit/>
          </a:bodyPr>
          <a:lstStyle/>
          <a:p>
            <a:pPr algn="l">
              <a:lnSpc>
                <a:spcPct val="112000"/>
              </a:lnSpc>
              <a:spcBef>
                <a:spcPts val="0"/>
              </a:spcBef>
              <a:spcAft>
                <a:spcPts val="600"/>
              </a:spcAft>
            </a:pPr>
            <a:r>
              <a:rPr sz="1150" b="1">
                <a:solidFill>
                  <a:srgbClr val="FF5A1F"/>
                </a:solidFill>
                <a:latin typeface="Newsreader ExtraBold"/>
              </a:rPr>
              <a:t>• </a:t>
            </a:r>
            <a:r>
              <a:rPr sz="1150" b="0">
                <a:solidFill>
                  <a:srgbClr val="CFC4AD"/>
                </a:solidFill>
                <a:latin typeface="Newsreader Medium"/>
              </a:rPr>
              <a:t>MAC virtuelle partagée 00:1c:73:00:00:99 entre leaf1/leaf2.</a:t>
            </a:r>
          </a:p>
          <a:p>
            <a:pPr algn="l">
              <a:lnSpc>
                <a:spcPct val="112000"/>
              </a:lnSpc>
              <a:spcBef>
                <a:spcPts val="0"/>
              </a:spcBef>
              <a:spcAft>
                <a:spcPts val="600"/>
              </a:spcAft>
            </a:pPr>
            <a:r>
              <a:rPr sz="1150" b="1">
                <a:solidFill>
                  <a:srgbClr val="FF5A1F"/>
                </a:solidFill>
                <a:latin typeface="Newsreader ExtraBold"/>
              </a:rPr>
              <a:t>• </a:t>
            </a:r>
            <a:r>
              <a:rPr sz="1150" b="0">
                <a:solidFill>
                  <a:srgbClr val="CFC4AD"/>
                </a:solidFill>
                <a:latin typeface="Newsreader Medium"/>
              </a:rPr>
              <a:t>VM peut migrer de leaf → même gateway, zéro interruption.</a:t>
            </a:r>
          </a:p>
          <a:p>
            <a:pPr algn="l">
              <a:lnSpc>
                <a:spcPct val="112000"/>
              </a:lnSpc>
              <a:spcBef>
                <a:spcPts val="0"/>
              </a:spcBef>
              <a:spcAft>
                <a:spcPts val="600"/>
              </a:spcAft>
            </a:pPr>
            <a:r>
              <a:rPr sz="1150" b="1">
                <a:solidFill>
                  <a:srgbClr val="FF5A1F"/>
                </a:solidFill>
                <a:latin typeface="Newsreader ExtraBold"/>
              </a:rPr>
              <a:t>• </a:t>
            </a:r>
            <a:r>
              <a:rPr sz="1150" b="0">
                <a:solidFill>
                  <a:srgbClr val="CFC4AD"/>
                </a:solidFill>
                <a:latin typeface="Newsreader Medium"/>
              </a:rPr>
              <a:t>nginx1, nginx2 (172.16.30.1/.2) — VLAN 560 web.</a:t>
            </a:r>
          </a:p>
          <a:p>
            <a:pPr algn="l">
              <a:lnSpc>
                <a:spcPct val="112000"/>
              </a:lnSpc>
              <a:spcBef>
                <a:spcPts val="0"/>
              </a:spcBef>
              <a:spcAft>
                <a:spcPts val="600"/>
              </a:spcAft>
            </a:pPr>
            <a:r>
              <a:rPr sz="1150" b="1">
                <a:solidFill>
                  <a:srgbClr val="FF5A1F"/>
                </a:solidFill>
                <a:latin typeface="Newsreader ExtraBold"/>
              </a:rPr>
              <a:t>• </a:t>
            </a:r>
            <a:r>
              <a:rPr sz="1150" b="0">
                <a:solidFill>
                  <a:srgbClr val="CFC4AD"/>
                </a:solidFill>
                <a:latin typeface="Newsreader Medium"/>
              </a:rPr>
              <a:t>librespeed (172.16.30.3) — speedtest auto-hébergé.</a:t>
            </a:r>
          </a:p>
          <a:p>
            <a:pPr algn="l">
              <a:lnSpc>
                <a:spcPct val="112000"/>
              </a:lnSpc>
              <a:spcBef>
                <a:spcPts val="0"/>
              </a:spcBef>
              <a:spcAft>
                <a:spcPts val="600"/>
              </a:spcAft>
            </a:pPr>
            <a:r>
              <a:rPr sz="1150" b="1">
                <a:solidFill>
                  <a:srgbClr val="FF5A1F"/>
                </a:solidFill>
                <a:latin typeface="Newsreader ExtraBold"/>
              </a:rPr>
              <a:t>• </a:t>
            </a:r>
            <a:r>
              <a:rPr sz="1150" b="0">
                <a:solidFill>
                  <a:srgbClr val="CFC4AD"/>
                </a:solidFill>
                <a:latin typeface="Newsreader Medium"/>
              </a:rPr>
              <a:t>networkutils1 (172.16.31.1) — VLAN 570 machines.</a:t>
            </a:r>
          </a:p>
          <a:p>
            <a:pPr algn="l">
              <a:lnSpc>
                <a:spcPct val="112000"/>
              </a:lnSpc>
              <a:spcBef>
                <a:spcPts val="0"/>
              </a:spcBef>
              <a:spcAft>
                <a:spcPts val="600"/>
              </a:spcAft>
            </a:pPr>
            <a:r>
              <a:rPr sz="1150" b="1">
                <a:solidFill>
                  <a:srgbClr val="FF5A1F"/>
                </a:solidFill>
                <a:latin typeface="Newsreader ExtraBold"/>
              </a:rPr>
              <a:t>• </a:t>
            </a:r>
            <a:r>
              <a:rPr sz="1150" b="0">
                <a:solidFill>
                  <a:srgbClr val="CFC4AD"/>
                </a:solidFill>
                <a:latin typeface="Newsreader Medium"/>
              </a:rPr>
              <a:t>Docker images custom (Dockerfile) : évite apt-update en prod.</a:t>
            </a:r>
          </a:p>
        </p:txBody>
      </p:sp>
      <p:sp>
        <p:nvSpPr>
          <p:cNvPr id="20" name="TextBox 19"/>
          <p:cNvSpPr txBox="1"/>
          <p:nvPr/>
        </p:nvSpPr>
        <p:spPr>
          <a:xfrm>
            <a:off x="640080" y="6446520"/>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a:solidFill>
                  <a:srgbClr val="94896F"/>
                </a:solidFill>
                <a:latin typeface="IBM Plex Mono"/>
              </a:rPr>
              <a:t>SAE4D01 DevCloud · Groupe 8 · URTADO P. / MALOT V.</a:t>
            </a:r>
          </a:p>
        </p:txBody>
      </p:sp>
      <p:sp>
        <p:nvSpPr>
          <p:cNvPr id="21" name="TextBox 20"/>
          <p:cNvSpPr txBox="1"/>
          <p:nvPr/>
        </p:nvSpPr>
        <p:spPr>
          <a:xfrm>
            <a:off x="10698480" y="6446520"/>
            <a:ext cx="91440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0">
                <a:solidFill>
                  <a:srgbClr val="94896F"/>
                </a:solidFill>
                <a:latin typeface="IBM Plex Mono"/>
              </a:rPr>
              <a:t>08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C0A07"/>
        </a:solidFill>
        <a:effectLst/>
      </p:bgPr>
    </p:bg>
    <p:spTree>
      <p:nvGrpSpPr>
        <p:cNvPr id="1" name=""/>
        <p:cNvGrpSpPr/>
        <p:nvPr/>
      </p:nvGrpSpPr>
      <p:grpSpPr>
        <a:xfrm>
          <a:off x="0" y="0"/>
          <a:ext cx="0" cy="0"/>
          <a:chOff x="0" y="0"/>
          <a:chExt cx="0" cy="0"/>
        </a:xfrm>
      </p:grpSpPr>
      <p:sp>
        <p:nvSpPr>
          <p:cNvPr id="2" name="Rectangle 1"/>
          <p:cNvSpPr/>
          <p:nvPr/>
        </p:nvSpPr>
        <p:spPr>
          <a:xfrm>
            <a:off x="640080" y="713232"/>
            <a:ext cx="502920"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10058400" cy="169277"/>
          </a:xfrm>
          <a:prstGeom prst="rect">
            <a:avLst/>
          </a:prstGeom>
          <a:noFill/>
        </p:spPr>
        <p:txBody>
          <a:bodyPr wrap="square" lIns="0" tIns="0" rIns="0" bIns="0" anchor="t">
            <a:spAutoFit/>
          </a:bodyPr>
          <a:lstStyle/>
          <a:p>
            <a:pPr algn="l">
              <a:lnSpc>
                <a:spcPct val="100000"/>
              </a:lnSpc>
              <a:spcBef>
                <a:spcPts val="0"/>
              </a:spcBef>
              <a:spcAft>
                <a:spcPts val="400"/>
              </a:spcAft>
            </a:pPr>
            <a:r>
              <a:rPr sz="1100" b="1" dirty="0">
                <a:solidFill>
                  <a:srgbClr val="FF5A1F"/>
                </a:solidFill>
                <a:latin typeface="IBM Plex Mono"/>
              </a:rPr>
              <a:t>0</a:t>
            </a:r>
            <a:r>
              <a:rPr lang="fr-FR" sz="1100" b="1" dirty="0">
                <a:solidFill>
                  <a:srgbClr val="FF5A1F"/>
                </a:solidFill>
                <a:latin typeface="IBM Plex Mono"/>
              </a:rPr>
              <a:t>8</a:t>
            </a:r>
            <a:r>
              <a:rPr sz="1100" b="1" dirty="0">
                <a:solidFill>
                  <a:srgbClr val="FF5A1F"/>
                </a:solidFill>
                <a:latin typeface="IBM Plex Mono"/>
              </a:rPr>
              <a:t> · OBSERVABILITÉ</a:t>
            </a:r>
          </a:p>
        </p:txBody>
      </p:sp>
      <p:sp>
        <p:nvSpPr>
          <p:cNvPr id="4" name="TextBox 3"/>
          <p:cNvSpPr txBox="1"/>
          <p:nvPr/>
        </p:nvSpPr>
        <p:spPr>
          <a:xfrm>
            <a:off x="640080" y="777240"/>
            <a:ext cx="10789920" cy="822960"/>
          </a:xfrm>
          <a:prstGeom prst="rect">
            <a:avLst/>
          </a:prstGeom>
          <a:noFill/>
        </p:spPr>
        <p:txBody>
          <a:bodyPr wrap="square" lIns="0" tIns="0" rIns="0" bIns="0" anchor="t">
            <a:spAutoFit/>
          </a:bodyPr>
          <a:lstStyle/>
          <a:p>
            <a:pPr algn="l">
              <a:lnSpc>
                <a:spcPct val="100000"/>
              </a:lnSpc>
              <a:spcBef>
                <a:spcPts val="0"/>
              </a:spcBef>
              <a:spcAft>
                <a:spcPts val="400"/>
              </a:spcAft>
            </a:pPr>
            <a:r>
              <a:rPr sz="2800" b="1">
                <a:solidFill>
                  <a:srgbClr val="F4ECDD"/>
                </a:solidFill>
                <a:latin typeface="Syne"/>
              </a:rPr>
              <a:t>Supervision : sFlow, Prometheus &amp; Grafana</a:t>
            </a:r>
          </a:p>
        </p:txBody>
      </p:sp>
      <p:sp>
        <p:nvSpPr>
          <p:cNvPr id="5" name="Rectangle 4"/>
          <p:cNvSpPr/>
          <p:nvPr/>
        </p:nvSpPr>
        <p:spPr>
          <a:xfrm>
            <a:off x="640080" y="1417320"/>
            <a:ext cx="10908792" cy="12700"/>
          </a:xfrm>
          <a:prstGeom prst="rect">
            <a:avLst/>
          </a:prstGeom>
          <a:solidFill>
            <a:srgbClr val="3A3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646920" y="384048"/>
            <a:ext cx="1901952" cy="384048"/>
          </a:xfrm>
          <a:prstGeom prst="roundRect">
            <a:avLst/>
          </a:prstGeom>
          <a:solidFill>
            <a:srgbClr val="120F0A"/>
          </a:solidFill>
          <a:ln w="15875">
            <a:solidFill>
              <a:srgbClr val="FF5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46920" y="457200"/>
            <a:ext cx="1901952" cy="274320"/>
          </a:xfrm>
          <a:prstGeom prst="rect">
            <a:avLst/>
          </a:prstGeom>
          <a:noFill/>
        </p:spPr>
        <p:txBody>
          <a:bodyPr wrap="square" lIns="0" tIns="0" rIns="0" bIns="0" anchor="t">
            <a:spAutoFit/>
          </a:bodyPr>
          <a:lstStyle/>
          <a:p>
            <a:pPr algn="ctr">
              <a:lnSpc>
                <a:spcPct val="100000"/>
              </a:lnSpc>
              <a:spcBef>
                <a:spcPts val="0"/>
              </a:spcBef>
              <a:spcAft>
                <a:spcPts val="400"/>
              </a:spcAft>
            </a:pPr>
            <a:r>
              <a:rPr sz="1200" b="1">
                <a:solidFill>
                  <a:srgbClr val="FF5A1F"/>
                </a:solidFill>
                <a:latin typeface="IBM Plex Mono"/>
              </a:rPr>
              <a:t>○ VALENTIN</a:t>
            </a:r>
          </a:p>
        </p:txBody>
      </p:sp>
      <p:sp>
        <p:nvSpPr>
          <p:cNvPr id="8" name="Rounded Rectangle 7"/>
          <p:cNvSpPr/>
          <p:nvPr/>
        </p:nvSpPr>
        <p:spPr>
          <a:xfrm>
            <a:off x="640080" y="1572768"/>
            <a:ext cx="5349240" cy="438912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719072"/>
            <a:ext cx="5029200" cy="365760"/>
          </a:xfrm>
          <a:prstGeom prst="rect">
            <a:avLst/>
          </a:prstGeom>
          <a:noFill/>
        </p:spPr>
        <p:txBody>
          <a:bodyPr wrap="square" lIns="0" tIns="0" rIns="0" bIns="0" anchor="t">
            <a:spAutoFit/>
          </a:bodyPr>
          <a:lstStyle/>
          <a:p>
            <a:pPr algn="l">
              <a:lnSpc>
                <a:spcPct val="100000"/>
              </a:lnSpc>
              <a:spcBef>
                <a:spcPts val="0"/>
              </a:spcBef>
              <a:spcAft>
                <a:spcPts val="400"/>
              </a:spcAft>
            </a:pPr>
            <a:r>
              <a:rPr sz="1300" b="1">
                <a:solidFill>
                  <a:srgbClr val="FF5A1F"/>
                </a:solidFill>
                <a:latin typeface="IBM Plex Mono"/>
              </a:rPr>
              <a:t>sFlow (RFC 3176)</a:t>
            </a:r>
          </a:p>
        </p:txBody>
      </p:sp>
      <p:sp>
        <p:nvSpPr>
          <p:cNvPr id="10" name="TextBox 9"/>
          <p:cNvSpPr txBox="1"/>
          <p:nvPr/>
        </p:nvSpPr>
        <p:spPr>
          <a:xfrm>
            <a:off x="822960" y="2176272"/>
            <a:ext cx="5029200" cy="4572000"/>
          </a:xfrm>
          <a:prstGeom prst="rect">
            <a:avLst/>
          </a:prstGeom>
          <a:noFill/>
        </p:spPr>
        <p:txBody>
          <a:bodyPr wrap="square" lIns="0" tIns="0" rIns="0" bIns="0" anchor="t">
            <a:spAutoFit/>
          </a:bodyPr>
          <a:lstStyle/>
          <a:p>
            <a:pPr algn="l">
              <a:lnSpc>
                <a:spcPct val="112000"/>
              </a:lnSpc>
              <a:spcBef>
                <a:spcPts val="0"/>
              </a:spcBef>
              <a:spcAft>
                <a:spcPts val="600"/>
              </a:spcAft>
            </a:pPr>
            <a:r>
              <a:rPr sz="1200" b="1">
                <a:solidFill>
                  <a:srgbClr val="FF5A1F"/>
                </a:solidFill>
                <a:latin typeface="Newsreader ExtraBold"/>
              </a:rPr>
              <a:t>• </a:t>
            </a:r>
            <a:r>
              <a:rPr sz="1200" b="0">
                <a:solidFill>
                  <a:srgbClr val="CFC4AD"/>
                </a:solidFill>
                <a:latin typeface="Newsreader Medium"/>
              </a:rPr>
              <a:t>Échantillonnage 1/N → overhead constant.</a:t>
            </a:r>
          </a:p>
          <a:p>
            <a:pPr algn="l">
              <a:lnSpc>
                <a:spcPct val="112000"/>
              </a:lnSpc>
              <a:spcBef>
                <a:spcPts val="0"/>
              </a:spcBef>
              <a:spcAft>
                <a:spcPts val="600"/>
              </a:spcAft>
            </a:pPr>
            <a:r>
              <a:rPr sz="1200" b="1">
                <a:solidFill>
                  <a:srgbClr val="FF5A1F"/>
                </a:solidFill>
                <a:latin typeface="Newsreader ExtraBold"/>
              </a:rPr>
              <a:t>• </a:t>
            </a:r>
            <a:r>
              <a:rPr sz="1200" b="0">
                <a:solidFill>
                  <a:srgbClr val="CFC4AD"/>
                </a:solidFill>
                <a:latin typeface="Newsreader Medium"/>
              </a:rPr>
              <a:t>FLOW samples (PCAP) + COUNTER samples (débit interfaces).</a:t>
            </a:r>
          </a:p>
          <a:p>
            <a:pPr algn="l">
              <a:lnSpc>
                <a:spcPct val="112000"/>
              </a:lnSpc>
              <a:spcBef>
                <a:spcPts val="0"/>
              </a:spcBef>
              <a:spcAft>
                <a:spcPts val="600"/>
              </a:spcAft>
            </a:pPr>
            <a:r>
              <a:rPr sz="1200" b="1">
                <a:solidFill>
                  <a:srgbClr val="FF5A1F"/>
                </a:solidFill>
                <a:latin typeface="Newsreader ExtraBold"/>
              </a:rPr>
              <a:t>• </a:t>
            </a:r>
            <a:r>
              <a:rPr sz="1200" b="0">
                <a:solidFill>
                  <a:srgbClr val="CFC4AD"/>
                </a:solidFill>
                <a:latin typeface="Newsreader Medium"/>
              </a:rPr>
              <a:t>Source forcée : sflow source-interface Loopback0.</a:t>
            </a:r>
          </a:p>
          <a:p>
            <a:pPr algn="l">
              <a:lnSpc>
                <a:spcPct val="112000"/>
              </a:lnSpc>
              <a:spcBef>
                <a:spcPts val="0"/>
              </a:spcBef>
              <a:spcAft>
                <a:spcPts val="600"/>
              </a:spcAft>
            </a:pPr>
            <a:r>
              <a:rPr sz="1200" b="1">
                <a:solidFill>
                  <a:srgbClr val="FF5A1F"/>
                </a:solidFill>
                <a:latin typeface="Newsreader ExtraBold"/>
              </a:rPr>
              <a:t>• </a:t>
            </a:r>
            <a:r>
              <a:rPr sz="1200" b="0">
                <a:solidFill>
                  <a:srgbClr val="CFC4AD"/>
                </a:solidFill>
                <a:latin typeface="Newsreader Medium"/>
              </a:rPr>
              <a:t>Destination : sFlow-RT sur 10.255.9.2:6343.</a:t>
            </a:r>
          </a:p>
          <a:p>
            <a:pPr algn="l">
              <a:lnSpc>
                <a:spcPct val="112000"/>
              </a:lnSpc>
              <a:spcBef>
                <a:spcPts val="0"/>
              </a:spcBef>
              <a:spcAft>
                <a:spcPts val="600"/>
              </a:spcAft>
            </a:pPr>
            <a:r>
              <a:rPr sz="1200" b="1">
                <a:solidFill>
                  <a:srgbClr val="FF5A1F"/>
                </a:solidFill>
                <a:latin typeface="Newsreader ExtraBold"/>
              </a:rPr>
              <a:t>• </a:t>
            </a:r>
            <a:r>
              <a:rPr sz="1200" b="0">
                <a:solidFill>
                  <a:srgbClr val="CFC4AD"/>
                </a:solidFill>
                <a:latin typeface="Newsreader Medium"/>
              </a:rPr>
              <a:t>Même config sur chaque routeur (spines + leafs).</a:t>
            </a:r>
          </a:p>
          <a:p>
            <a:pPr algn="l">
              <a:lnSpc>
                <a:spcPct val="112000"/>
              </a:lnSpc>
              <a:spcBef>
                <a:spcPts val="0"/>
              </a:spcBef>
              <a:spcAft>
                <a:spcPts val="600"/>
              </a:spcAft>
            </a:pPr>
            <a:r>
              <a:rPr sz="1200" b="1">
                <a:solidFill>
                  <a:srgbClr val="FF5A1F"/>
                </a:solidFill>
                <a:latin typeface="Newsreader ExtraBold"/>
              </a:rPr>
              <a:t>• </a:t>
            </a:r>
            <a:r>
              <a:rPr sz="1200" b="0">
                <a:solidFill>
                  <a:srgbClr val="CFC4AD"/>
                </a:solidFill>
                <a:latin typeface="Newsreader Medium"/>
              </a:rPr>
              <a:t>6 agents sFlow vus dans sFlow-RT (tous équipements).</a:t>
            </a:r>
          </a:p>
        </p:txBody>
      </p:sp>
      <p:sp>
        <p:nvSpPr>
          <p:cNvPr id="11" name="Rounded Rectangle 10"/>
          <p:cNvSpPr/>
          <p:nvPr/>
        </p:nvSpPr>
        <p:spPr>
          <a:xfrm>
            <a:off x="6172200" y="1572768"/>
            <a:ext cx="5349240" cy="438912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55080" y="1719072"/>
            <a:ext cx="5029200" cy="365760"/>
          </a:xfrm>
          <a:prstGeom prst="rect">
            <a:avLst/>
          </a:prstGeom>
          <a:noFill/>
        </p:spPr>
        <p:txBody>
          <a:bodyPr wrap="square" lIns="0" tIns="0" rIns="0" bIns="0" anchor="t">
            <a:spAutoFit/>
          </a:bodyPr>
          <a:lstStyle/>
          <a:p>
            <a:pPr algn="l">
              <a:lnSpc>
                <a:spcPct val="100000"/>
              </a:lnSpc>
              <a:spcBef>
                <a:spcPts val="0"/>
              </a:spcBef>
              <a:spcAft>
                <a:spcPts val="400"/>
              </a:spcAft>
            </a:pPr>
            <a:r>
              <a:rPr sz="1300" b="1">
                <a:solidFill>
                  <a:srgbClr val="FF8A3D"/>
                </a:solidFill>
                <a:latin typeface="IBM Plex Mono"/>
              </a:rPr>
              <a:t>Prometheus + Grafana</a:t>
            </a:r>
          </a:p>
        </p:txBody>
      </p:sp>
      <p:sp>
        <p:nvSpPr>
          <p:cNvPr id="13" name="TextBox 12"/>
          <p:cNvSpPr txBox="1"/>
          <p:nvPr/>
        </p:nvSpPr>
        <p:spPr>
          <a:xfrm>
            <a:off x="6355080" y="2176272"/>
            <a:ext cx="5029200" cy="4572000"/>
          </a:xfrm>
          <a:prstGeom prst="rect">
            <a:avLst/>
          </a:prstGeom>
          <a:noFill/>
        </p:spPr>
        <p:txBody>
          <a:bodyPr wrap="square" lIns="0" tIns="0" rIns="0" bIns="0" anchor="t">
            <a:spAutoFit/>
          </a:bodyPr>
          <a:lstStyle/>
          <a:p>
            <a:pPr algn="l">
              <a:lnSpc>
                <a:spcPct val="112000"/>
              </a:lnSpc>
              <a:spcBef>
                <a:spcPts val="0"/>
              </a:spcBef>
              <a:spcAft>
                <a:spcPts val="600"/>
              </a:spcAft>
            </a:pPr>
            <a:r>
              <a:rPr sz="1200" b="1">
                <a:solidFill>
                  <a:srgbClr val="FF5A1F"/>
                </a:solidFill>
                <a:latin typeface="Newsreader ExtraBold"/>
              </a:rPr>
              <a:t>• </a:t>
            </a:r>
            <a:r>
              <a:rPr sz="1200" b="0">
                <a:solidFill>
                  <a:srgbClr val="CFC4AD"/>
                </a:solidFill>
                <a:latin typeface="Newsreader Medium"/>
              </a:rPr>
              <a:t>sFlow-RT expose API REST /prometheus/metrics.</a:t>
            </a:r>
          </a:p>
          <a:p>
            <a:pPr algn="l">
              <a:lnSpc>
                <a:spcPct val="112000"/>
              </a:lnSpc>
              <a:spcBef>
                <a:spcPts val="0"/>
              </a:spcBef>
              <a:spcAft>
                <a:spcPts val="600"/>
              </a:spcAft>
            </a:pPr>
            <a:r>
              <a:rPr sz="1200" b="1">
                <a:solidFill>
                  <a:srgbClr val="FF5A1F"/>
                </a:solidFill>
                <a:latin typeface="Newsreader ExtraBold"/>
              </a:rPr>
              <a:t>• </a:t>
            </a:r>
            <a:r>
              <a:rPr sz="1200" b="0">
                <a:solidFill>
                  <a:srgbClr val="CFC4AD"/>
                </a:solidFill>
                <a:latin typeface="Newsreader Medium"/>
              </a:rPr>
              <a:t>Prometheus scrape 10.255.9.2:8008 (analyzer + metrics).</a:t>
            </a:r>
          </a:p>
          <a:p>
            <a:pPr algn="l">
              <a:lnSpc>
                <a:spcPct val="112000"/>
              </a:lnSpc>
              <a:spcBef>
                <a:spcPts val="0"/>
              </a:spcBef>
              <a:spcAft>
                <a:spcPts val="600"/>
              </a:spcAft>
            </a:pPr>
            <a:r>
              <a:rPr sz="1200" b="1">
                <a:solidFill>
                  <a:srgbClr val="FF5A1F"/>
                </a:solidFill>
                <a:latin typeface="Newsreader ExtraBold"/>
              </a:rPr>
              <a:t>• </a:t>
            </a:r>
            <a:r>
              <a:rPr sz="1200" b="0">
                <a:solidFill>
                  <a:srgbClr val="CFC4AD"/>
                </a:solidFill>
                <a:latin typeface="Newsreader Medium"/>
              </a:rPr>
              <a:t>Dashboard Grafana : trafic entrant/sortant par interface, utilisation lien (%).</a:t>
            </a:r>
          </a:p>
          <a:p>
            <a:pPr algn="l">
              <a:lnSpc>
                <a:spcPct val="112000"/>
              </a:lnSpc>
              <a:spcBef>
                <a:spcPts val="0"/>
              </a:spcBef>
              <a:spcAft>
                <a:spcPts val="600"/>
              </a:spcAft>
            </a:pPr>
            <a:r>
              <a:rPr sz="1200" b="1">
                <a:solidFill>
                  <a:srgbClr val="FF5A1F"/>
                </a:solidFill>
                <a:latin typeface="Newsreader ExtraBold"/>
              </a:rPr>
              <a:t>• </a:t>
            </a:r>
            <a:r>
              <a:rPr sz="1200" b="0">
                <a:solidFill>
                  <a:srgbClr val="CFC4AD"/>
                </a:solidFill>
                <a:latin typeface="Newsreader Medium"/>
              </a:rPr>
              <a:t>Liens P2P dédiés spine1 : monitoring hors fabric (évite la boucle d'échantillonnage).</a:t>
            </a:r>
          </a:p>
          <a:p>
            <a:pPr algn="l">
              <a:lnSpc>
                <a:spcPct val="112000"/>
              </a:lnSpc>
              <a:spcBef>
                <a:spcPts val="0"/>
              </a:spcBef>
              <a:spcAft>
                <a:spcPts val="600"/>
              </a:spcAft>
            </a:pPr>
            <a:r>
              <a:rPr sz="1200" b="1">
                <a:solidFill>
                  <a:srgbClr val="FF5A1F"/>
                </a:solidFill>
                <a:latin typeface="Newsreader ExtraBold"/>
              </a:rPr>
              <a:t>• </a:t>
            </a:r>
            <a:r>
              <a:rPr sz="1200" b="0">
                <a:solidFill>
                  <a:srgbClr val="CFC4AD"/>
                </a:solidFill>
                <a:latin typeface="Newsreader Medium"/>
              </a:rPr>
              <a:t>Images Docker custom pré-configurées (évite les problèmes de permissions conteneur).</a:t>
            </a:r>
          </a:p>
        </p:txBody>
      </p:sp>
      <p:sp>
        <p:nvSpPr>
          <p:cNvPr id="14" name="TextBox 13"/>
          <p:cNvSpPr txBox="1"/>
          <p:nvPr/>
        </p:nvSpPr>
        <p:spPr>
          <a:xfrm>
            <a:off x="640080" y="6108192"/>
            <a:ext cx="10908792" cy="502920"/>
          </a:xfrm>
          <a:prstGeom prst="rect">
            <a:avLst/>
          </a:prstGeom>
          <a:noFill/>
        </p:spPr>
        <p:txBody>
          <a:bodyPr wrap="square" lIns="0" tIns="0" rIns="0" bIns="0" anchor="t">
            <a:spAutoFit/>
          </a:bodyPr>
          <a:lstStyle/>
          <a:p>
            <a:pPr algn="l">
              <a:lnSpc>
                <a:spcPct val="110000"/>
              </a:lnSpc>
              <a:spcBef>
                <a:spcPts val="0"/>
              </a:spcBef>
              <a:spcAft>
                <a:spcPts val="400"/>
              </a:spcAft>
            </a:pPr>
            <a:r>
              <a:rPr sz="1300" b="1">
                <a:solidFill>
                  <a:srgbClr val="FF5A1F"/>
                </a:solidFill>
                <a:latin typeface="Newsreader ExtraBold"/>
              </a:rPr>
              <a:t>Chaîne : </a:t>
            </a:r>
            <a:r>
              <a:rPr sz="1300" b="0">
                <a:solidFill>
                  <a:srgbClr val="CFC4AD"/>
                </a:solidFill>
                <a:latin typeface="Newsreader Medium"/>
              </a:rPr>
              <a:t>agents sFlow (cEOS/FRR/C8000v/MikroTik) → sFlow-RT → Prometheus → Grafana</a:t>
            </a:r>
          </a:p>
        </p:txBody>
      </p:sp>
      <p:sp>
        <p:nvSpPr>
          <p:cNvPr id="15" name="TextBox 14"/>
          <p:cNvSpPr txBox="1"/>
          <p:nvPr/>
        </p:nvSpPr>
        <p:spPr>
          <a:xfrm>
            <a:off x="640080" y="6446520"/>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a:solidFill>
                  <a:srgbClr val="94896F"/>
                </a:solidFill>
                <a:latin typeface="IBM Plex Mono"/>
              </a:rPr>
              <a:t>SAE4D01 DevCloud · Groupe 8 · URTADO P. / MALOT V.</a:t>
            </a:r>
          </a:p>
        </p:txBody>
      </p:sp>
      <p:sp>
        <p:nvSpPr>
          <p:cNvPr id="16" name="TextBox 15"/>
          <p:cNvSpPr txBox="1"/>
          <p:nvPr/>
        </p:nvSpPr>
        <p:spPr>
          <a:xfrm>
            <a:off x="10698480" y="6446520"/>
            <a:ext cx="91440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0">
                <a:solidFill>
                  <a:srgbClr val="94896F"/>
                </a:solidFill>
                <a:latin typeface="IBM Plex Mono"/>
              </a:rPr>
              <a:t>09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C0A07"/>
        </a:solidFill>
        <a:effectLst/>
      </p:bgPr>
    </p:bg>
    <p:spTree>
      <p:nvGrpSpPr>
        <p:cNvPr id="1" name=""/>
        <p:cNvGrpSpPr/>
        <p:nvPr/>
      </p:nvGrpSpPr>
      <p:grpSpPr>
        <a:xfrm>
          <a:off x="0" y="0"/>
          <a:ext cx="0" cy="0"/>
          <a:chOff x="0" y="0"/>
          <a:chExt cx="0" cy="0"/>
        </a:xfrm>
      </p:grpSpPr>
      <p:sp>
        <p:nvSpPr>
          <p:cNvPr id="2" name="Rectangle 1"/>
          <p:cNvSpPr/>
          <p:nvPr/>
        </p:nvSpPr>
        <p:spPr>
          <a:xfrm>
            <a:off x="640080" y="713232"/>
            <a:ext cx="502920"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10058400" cy="169277"/>
          </a:xfrm>
          <a:prstGeom prst="rect">
            <a:avLst/>
          </a:prstGeom>
          <a:noFill/>
        </p:spPr>
        <p:txBody>
          <a:bodyPr wrap="square" lIns="0" tIns="0" rIns="0" bIns="0" anchor="t">
            <a:spAutoFit/>
          </a:bodyPr>
          <a:lstStyle/>
          <a:p>
            <a:pPr algn="l">
              <a:lnSpc>
                <a:spcPct val="100000"/>
              </a:lnSpc>
              <a:spcBef>
                <a:spcPts val="0"/>
              </a:spcBef>
              <a:spcAft>
                <a:spcPts val="400"/>
              </a:spcAft>
            </a:pPr>
            <a:r>
              <a:rPr lang="fr-FR" sz="1100" b="1" dirty="0">
                <a:solidFill>
                  <a:srgbClr val="FF5A1F"/>
                </a:solidFill>
                <a:latin typeface="IBM Plex Mono"/>
              </a:rPr>
              <a:t>9</a:t>
            </a:r>
            <a:r>
              <a:rPr sz="1100" b="1" dirty="0">
                <a:solidFill>
                  <a:srgbClr val="FF5A1F"/>
                </a:solidFill>
                <a:latin typeface="IBM Plex Mono"/>
              </a:rPr>
              <a:t> · MATÉRIEL</a:t>
            </a:r>
          </a:p>
        </p:txBody>
      </p:sp>
      <p:sp>
        <p:nvSpPr>
          <p:cNvPr id="4" name="TextBox 3"/>
          <p:cNvSpPr txBox="1"/>
          <p:nvPr/>
        </p:nvSpPr>
        <p:spPr>
          <a:xfrm>
            <a:off x="640080" y="777240"/>
            <a:ext cx="10789920" cy="822960"/>
          </a:xfrm>
          <a:prstGeom prst="rect">
            <a:avLst/>
          </a:prstGeom>
          <a:noFill/>
        </p:spPr>
        <p:txBody>
          <a:bodyPr wrap="square" lIns="0" tIns="0" rIns="0" bIns="0" anchor="t">
            <a:spAutoFit/>
          </a:bodyPr>
          <a:lstStyle/>
          <a:p>
            <a:pPr algn="l">
              <a:lnSpc>
                <a:spcPct val="100000"/>
              </a:lnSpc>
              <a:spcBef>
                <a:spcPts val="0"/>
              </a:spcBef>
              <a:spcAft>
                <a:spcPts val="400"/>
              </a:spcAft>
            </a:pPr>
            <a:r>
              <a:rPr sz="2800" b="1">
                <a:solidFill>
                  <a:srgbClr val="F4ECDD"/>
                </a:solidFill>
                <a:latin typeface="Syne"/>
              </a:rPr>
              <a:t>Équipements physiques (séance 10/06)</a:t>
            </a:r>
          </a:p>
        </p:txBody>
      </p:sp>
      <p:sp>
        <p:nvSpPr>
          <p:cNvPr id="5" name="Rectangle 4"/>
          <p:cNvSpPr/>
          <p:nvPr/>
        </p:nvSpPr>
        <p:spPr>
          <a:xfrm>
            <a:off x="640080" y="1417320"/>
            <a:ext cx="10908792" cy="12700"/>
          </a:xfrm>
          <a:prstGeom prst="rect">
            <a:avLst/>
          </a:prstGeom>
          <a:solidFill>
            <a:srgbClr val="3A3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646920" y="384048"/>
            <a:ext cx="1901952" cy="384048"/>
          </a:xfrm>
          <a:prstGeom prst="round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46920" y="457200"/>
            <a:ext cx="1901952" cy="274320"/>
          </a:xfrm>
          <a:prstGeom prst="rect">
            <a:avLst/>
          </a:prstGeom>
          <a:noFill/>
        </p:spPr>
        <p:txBody>
          <a:bodyPr wrap="square" lIns="0" tIns="0" rIns="0" bIns="0" anchor="t">
            <a:spAutoFit/>
          </a:bodyPr>
          <a:lstStyle/>
          <a:p>
            <a:pPr algn="ctr">
              <a:lnSpc>
                <a:spcPct val="100000"/>
              </a:lnSpc>
              <a:spcBef>
                <a:spcPts val="0"/>
              </a:spcBef>
              <a:spcAft>
                <a:spcPts val="400"/>
              </a:spcAft>
            </a:pPr>
            <a:r>
              <a:rPr sz="1200" b="1">
                <a:solidFill>
                  <a:srgbClr val="0C0A07"/>
                </a:solidFill>
                <a:latin typeface="IBM Plex Mono"/>
              </a:rPr>
              <a:t>● PIERRE</a:t>
            </a:r>
          </a:p>
        </p:txBody>
      </p:sp>
      <p:sp>
        <p:nvSpPr>
          <p:cNvPr id="8" name="Rectangle 7"/>
          <p:cNvSpPr/>
          <p:nvPr/>
        </p:nvSpPr>
        <p:spPr>
          <a:xfrm>
            <a:off x="3982212" y="1572768"/>
            <a:ext cx="4224528" cy="2456751"/>
          </a:xfrm>
          <a:prstGeom prst="rect">
            <a:avLst/>
          </a:prstGeom>
          <a:solidFill>
            <a:srgbClr val="16120C"/>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phys-topo.png"/>
          <p:cNvPicPr>
            <a:picLocks noChangeAspect="1"/>
          </p:cNvPicPr>
          <p:nvPr/>
        </p:nvPicPr>
        <p:blipFill>
          <a:blip r:embed="rId3"/>
          <a:stretch>
            <a:fillRect/>
          </a:stretch>
        </p:blipFill>
        <p:spPr>
          <a:xfrm>
            <a:off x="4037076" y="1627632"/>
            <a:ext cx="4114800" cy="2347023"/>
          </a:xfrm>
          <a:prstGeom prst="rect">
            <a:avLst/>
          </a:prstGeom>
        </p:spPr>
      </p:pic>
      <p:sp>
        <p:nvSpPr>
          <p:cNvPr id="10" name="Rounded Rectangle 9"/>
          <p:cNvSpPr/>
          <p:nvPr/>
        </p:nvSpPr>
        <p:spPr>
          <a:xfrm>
            <a:off x="640080" y="4343400"/>
            <a:ext cx="3566160" cy="214884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4343400"/>
            <a:ext cx="3566160"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4507992"/>
            <a:ext cx="3200400" cy="685800"/>
          </a:xfrm>
          <a:prstGeom prst="rect">
            <a:avLst/>
          </a:prstGeom>
          <a:noFill/>
        </p:spPr>
        <p:txBody>
          <a:bodyPr wrap="square" lIns="0" tIns="0" rIns="0" bIns="0" anchor="t">
            <a:spAutoFit/>
          </a:bodyPr>
          <a:lstStyle/>
          <a:p>
            <a:pPr algn="l">
              <a:lnSpc>
                <a:spcPct val="110000"/>
              </a:lnSpc>
              <a:spcBef>
                <a:spcPts val="0"/>
              </a:spcBef>
              <a:spcAft>
                <a:spcPts val="200"/>
              </a:spcAft>
            </a:pPr>
            <a:r>
              <a:rPr sz="1250" b="1">
                <a:solidFill>
                  <a:srgbClr val="F4ECDD"/>
                </a:solidFill>
                <a:latin typeface="Syne"/>
              </a:rPr>
              <a:t>Cisco Catalyst 8200
+ NFVIS</a:t>
            </a:r>
          </a:p>
          <a:p>
            <a:pPr algn="l">
              <a:lnSpc>
                <a:spcPct val="110000"/>
              </a:lnSpc>
              <a:spcBef>
                <a:spcPts val="0"/>
              </a:spcBef>
              <a:spcAft>
                <a:spcPts val="200"/>
              </a:spcAft>
            </a:pPr>
            <a:r>
              <a:rPr sz="1050" b="1">
                <a:solidFill>
                  <a:srgbClr val="FF5A1F"/>
                </a:solidFill>
                <a:latin typeface="IBM Plex Mono"/>
              </a:rPr>
              <a:t>Hyperviseur réseau NFV</a:t>
            </a:r>
          </a:p>
        </p:txBody>
      </p:sp>
      <p:sp>
        <p:nvSpPr>
          <p:cNvPr id="13" name="TextBox 12"/>
          <p:cNvSpPr txBox="1"/>
          <p:nvPr/>
        </p:nvSpPr>
        <p:spPr>
          <a:xfrm>
            <a:off x="822960" y="5257800"/>
            <a:ext cx="3200400" cy="502920"/>
          </a:xfrm>
          <a:prstGeom prst="rect">
            <a:avLst/>
          </a:prstGeom>
          <a:noFill/>
        </p:spPr>
        <p:txBody>
          <a:bodyPr wrap="square" lIns="0" tIns="0" rIns="0" bIns="0" anchor="t">
            <a:spAutoFit/>
          </a:bodyPr>
          <a:lstStyle/>
          <a:p>
            <a:pPr algn="l">
              <a:lnSpc>
                <a:spcPct val="115000"/>
              </a:lnSpc>
              <a:spcBef>
                <a:spcPts val="0"/>
              </a:spcBef>
              <a:spcAft>
                <a:spcPts val="400"/>
              </a:spcAft>
            </a:pPr>
            <a:r>
              <a:rPr sz="1050" b="0">
                <a:solidFill>
                  <a:srgbClr val="94896F"/>
                </a:solidFill>
                <a:latin typeface="IBM Plex Mono"/>
              </a:rPr>
              <a:t>WAN GE0: 10.202.8.254/16
Héberge la VM C8000v</a:t>
            </a:r>
          </a:p>
        </p:txBody>
      </p:sp>
      <p:sp>
        <p:nvSpPr>
          <p:cNvPr id="14" name="Rounded Rectangle 13"/>
          <p:cNvSpPr/>
          <p:nvPr/>
        </p:nvSpPr>
        <p:spPr>
          <a:xfrm>
            <a:off x="4370832" y="4343400"/>
            <a:ext cx="3566160" cy="214884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70832" y="4343400"/>
            <a:ext cx="3566160"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53712" y="4507992"/>
            <a:ext cx="3200400" cy="685800"/>
          </a:xfrm>
          <a:prstGeom prst="rect">
            <a:avLst/>
          </a:prstGeom>
          <a:noFill/>
        </p:spPr>
        <p:txBody>
          <a:bodyPr wrap="square" lIns="0" tIns="0" rIns="0" bIns="0" anchor="t">
            <a:spAutoFit/>
          </a:bodyPr>
          <a:lstStyle/>
          <a:p>
            <a:pPr algn="l">
              <a:lnSpc>
                <a:spcPct val="110000"/>
              </a:lnSpc>
              <a:spcBef>
                <a:spcPts val="0"/>
              </a:spcBef>
              <a:spcAft>
                <a:spcPts val="200"/>
              </a:spcAft>
            </a:pPr>
            <a:r>
              <a:rPr sz="1250" b="1">
                <a:solidFill>
                  <a:srgbClr val="F4ECDD"/>
                </a:solidFill>
                <a:latin typeface="Syne"/>
              </a:rPr>
              <a:t>VM Cisco C8000v
(IOS-XE)</a:t>
            </a:r>
          </a:p>
          <a:p>
            <a:pPr algn="l">
              <a:lnSpc>
                <a:spcPct val="110000"/>
              </a:lnSpc>
              <a:spcBef>
                <a:spcPts val="0"/>
              </a:spcBef>
              <a:spcAft>
                <a:spcPts val="200"/>
              </a:spcAft>
            </a:pPr>
            <a:r>
              <a:rPr sz="1050" b="1">
                <a:solidFill>
                  <a:srgbClr val="FF5A1F"/>
                </a:solidFill>
                <a:latin typeface="IBM Plex Mono"/>
              </a:rPr>
              <a:t>Routeur virtuel — spine physique</a:t>
            </a:r>
          </a:p>
        </p:txBody>
      </p:sp>
      <p:sp>
        <p:nvSpPr>
          <p:cNvPr id="17" name="TextBox 16"/>
          <p:cNvSpPr txBox="1"/>
          <p:nvPr/>
        </p:nvSpPr>
        <p:spPr>
          <a:xfrm>
            <a:off x="4553712" y="5257800"/>
            <a:ext cx="3200400" cy="502920"/>
          </a:xfrm>
          <a:prstGeom prst="rect">
            <a:avLst/>
          </a:prstGeom>
          <a:noFill/>
        </p:spPr>
        <p:txBody>
          <a:bodyPr wrap="square" lIns="0" tIns="0" rIns="0" bIns="0" anchor="t">
            <a:spAutoFit/>
          </a:bodyPr>
          <a:lstStyle/>
          <a:p>
            <a:pPr algn="l">
              <a:lnSpc>
                <a:spcPct val="115000"/>
              </a:lnSpc>
              <a:spcBef>
                <a:spcPts val="0"/>
              </a:spcBef>
              <a:spcAft>
                <a:spcPts val="400"/>
              </a:spcAft>
            </a:pPr>
            <a:r>
              <a:rPr sz="1050" b="0">
                <a:solidFill>
                  <a:srgbClr val="94896F"/>
                </a:solidFill>
                <a:latin typeface="IBM Plex Mono"/>
              </a:rPr>
              <a:t>IP: 10.202.8.253/16, AS 65080
Seul point de sortie intergroupe</a:t>
            </a:r>
          </a:p>
        </p:txBody>
      </p:sp>
      <p:sp>
        <p:nvSpPr>
          <p:cNvPr id="18" name="Rounded Rectangle 17"/>
          <p:cNvSpPr/>
          <p:nvPr/>
        </p:nvSpPr>
        <p:spPr>
          <a:xfrm>
            <a:off x="8101583" y="4343400"/>
            <a:ext cx="3566160" cy="214884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101583" y="4343400"/>
            <a:ext cx="3566160"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84463" y="4507992"/>
            <a:ext cx="3200400" cy="685800"/>
          </a:xfrm>
          <a:prstGeom prst="rect">
            <a:avLst/>
          </a:prstGeom>
          <a:noFill/>
        </p:spPr>
        <p:txBody>
          <a:bodyPr wrap="square" lIns="0" tIns="0" rIns="0" bIns="0" anchor="t">
            <a:spAutoFit/>
          </a:bodyPr>
          <a:lstStyle/>
          <a:p>
            <a:pPr algn="l">
              <a:lnSpc>
                <a:spcPct val="110000"/>
              </a:lnSpc>
              <a:spcBef>
                <a:spcPts val="0"/>
              </a:spcBef>
              <a:spcAft>
                <a:spcPts val="200"/>
              </a:spcAft>
            </a:pPr>
            <a:r>
              <a:rPr sz="1250" b="1">
                <a:solidFill>
                  <a:srgbClr val="F4ECDD"/>
                </a:solidFill>
                <a:latin typeface="Syne"/>
              </a:rPr>
              <a:t>MikroTik RB750Gr3
(RouterOS)</a:t>
            </a:r>
          </a:p>
          <a:p>
            <a:pPr algn="l">
              <a:lnSpc>
                <a:spcPct val="110000"/>
              </a:lnSpc>
              <a:spcBef>
                <a:spcPts val="0"/>
              </a:spcBef>
              <a:spcAft>
                <a:spcPts val="200"/>
              </a:spcAft>
            </a:pPr>
            <a:r>
              <a:rPr sz="1050" b="1">
                <a:solidFill>
                  <a:srgbClr val="FF5A1F"/>
                </a:solidFill>
                <a:latin typeface="IBM Plex Mono"/>
              </a:rPr>
              <a:t>Routeur d'interconnexion — leaf</a:t>
            </a:r>
          </a:p>
        </p:txBody>
      </p:sp>
      <p:sp>
        <p:nvSpPr>
          <p:cNvPr id="21" name="TextBox 20"/>
          <p:cNvSpPr txBox="1"/>
          <p:nvPr/>
        </p:nvSpPr>
        <p:spPr>
          <a:xfrm>
            <a:off x="8284463" y="5257800"/>
            <a:ext cx="3200400" cy="502920"/>
          </a:xfrm>
          <a:prstGeom prst="rect">
            <a:avLst/>
          </a:prstGeom>
          <a:noFill/>
        </p:spPr>
        <p:txBody>
          <a:bodyPr wrap="square" lIns="0" tIns="0" rIns="0" bIns="0" anchor="t">
            <a:spAutoFit/>
          </a:bodyPr>
          <a:lstStyle/>
          <a:p>
            <a:pPr algn="l">
              <a:lnSpc>
                <a:spcPct val="115000"/>
              </a:lnSpc>
              <a:spcBef>
                <a:spcPts val="0"/>
              </a:spcBef>
              <a:spcAft>
                <a:spcPts val="400"/>
              </a:spcAft>
            </a:pPr>
            <a:r>
              <a:rPr sz="1050" b="0">
                <a:solidFill>
                  <a:srgbClr val="94896F"/>
                </a:solidFill>
                <a:latin typeface="IBM Plex Mono"/>
              </a:rPr>
              <a:t>ether2: 172.20.0.1/30 (câble direct)
AS 65081, annonce 172.17.0.0/24</a:t>
            </a:r>
          </a:p>
        </p:txBody>
      </p:sp>
      <p:sp>
        <p:nvSpPr>
          <p:cNvPr id="22" name="TextBox 21"/>
          <p:cNvSpPr txBox="1"/>
          <p:nvPr/>
        </p:nvSpPr>
        <p:spPr>
          <a:xfrm>
            <a:off x="640080" y="6446520"/>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a:solidFill>
                  <a:srgbClr val="94896F"/>
                </a:solidFill>
                <a:latin typeface="IBM Plex Mono"/>
              </a:rPr>
              <a:t>SAE4D01 DevCloud · Groupe 8 · URTADO P. / MALOT V.</a:t>
            </a:r>
          </a:p>
        </p:txBody>
      </p:sp>
      <p:sp>
        <p:nvSpPr>
          <p:cNvPr id="23" name="TextBox 22"/>
          <p:cNvSpPr txBox="1"/>
          <p:nvPr/>
        </p:nvSpPr>
        <p:spPr>
          <a:xfrm>
            <a:off x="10698480" y="6446520"/>
            <a:ext cx="91440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0">
                <a:solidFill>
                  <a:srgbClr val="94896F"/>
                </a:solidFill>
                <a:latin typeface="IBM Plex Mono"/>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C0A07"/>
        </a:solidFill>
        <a:effectLst/>
      </p:bgPr>
    </p:bg>
    <p:spTree>
      <p:nvGrpSpPr>
        <p:cNvPr id="1" name=""/>
        <p:cNvGrpSpPr/>
        <p:nvPr/>
      </p:nvGrpSpPr>
      <p:grpSpPr>
        <a:xfrm>
          <a:off x="0" y="0"/>
          <a:ext cx="0" cy="0"/>
          <a:chOff x="0" y="0"/>
          <a:chExt cx="0" cy="0"/>
        </a:xfrm>
      </p:grpSpPr>
      <p:sp>
        <p:nvSpPr>
          <p:cNvPr id="2" name="Rectangle 1"/>
          <p:cNvSpPr/>
          <p:nvPr/>
        </p:nvSpPr>
        <p:spPr>
          <a:xfrm>
            <a:off x="640080" y="713232"/>
            <a:ext cx="502920"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10058400" cy="169277"/>
          </a:xfrm>
          <a:prstGeom prst="rect">
            <a:avLst/>
          </a:prstGeom>
          <a:noFill/>
        </p:spPr>
        <p:txBody>
          <a:bodyPr wrap="square" lIns="0" tIns="0" rIns="0" bIns="0" anchor="t">
            <a:spAutoFit/>
          </a:bodyPr>
          <a:lstStyle/>
          <a:p>
            <a:pPr algn="l">
              <a:lnSpc>
                <a:spcPct val="100000"/>
              </a:lnSpc>
              <a:spcBef>
                <a:spcPts val="0"/>
              </a:spcBef>
              <a:spcAft>
                <a:spcPts val="400"/>
              </a:spcAft>
            </a:pPr>
            <a:r>
              <a:rPr lang="fr-FR" sz="1100" b="1" dirty="0">
                <a:solidFill>
                  <a:srgbClr val="FF5A1F"/>
                </a:solidFill>
                <a:latin typeface="IBM Plex Mono"/>
              </a:rPr>
              <a:t>10</a:t>
            </a:r>
            <a:r>
              <a:rPr sz="1100" b="1" dirty="0">
                <a:solidFill>
                  <a:srgbClr val="FF5A1F"/>
                </a:solidFill>
                <a:latin typeface="IBM Plex Mono"/>
              </a:rPr>
              <a:t> · MATÉRIEL</a:t>
            </a:r>
          </a:p>
        </p:txBody>
      </p:sp>
      <p:sp>
        <p:nvSpPr>
          <p:cNvPr id="4" name="TextBox 3"/>
          <p:cNvSpPr txBox="1"/>
          <p:nvPr/>
        </p:nvSpPr>
        <p:spPr>
          <a:xfrm>
            <a:off x="640080" y="777240"/>
            <a:ext cx="10789920" cy="822960"/>
          </a:xfrm>
          <a:prstGeom prst="rect">
            <a:avLst/>
          </a:prstGeom>
          <a:noFill/>
        </p:spPr>
        <p:txBody>
          <a:bodyPr wrap="square" lIns="0" tIns="0" rIns="0" bIns="0" anchor="t">
            <a:spAutoFit/>
          </a:bodyPr>
          <a:lstStyle/>
          <a:p>
            <a:pPr algn="l">
              <a:lnSpc>
                <a:spcPct val="100000"/>
              </a:lnSpc>
              <a:spcBef>
                <a:spcPts val="0"/>
              </a:spcBef>
              <a:spcAft>
                <a:spcPts val="400"/>
              </a:spcAft>
            </a:pPr>
            <a:r>
              <a:rPr sz="2800" b="1">
                <a:solidFill>
                  <a:srgbClr val="F4ECDD"/>
                </a:solidFill>
                <a:latin typeface="Syne"/>
              </a:rPr>
              <a:t>C8000v : rebuild de l'image &amp; refonte AS</a:t>
            </a:r>
          </a:p>
        </p:txBody>
      </p:sp>
      <p:sp>
        <p:nvSpPr>
          <p:cNvPr id="5" name="Rectangle 4"/>
          <p:cNvSpPr/>
          <p:nvPr/>
        </p:nvSpPr>
        <p:spPr>
          <a:xfrm>
            <a:off x="640080" y="1417320"/>
            <a:ext cx="10908792" cy="12700"/>
          </a:xfrm>
          <a:prstGeom prst="rect">
            <a:avLst/>
          </a:prstGeom>
          <a:solidFill>
            <a:srgbClr val="3A3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646920" y="384048"/>
            <a:ext cx="1901952" cy="384048"/>
          </a:xfrm>
          <a:prstGeom prst="round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46920" y="457200"/>
            <a:ext cx="1901952" cy="274320"/>
          </a:xfrm>
          <a:prstGeom prst="rect">
            <a:avLst/>
          </a:prstGeom>
          <a:noFill/>
        </p:spPr>
        <p:txBody>
          <a:bodyPr wrap="square" lIns="0" tIns="0" rIns="0" bIns="0" anchor="t">
            <a:spAutoFit/>
          </a:bodyPr>
          <a:lstStyle/>
          <a:p>
            <a:pPr algn="ctr">
              <a:lnSpc>
                <a:spcPct val="100000"/>
              </a:lnSpc>
              <a:spcBef>
                <a:spcPts val="0"/>
              </a:spcBef>
              <a:spcAft>
                <a:spcPts val="400"/>
              </a:spcAft>
            </a:pPr>
            <a:r>
              <a:rPr sz="1200" b="1">
                <a:solidFill>
                  <a:srgbClr val="0C0A07"/>
                </a:solidFill>
                <a:latin typeface="IBM Plex Mono"/>
              </a:rPr>
              <a:t>● PIERRE</a:t>
            </a:r>
          </a:p>
        </p:txBody>
      </p:sp>
      <p:sp>
        <p:nvSpPr>
          <p:cNvPr id="8" name="Rounded Rectangle 7"/>
          <p:cNvSpPr/>
          <p:nvPr/>
        </p:nvSpPr>
        <p:spPr>
          <a:xfrm>
            <a:off x="640080" y="1572768"/>
            <a:ext cx="5349240" cy="2286000"/>
          </a:xfrm>
          <a:prstGeom prst="roundRect">
            <a:avLst/>
          </a:prstGeom>
          <a:solidFill>
            <a:srgbClr val="120F0A"/>
          </a:solidFill>
          <a:ln w="19050">
            <a:solidFill>
              <a:srgbClr val="E5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572768"/>
            <a:ext cx="63500" cy="2286000"/>
          </a:xfrm>
          <a:prstGeom prst="rect">
            <a:avLst/>
          </a:prstGeom>
          <a:solidFill>
            <a:srgbClr val="E5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7" y="1719072"/>
            <a:ext cx="4937760" cy="365760"/>
          </a:xfrm>
          <a:prstGeom prst="rect">
            <a:avLst/>
          </a:prstGeom>
          <a:noFill/>
        </p:spPr>
        <p:txBody>
          <a:bodyPr wrap="square" lIns="0" tIns="0" rIns="0" bIns="0" anchor="t">
            <a:spAutoFit/>
          </a:bodyPr>
          <a:lstStyle/>
          <a:p>
            <a:pPr algn="l">
              <a:lnSpc>
                <a:spcPct val="100000"/>
              </a:lnSpc>
              <a:spcBef>
                <a:spcPts val="0"/>
              </a:spcBef>
              <a:spcAft>
                <a:spcPts val="400"/>
              </a:spcAft>
            </a:pPr>
            <a:r>
              <a:rPr sz="1150" b="1">
                <a:solidFill>
                  <a:srgbClr val="E53E3E"/>
                </a:solidFill>
                <a:latin typeface="IBM Plex Mono"/>
              </a:rPr>
              <a:t>PROBLÈME — l'OVA Cisco ne boote pas</a:t>
            </a:r>
          </a:p>
        </p:txBody>
      </p:sp>
      <p:sp>
        <p:nvSpPr>
          <p:cNvPr id="11" name="TextBox 10"/>
          <p:cNvSpPr txBox="1"/>
          <p:nvPr/>
        </p:nvSpPr>
        <p:spPr>
          <a:xfrm>
            <a:off x="841247" y="2194560"/>
            <a:ext cx="4937760" cy="685800"/>
          </a:xfrm>
          <a:prstGeom prst="rect">
            <a:avLst/>
          </a:prstGeom>
          <a:noFill/>
        </p:spPr>
        <p:txBody>
          <a:bodyPr wrap="square" lIns="0" tIns="0" rIns="0" bIns="0" anchor="t">
            <a:spAutoFit/>
          </a:bodyPr>
          <a:lstStyle/>
          <a:p>
            <a:pPr algn="l">
              <a:lnSpc>
                <a:spcPct val="110000"/>
              </a:lnSpc>
              <a:spcBef>
                <a:spcPts val="0"/>
              </a:spcBef>
              <a:spcAft>
                <a:spcPts val="400"/>
              </a:spcAft>
            </a:pPr>
            <a:r>
              <a:rPr sz="1250" b="1">
                <a:solidFill>
                  <a:srgbClr val="E53E3E"/>
                </a:solidFill>
                <a:latin typeface="Newsreader ExtraBold"/>
              </a:rPr>
              <a:t>• </a:t>
            </a:r>
            <a:r>
              <a:rPr sz="1250" b="0">
                <a:solidFill>
                  <a:srgbClr val="CFC4AD"/>
                </a:solidFill>
                <a:latin typeface="Newsreader Medium"/>
              </a:rPr>
              <a:t>OVA c8000v 17.04.01a (VGA) sans qcow2 bootable : l'OS est dans l'ISO, les vmdk sont vides.</a:t>
            </a:r>
          </a:p>
        </p:txBody>
      </p:sp>
      <p:sp>
        <p:nvSpPr>
          <p:cNvPr id="12" name="TextBox 11"/>
          <p:cNvSpPr txBox="1"/>
          <p:nvPr/>
        </p:nvSpPr>
        <p:spPr>
          <a:xfrm>
            <a:off x="841247" y="2907791"/>
            <a:ext cx="4937760" cy="685800"/>
          </a:xfrm>
          <a:prstGeom prst="rect">
            <a:avLst/>
          </a:prstGeom>
          <a:noFill/>
        </p:spPr>
        <p:txBody>
          <a:bodyPr wrap="square" lIns="0" tIns="0" rIns="0" bIns="0" anchor="t">
            <a:spAutoFit/>
          </a:bodyPr>
          <a:lstStyle/>
          <a:p>
            <a:pPr algn="l">
              <a:lnSpc>
                <a:spcPct val="110000"/>
              </a:lnSpc>
              <a:spcBef>
                <a:spcPts val="0"/>
              </a:spcBef>
              <a:spcAft>
                <a:spcPts val="400"/>
              </a:spcAft>
            </a:pPr>
            <a:r>
              <a:rPr sz="1250" b="1">
                <a:solidFill>
                  <a:srgbClr val="E53E3E"/>
                </a:solidFill>
                <a:latin typeface="Newsreader ExtraBold"/>
              </a:rPr>
              <a:t>• </a:t>
            </a:r>
            <a:r>
              <a:rPr sz="1250" b="0">
                <a:solidFill>
                  <a:srgbClr val="CFC4AD"/>
                </a:solidFill>
                <a:latin typeface="Newsreader Medium"/>
              </a:rPr>
              <a:t>NFVIS refuse l'ISO : « not in .qcow2 format ».</a:t>
            </a:r>
          </a:p>
        </p:txBody>
      </p:sp>
      <p:sp>
        <p:nvSpPr>
          <p:cNvPr id="13" name="Rounded Rectangle 12"/>
          <p:cNvSpPr/>
          <p:nvPr/>
        </p:nvSpPr>
        <p:spPr>
          <a:xfrm>
            <a:off x="6172200" y="1572768"/>
            <a:ext cx="5349240" cy="2286000"/>
          </a:xfrm>
          <a:prstGeom prst="roundRect">
            <a:avLst/>
          </a:prstGeom>
          <a:solidFill>
            <a:srgbClr val="120F0A"/>
          </a:solidFill>
          <a:ln w="19050">
            <a:solidFill>
              <a:srgbClr val="52D2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72200" y="1572768"/>
            <a:ext cx="63500" cy="2286000"/>
          </a:xfrm>
          <a:prstGeom prst="rect">
            <a:avLst/>
          </a:prstGeom>
          <a:solidFill>
            <a:srgbClr val="52D2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73368" y="1719072"/>
            <a:ext cx="4937760" cy="365760"/>
          </a:xfrm>
          <a:prstGeom prst="rect">
            <a:avLst/>
          </a:prstGeom>
          <a:noFill/>
        </p:spPr>
        <p:txBody>
          <a:bodyPr wrap="square" lIns="0" tIns="0" rIns="0" bIns="0" anchor="t">
            <a:spAutoFit/>
          </a:bodyPr>
          <a:lstStyle/>
          <a:p>
            <a:pPr algn="l">
              <a:lnSpc>
                <a:spcPct val="100000"/>
              </a:lnSpc>
              <a:spcBef>
                <a:spcPts val="0"/>
              </a:spcBef>
              <a:spcAft>
                <a:spcPts val="400"/>
              </a:spcAft>
            </a:pPr>
            <a:r>
              <a:rPr sz="1150" b="1">
                <a:solidFill>
                  <a:srgbClr val="52D273"/>
                </a:solidFill>
                <a:latin typeface="IBM Plex Mono"/>
              </a:rPr>
              <a:t>SOLUTION — reconstruire l'image</a:t>
            </a:r>
          </a:p>
        </p:txBody>
      </p:sp>
      <p:sp>
        <p:nvSpPr>
          <p:cNvPr id="16" name="TextBox 15"/>
          <p:cNvSpPr txBox="1"/>
          <p:nvPr/>
        </p:nvSpPr>
        <p:spPr>
          <a:xfrm>
            <a:off x="6373368" y="2194560"/>
            <a:ext cx="4937760" cy="685800"/>
          </a:xfrm>
          <a:prstGeom prst="rect">
            <a:avLst/>
          </a:prstGeom>
          <a:noFill/>
        </p:spPr>
        <p:txBody>
          <a:bodyPr wrap="square" lIns="0" tIns="0" rIns="0" bIns="0" anchor="t">
            <a:spAutoFit/>
          </a:bodyPr>
          <a:lstStyle/>
          <a:p>
            <a:pPr algn="l">
              <a:lnSpc>
                <a:spcPct val="110000"/>
              </a:lnSpc>
              <a:spcBef>
                <a:spcPts val="0"/>
              </a:spcBef>
              <a:spcAft>
                <a:spcPts val="400"/>
              </a:spcAft>
            </a:pPr>
            <a:r>
              <a:rPr sz="1250" b="1" dirty="0">
                <a:solidFill>
                  <a:srgbClr val="52D273"/>
                </a:solidFill>
                <a:latin typeface="Newsreader ExtraBold"/>
              </a:rPr>
              <a:t>• </a:t>
            </a:r>
            <a:r>
              <a:rPr sz="1250" b="0" dirty="0">
                <a:solidFill>
                  <a:srgbClr val="CFC4AD"/>
                </a:solidFill>
                <a:latin typeface="Newsreader Medium"/>
              </a:rPr>
              <a:t>Boot ISO </a:t>
            </a:r>
            <a:r>
              <a:rPr sz="1250" b="0" dirty="0" err="1">
                <a:solidFill>
                  <a:srgbClr val="CFC4AD"/>
                </a:solidFill>
                <a:latin typeface="Newsreader Medium"/>
              </a:rPr>
              <a:t>en</a:t>
            </a:r>
            <a:r>
              <a:rPr sz="1250" b="0" dirty="0">
                <a:solidFill>
                  <a:srgbClr val="CFC4AD"/>
                </a:solidFill>
                <a:latin typeface="Newsreader Medium"/>
              </a:rPr>
              <a:t> QEMU sur </a:t>
            </a:r>
            <a:r>
              <a:rPr sz="1250" b="0" dirty="0" err="1">
                <a:solidFill>
                  <a:srgbClr val="CFC4AD"/>
                </a:solidFill>
                <a:latin typeface="Newsreader Medium"/>
              </a:rPr>
              <a:t>disque</a:t>
            </a:r>
            <a:r>
              <a:rPr sz="1250" b="0" dirty="0">
                <a:solidFill>
                  <a:srgbClr val="CFC4AD"/>
                </a:solidFill>
                <a:latin typeface="Newsreader Medium"/>
              </a:rPr>
              <a:t> 8G → IOS-XE </a:t>
            </a:r>
            <a:r>
              <a:rPr sz="1250" b="0" dirty="0" err="1">
                <a:solidFill>
                  <a:srgbClr val="CFC4AD"/>
                </a:solidFill>
                <a:latin typeface="Newsreader Medium"/>
              </a:rPr>
              <a:t>s'installe</a:t>
            </a:r>
            <a:r>
              <a:rPr sz="1250" b="0" dirty="0">
                <a:solidFill>
                  <a:srgbClr val="CFC4AD"/>
                </a:solidFill>
                <a:latin typeface="Newsreader Medium"/>
              </a:rPr>
              <a:t> sur </a:t>
            </a:r>
            <a:r>
              <a:rPr sz="1250" b="0" dirty="0" err="1">
                <a:solidFill>
                  <a:srgbClr val="CFC4AD"/>
                </a:solidFill>
                <a:latin typeface="Newsreader Medium"/>
              </a:rPr>
              <a:t>bootflash</a:t>
            </a:r>
            <a:r>
              <a:rPr sz="1250" b="0" dirty="0">
                <a:solidFill>
                  <a:srgbClr val="CFC4AD"/>
                </a:solidFill>
                <a:latin typeface="Newsreader Medium"/>
              </a:rPr>
              <a:t> → qcow2 </a:t>
            </a:r>
            <a:r>
              <a:rPr sz="1250" b="0" dirty="0" err="1">
                <a:solidFill>
                  <a:srgbClr val="CFC4AD"/>
                </a:solidFill>
                <a:latin typeface="Newsreader Medium"/>
              </a:rPr>
              <a:t>peuplé</a:t>
            </a:r>
            <a:r>
              <a:rPr sz="1250" b="0" dirty="0">
                <a:solidFill>
                  <a:srgbClr val="CFC4AD"/>
                </a:solidFill>
                <a:latin typeface="Newsreader Medium"/>
              </a:rPr>
              <a:t> (~1,8 Go).</a:t>
            </a:r>
          </a:p>
        </p:txBody>
      </p:sp>
      <p:sp>
        <p:nvSpPr>
          <p:cNvPr id="17" name="TextBox 16"/>
          <p:cNvSpPr txBox="1"/>
          <p:nvPr/>
        </p:nvSpPr>
        <p:spPr>
          <a:xfrm>
            <a:off x="6373368" y="2907791"/>
            <a:ext cx="4937760" cy="685800"/>
          </a:xfrm>
          <a:prstGeom prst="rect">
            <a:avLst/>
          </a:prstGeom>
          <a:noFill/>
        </p:spPr>
        <p:txBody>
          <a:bodyPr wrap="square" lIns="0" tIns="0" rIns="0" bIns="0" anchor="t">
            <a:spAutoFit/>
          </a:bodyPr>
          <a:lstStyle/>
          <a:p>
            <a:pPr algn="l">
              <a:lnSpc>
                <a:spcPct val="110000"/>
              </a:lnSpc>
              <a:spcBef>
                <a:spcPts val="0"/>
              </a:spcBef>
              <a:spcAft>
                <a:spcPts val="400"/>
              </a:spcAft>
            </a:pPr>
            <a:r>
              <a:rPr sz="1250" b="1">
                <a:solidFill>
                  <a:srgbClr val="52D273"/>
                </a:solidFill>
                <a:latin typeface="Newsreader ExtraBold"/>
              </a:rPr>
              <a:t>• </a:t>
            </a:r>
            <a:r>
              <a:rPr sz="1250" b="0">
                <a:solidFill>
                  <a:srgbClr val="CFC4AD"/>
                </a:solidFill>
                <a:latin typeface="Newsreader Medium"/>
              </a:rPr>
              <a:t>Repackage nfvpt.py (-t ROUTER, profil medium) → tar.gz, register API NFVIS → IMAGE_ACTIVE.</a:t>
            </a:r>
          </a:p>
        </p:txBody>
      </p:sp>
      <p:sp>
        <p:nvSpPr>
          <p:cNvPr id="18" name="Rounded Rectangle 17"/>
          <p:cNvSpPr/>
          <p:nvPr/>
        </p:nvSpPr>
        <p:spPr>
          <a:xfrm>
            <a:off x="640080" y="4041648"/>
            <a:ext cx="10908792" cy="2057400"/>
          </a:xfrm>
          <a:prstGeom prst="roundRect">
            <a:avLst/>
          </a:prstGeom>
          <a:solidFill>
            <a:srgbClr val="120F0A"/>
          </a:solidFill>
          <a:ln w="19050">
            <a:solidFill>
              <a:srgbClr val="FFC1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40080" y="4041648"/>
            <a:ext cx="63500" cy="20574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1248" y="4187952"/>
            <a:ext cx="10515600" cy="320040"/>
          </a:xfrm>
          <a:prstGeom prst="rect">
            <a:avLst/>
          </a:prstGeom>
          <a:noFill/>
        </p:spPr>
        <p:txBody>
          <a:bodyPr wrap="square" lIns="0" tIns="0" rIns="0" bIns="0" anchor="t">
            <a:spAutoFit/>
          </a:bodyPr>
          <a:lstStyle/>
          <a:p>
            <a:pPr algn="l">
              <a:lnSpc>
                <a:spcPct val="100000"/>
              </a:lnSpc>
              <a:spcBef>
                <a:spcPts val="0"/>
              </a:spcBef>
              <a:spcAft>
                <a:spcPts val="400"/>
              </a:spcAft>
            </a:pPr>
            <a:r>
              <a:rPr sz="1150" b="1">
                <a:solidFill>
                  <a:srgbClr val="FFC107"/>
                </a:solidFill>
                <a:latin typeface="IBM Plex Mono"/>
              </a:rPr>
              <a:t>REFONTE DU PLAN D'AS + CONTRAINTE SWITCH</a:t>
            </a:r>
          </a:p>
        </p:txBody>
      </p:sp>
      <p:sp>
        <p:nvSpPr>
          <p:cNvPr id="21" name="TextBox 20"/>
          <p:cNvSpPr txBox="1"/>
          <p:nvPr/>
        </p:nvSpPr>
        <p:spPr>
          <a:xfrm>
            <a:off x="841248" y="4617720"/>
            <a:ext cx="10515600" cy="742832"/>
          </a:xfrm>
          <a:prstGeom prst="rect">
            <a:avLst/>
          </a:prstGeom>
          <a:noFill/>
        </p:spPr>
        <p:txBody>
          <a:bodyPr wrap="square" lIns="0" tIns="0" rIns="0" bIns="0" anchor="t">
            <a:spAutoFit/>
          </a:bodyPr>
          <a:lstStyle/>
          <a:p>
            <a:pPr algn="l">
              <a:lnSpc>
                <a:spcPct val="112000"/>
              </a:lnSpc>
              <a:spcBef>
                <a:spcPts val="0"/>
              </a:spcBef>
              <a:spcAft>
                <a:spcPts val="500"/>
              </a:spcAft>
            </a:pPr>
            <a:r>
              <a:rPr sz="1200" b="1" dirty="0">
                <a:solidFill>
                  <a:srgbClr val="FFC107"/>
                </a:solidFill>
                <a:latin typeface="Newsreader ExtraBold"/>
              </a:rPr>
              <a:t>• </a:t>
            </a:r>
            <a:r>
              <a:rPr sz="1200" b="0" dirty="0">
                <a:solidFill>
                  <a:srgbClr val="CFC4AD"/>
                </a:solidFill>
                <a:latin typeface="Newsreader Medium"/>
              </a:rPr>
              <a:t>Passage AS 65008 </a:t>
            </a:r>
            <a:r>
              <a:rPr sz="1200" b="0" dirty="0" err="1">
                <a:solidFill>
                  <a:srgbClr val="CFC4AD"/>
                </a:solidFill>
                <a:latin typeface="Newsreader Medium"/>
              </a:rPr>
              <a:t>commun</a:t>
            </a:r>
            <a:r>
              <a:rPr sz="1200" b="0" dirty="0">
                <a:solidFill>
                  <a:srgbClr val="CFC4AD"/>
                </a:solidFill>
                <a:latin typeface="Newsreader Medium"/>
              </a:rPr>
              <a:t> → </a:t>
            </a:r>
            <a:r>
              <a:rPr sz="1200" b="0" dirty="0" err="1">
                <a:solidFill>
                  <a:srgbClr val="CFC4AD"/>
                </a:solidFill>
                <a:latin typeface="Newsreader Medium"/>
              </a:rPr>
              <a:t>vrai</a:t>
            </a:r>
            <a:r>
              <a:rPr sz="1200" b="0" dirty="0">
                <a:solidFill>
                  <a:srgbClr val="CFC4AD"/>
                </a:solidFill>
                <a:latin typeface="Newsreader Medium"/>
              </a:rPr>
              <a:t> leaf &amp; spine eBGP : C8000v spine AS65080, </a:t>
            </a:r>
            <a:r>
              <a:rPr sz="1200" b="0" dirty="0" err="1">
                <a:solidFill>
                  <a:srgbClr val="CFC4AD"/>
                </a:solidFill>
                <a:latin typeface="Newsreader Medium"/>
              </a:rPr>
              <a:t>MikroTik</a:t>
            </a:r>
            <a:r>
              <a:rPr sz="1200" b="0" dirty="0">
                <a:solidFill>
                  <a:srgbClr val="CFC4AD"/>
                </a:solidFill>
                <a:latin typeface="Newsreader Medium"/>
              </a:rPr>
              <a:t> leaf AS65081 (RFC 7938).</a:t>
            </a:r>
          </a:p>
          <a:p>
            <a:pPr algn="l">
              <a:lnSpc>
                <a:spcPct val="112000"/>
              </a:lnSpc>
              <a:spcBef>
                <a:spcPts val="0"/>
              </a:spcBef>
              <a:spcAft>
                <a:spcPts val="500"/>
              </a:spcAft>
            </a:pPr>
            <a:r>
              <a:rPr sz="1200" b="1" dirty="0">
                <a:solidFill>
                  <a:srgbClr val="FFC107"/>
                </a:solidFill>
                <a:latin typeface="Newsreader ExtraBold"/>
              </a:rPr>
              <a:t>• </a:t>
            </a:r>
            <a:r>
              <a:rPr sz="1200" b="0" dirty="0">
                <a:solidFill>
                  <a:srgbClr val="CFC4AD"/>
                </a:solidFill>
                <a:latin typeface="Newsreader Medium"/>
              </a:rPr>
              <a:t>Port-isolation du switch salle : .252↔.253 ne se </a:t>
            </a:r>
            <a:r>
              <a:rPr sz="1200" b="0" dirty="0" err="1">
                <a:solidFill>
                  <a:srgbClr val="CFC4AD"/>
                </a:solidFill>
                <a:latin typeface="Newsreader Medium"/>
              </a:rPr>
              <a:t>pinguent</a:t>
            </a:r>
            <a:r>
              <a:rPr sz="1200" b="0" dirty="0">
                <a:solidFill>
                  <a:srgbClr val="CFC4AD"/>
                </a:solidFill>
                <a:latin typeface="Newsreader Medium"/>
              </a:rPr>
              <a:t> pas (private-VLAN) </a:t>
            </a:r>
            <a:r>
              <a:rPr lang="fr-FR" sz="1200" dirty="0">
                <a:solidFill>
                  <a:srgbClr val="CFC4AD"/>
                </a:solidFill>
                <a:latin typeface="Newsreader Medium"/>
              </a:rPr>
              <a:t>le ping</a:t>
            </a:r>
            <a:r>
              <a:rPr sz="1200" b="0" dirty="0">
                <a:solidFill>
                  <a:srgbClr val="CFC4AD"/>
                </a:solidFill>
                <a:latin typeface="Newsreader Medium"/>
              </a:rPr>
              <a:t> unicast </a:t>
            </a:r>
            <a:r>
              <a:rPr sz="1200" b="0" dirty="0" err="1">
                <a:solidFill>
                  <a:srgbClr val="CFC4AD"/>
                </a:solidFill>
                <a:latin typeface="Newsreader Medium"/>
              </a:rPr>
              <a:t>droppé</a:t>
            </a:r>
            <a:r>
              <a:rPr sz="1200" b="0" dirty="0">
                <a:solidFill>
                  <a:srgbClr val="CFC4AD"/>
                </a:solidFill>
                <a:latin typeface="Newsreader Medium"/>
              </a:rPr>
              <a:t> malgré ARP OK.</a:t>
            </a:r>
          </a:p>
          <a:p>
            <a:pPr algn="l">
              <a:lnSpc>
                <a:spcPct val="112000"/>
              </a:lnSpc>
              <a:spcBef>
                <a:spcPts val="0"/>
              </a:spcBef>
              <a:spcAft>
                <a:spcPts val="500"/>
              </a:spcAft>
            </a:pPr>
            <a:r>
              <a:rPr sz="1200" b="1" dirty="0">
                <a:solidFill>
                  <a:srgbClr val="FFC107"/>
                </a:solidFill>
                <a:latin typeface="Newsreader ExtraBold"/>
              </a:rPr>
              <a:t>• </a:t>
            </a:r>
            <a:r>
              <a:rPr sz="1200" b="0" dirty="0" err="1">
                <a:solidFill>
                  <a:srgbClr val="CFC4AD"/>
                </a:solidFill>
                <a:latin typeface="Newsreader Medium"/>
              </a:rPr>
              <a:t>Contournement</a:t>
            </a:r>
            <a:r>
              <a:rPr sz="1200" b="0" dirty="0">
                <a:solidFill>
                  <a:srgbClr val="CFC4AD"/>
                </a:solidFill>
                <a:latin typeface="Newsreader Medium"/>
              </a:rPr>
              <a:t> : </a:t>
            </a:r>
            <a:r>
              <a:rPr sz="1200" b="0" dirty="0" err="1">
                <a:solidFill>
                  <a:srgbClr val="CFC4AD"/>
                </a:solidFill>
                <a:latin typeface="Newsreader Medium"/>
              </a:rPr>
              <a:t>câble</a:t>
            </a:r>
            <a:r>
              <a:rPr sz="1200" b="0" dirty="0">
                <a:solidFill>
                  <a:srgbClr val="CFC4AD"/>
                </a:solidFill>
                <a:latin typeface="Newsreader Medium"/>
              </a:rPr>
              <a:t> direct </a:t>
            </a:r>
            <a:r>
              <a:rPr sz="1200" b="0" dirty="0" err="1">
                <a:solidFill>
                  <a:srgbClr val="CFC4AD"/>
                </a:solidFill>
                <a:latin typeface="Newsreader Medium"/>
              </a:rPr>
              <a:t>MikroTik</a:t>
            </a:r>
            <a:r>
              <a:rPr sz="1200" b="0" dirty="0">
                <a:solidFill>
                  <a:srgbClr val="CFC4AD"/>
                </a:solidFill>
                <a:latin typeface="Newsreader Medium"/>
              </a:rPr>
              <a:t> ether2 </a:t>
            </a:r>
            <a:r>
              <a:rPr lang="fr-FR" sz="1200" b="0" dirty="0">
                <a:solidFill>
                  <a:srgbClr val="CFC4AD"/>
                </a:solidFill>
                <a:latin typeface="Newsreader Medium"/>
              </a:rPr>
              <a:t>avec</a:t>
            </a:r>
            <a:r>
              <a:rPr sz="1200" b="0" dirty="0">
                <a:solidFill>
                  <a:srgbClr val="CFC4AD"/>
                </a:solidFill>
                <a:latin typeface="Newsreader Medium"/>
              </a:rPr>
              <a:t> NFVIS </a:t>
            </a:r>
            <a:r>
              <a:rPr lang="fr-FR" sz="1200" b="0" dirty="0">
                <a:solidFill>
                  <a:srgbClr val="CFC4AD"/>
                </a:solidFill>
                <a:latin typeface="Newsreader Medium"/>
              </a:rPr>
              <a:t>sur </a:t>
            </a:r>
            <a:r>
              <a:rPr sz="1200" b="0" dirty="0">
                <a:solidFill>
                  <a:srgbClr val="CFC4AD"/>
                </a:solidFill>
                <a:latin typeface="Newsreader Medium"/>
              </a:rPr>
              <a:t>GE2, sous-réseau p2p </a:t>
            </a:r>
            <a:r>
              <a:rPr sz="1200" b="0" dirty="0" err="1">
                <a:solidFill>
                  <a:srgbClr val="CFC4AD"/>
                </a:solidFill>
                <a:latin typeface="Newsreader Medium"/>
              </a:rPr>
              <a:t>dédié</a:t>
            </a:r>
            <a:r>
              <a:rPr sz="1200" b="0" dirty="0">
                <a:solidFill>
                  <a:srgbClr val="CFC4AD"/>
                </a:solidFill>
                <a:latin typeface="Newsreader Medium"/>
              </a:rPr>
              <a:t> 172.20.0.0/30 → session Established.</a:t>
            </a:r>
          </a:p>
        </p:txBody>
      </p:sp>
      <p:sp>
        <p:nvSpPr>
          <p:cNvPr id="22" name="TextBox 21"/>
          <p:cNvSpPr txBox="1"/>
          <p:nvPr/>
        </p:nvSpPr>
        <p:spPr>
          <a:xfrm>
            <a:off x="640080" y="6446520"/>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a:solidFill>
                  <a:srgbClr val="94896F"/>
                </a:solidFill>
                <a:latin typeface="IBM Plex Mono"/>
              </a:rPr>
              <a:t>SAE4D01 DevCloud · Groupe 8 · URTADO P. / MALOT V.</a:t>
            </a:r>
          </a:p>
        </p:txBody>
      </p:sp>
      <p:sp>
        <p:nvSpPr>
          <p:cNvPr id="23" name="TextBox 22"/>
          <p:cNvSpPr txBox="1"/>
          <p:nvPr/>
        </p:nvSpPr>
        <p:spPr>
          <a:xfrm>
            <a:off x="10698480" y="6446520"/>
            <a:ext cx="91440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0">
                <a:solidFill>
                  <a:srgbClr val="94896F"/>
                </a:solidFill>
                <a:latin typeface="IBM Plex Mono"/>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C0A07"/>
        </a:solidFill>
        <a:effectLst/>
      </p:bgPr>
    </p:bg>
    <p:spTree>
      <p:nvGrpSpPr>
        <p:cNvPr id="1" name=""/>
        <p:cNvGrpSpPr/>
        <p:nvPr/>
      </p:nvGrpSpPr>
      <p:grpSpPr>
        <a:xfrm>
          <a:off x="0" y="0"/>
          <a:ext cx="0" cy="0"/>
          <a:chOff x="0" y="0"/>
          <a:chExt cx="0" cy="0"/>
        </a:xfrm>
      </p:grpSpPr>
      <p:sp>
        <p:nvSpPr>
          <p:cNvPr id="2" name="Rectangle 1"/>
          <p:cNvSpPr/>
          <p:nvPr/>
        </p:nvSpPr>
        <p:spPr>
          <a:xfrm>
            <a:off x="640080" y="713232"/>
            <a:ext cx="502920"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10058400" cy="169277"/>
          </a:xfrm>
          <a:prstGeom prst="rect">
            <a:avLst/>
          </a:prstGeom>
          <a:noFill/>
        </p:spPr>
        <p:txBody>
          <a:bodyPr wrap="square" lIns="0" tIns="0" rIns="0" bIns="0" anchor="t">
            <a:spAutoFit/>
          </a:bodyPr>
          <a:lstStyle/>
          <a:p>
            <a:pPr algn="l">
              <a:lnSpc>
                <a:spcPct val="100000"/>
              </a:lnSpc>
              <a:spcBef>
                <a:spcPts val="0"/>
              </a:spcBef>
              <a:spcAft>
                <a:spcPts val="400"/>
              </a:spcAft>
            </a:pPr>
            <a:r>
              <a:rPr lang="fr-FR" sz="1100" b="1" dirty="0">
                <a:solidFill>
                  <a:srgbClr val="FF5A1F"/>
                </a:solidFill>
                <a:latin typeface="IBM Plex Mono"/>
              </a:rPr>
              <a:t>11</a:t>
            </a:r>
            <a:r>
              <a:rPr sz="1100" b="1" dirty="0">
                <a:solidFill>
                  <a:srgbClr val="FF5A1F"/>
                </a:solidFill>
                <a:latin typeface="IBM Plex Mono"/>
              </a:rPr>
              <a:t> · ARCHITECTURE</a:t>
            </a:r>
          </a:p>
        </p:txBody>
      </p:sp>
      <p:sp>
        <p:nvSpPr>
          <p:cNvPr id="4" name="TextBox 3"/>
          <p:cNvSpPr txBox="1"/>
          <p:nvPr/>
        </p:nvSpPr>
        <p:spPr>
          <a:xfrm>
            <a:off x="640080" y="777240"/>
            <a:ext cx="10789920" cy="822960"/>
          </a:xfrm>
          <a:prstGeom prst="rect">
            <a:avLst/>
          </a:prstGeom>
          <a:noFill/>
        </p:spPr>
        <p:txBody>
          <a:bodyPr wrap="square" lIns="0" tIns="0" rIns="0" bIns="0" anchor="t">
            <a:spAutoFit/>
          </a:bodyPr>
          <a:lstStyle/>
          <a:p>
            <a:pPr algn="l">
              <a:lnSpc>
                <a:spcPct val="100000"/>
              </a:lnSpc>
              <a:spcBef>
                <a:spcPts val="0"/>
              </a:spcBef>
              <a:spcAft>
                <a:spcPts val="400"/>
              </a:spcAft>
            </a:pPr>
            <a:r>
              <a:rPr sz="2800" b="1">
                <a:solidFill>
                  <a:srgbClr val="F4ECDD"/>
                </a:solidFill>
                <a:latin typeface="Syne"/>
              </a:rPr>
              <a:t>Fabric eBGP FRR — Datacenter Pierre</a:t>
            </a:r>
          </a:p>
        </p:txBody>
      </p:sp>
      <p:sp>
        <p:nvSpPr>
          <p:cNvPr id="5" name="Rectangle 4"/>
          <p:cNvSpPr/>
          <p:nvPr/>
        </p:nvSpPr>
        <p:spPr>
          <a:xfrm>
            <a:off x="640080" y="1417320"/>
            <a:ext cx="10908792" cy="12700"/>
          </a:xfrm>
          <a:prstGeom prst="rect">
            <a:avLst/>
          </a:prstGeom>
          <a:solidFill>
            <a:srgbClr val="3A3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646920" y="384048"/>
            <a:ext cx="1901952" cy="384048"/>
          </a:xfrm>
          <a:prstGeom prst="round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46920" y="457200"/>
            <a:ext cx="1901952" cy="274320"/>
          </a:xfrm>
          <a:prstGeom prst="rect">
            <a:avLst/>
          </a:prstGeom>
          <a:noFill/>
        </p:spPr>
        <p:txBody>
          <a:bodyPr wrap="square" lIns="0" tIns="0" rIns="0" bIns="0" anchor="t">
            <a:spAutoFit/>
          </a:bodyPr>
          <a:lstStyle/>
          <a:p>
            <a:pPr algn="ctr">
              <a:lnSpc>
                <a:spcPct val="100000"/>
              </a:lnSpc>
              <a:spcBef>
                <a:spcPts val="0"/>
              </a:spcBef>
              <a:spcAft>
                <a:spcPts val="400"/>
              </a:spcAft>
            </a:pPr>
            <a:r>
              <a:rPr sz="1200" b="1">
                <a:solidFill>
                  <a:srgbClr val="0C0A07"/>
                </a:solidFill>
                <a:latin typeface="IBM Plex Mono"/>
              </a:rPr>
              <a:t>● PIERRE</a:t>
            </a:r>
          </a:p>
        </p:txBody>
      </p:sp>
      <p:sp>
        <p:nvSpPr>
          <p:cNvPr id="8" name="Rectangle 7"/>
          <p:cNvSpPr/>
          <p:nvPr/>
        </p:nvSpPr>
        <p:spPr>
          <a:xfrm>
            <a:off x="557784" y="1517904"/>
            <a:ext cx="6053328" cy="3870305"/>
          </a:xfrm>
          <a:prstGeom prst="rect">
            <a:avLst/>
          </a:prstGeom>
          <a:solidFill>
            <a:srgbClr val="16120C"/>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784848" y="1572768"/>
            <a:ext cx="4764024" cy="2522668"/>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986016" y="1719072"/>
            <a:ext cx="4507992" cy="365760"/>
          </a:xfrm>
          <a:prstGeom prst="rect">
            <a:avLst/>
          </a:prstGeom>
          <a:noFill/>
        </p:spPr>
        <p:txBody>
          <a:bodyPr wrap="square" lIns="0" tIns="0" rIns="0" bIns="0" anchor="t">
            <a:spAutoFit/>
          </a:bodyPr>
          <a:lstStyle/>
          <a:p>
            <a:pPr algn="l">
              <a:lnSpc>
                <a:spcPct val="100000"/>
              </a:lnSpc>
              <a:spcBef>
                <a:spcPts val="0"/>
              </a:spcBef>
              <a:spcAft>
                <a:spcPts val="400"/>
              </a:spcAft>
            </a:pPr>
            <a:r>
              <a:rPr sz="1200" b="1">
                <a:solidFill>
                  <a:srgbClr val="FF5A1F"/>
                </a:solidFill>
                <a:latin typeface="IBM Plex Mono"/>
              </a:rPr>
              <a:t>AS par équipement — RFC 7938</a:t>
            </a:r>
          </a:p>
        </p:txBody>
      </p:sp>
      <p:sp>
        <p:nvSpPr>
          <p:cNvPr id="12" name="TextBox 11"/>
          <p:cNvSpPr txBox="1"/>
          <p:nvPr/>
        </p:nvSpPr>
        <p:spPr>
          <a:xfrm>
            <a:off x="6986016" y="2176272"/>
            <a:ext cx="4507992" cy="4572000"/>
          </a:xfrm>
          <a:prstGeom prst="rect">
            <a:avLst/>
          </a:prstGeom>
          <a:noFill/>
        </p:spPr>
        <p:txBody>
          <a:bodyPr wrap="square" lIns="0" tIns="0" rIns="0" bIns="0" anchor="t">
            <a:spAutoFit/>
          </a:bodyPr>
          <a:lstStyle/>
          <a:p>
            <a:pPr algn="l">
              <a:lnSpc>
                <a:spcPct val="112000"/>
              </a:lnSpc>
              <a:spcBef>
                <a:spcPts val="0"/>
              </a:spcBef>
              <a:spcAft>
                <a:spcPts val="600"/>
              </a:spcAft>
            </a:pPr>
            <a:r>
              <a:rPr sz="1150" b="1">
                <a:solidFill>
                  <a:srgbClr val="FF5A1F"/>
                </a:solidFill>
                <a:latin typeface="Newsreader ExtraBold"/>
              </a:rPr>
              <a:t>• </a:t>
            </a:r>
            <a:r>
              <a:rPr sz="1150" b="0">
                <a:solidFill>
                  <a:srgbClr val="CFC4AD"/>
                </a:solidFill>
                <a:latin typeface="Newsreader Medium"/>
              </a:rPr>
              <a:t>spine1=AS65081, spine2=AS65082, leaf1-3=AS65083-85, bleaf=AS65080.</a:t>
            </a:r>
          </a:p>
          <a:p>
            <a:pPr algn="l">
              <a:lnSpc>
                <a:spcPct val="112000"/>
              </a:lnSpc>
              <a:spcBef>
                <a:spcPts val="0"/>
              </a:spcBef>
              <a:spcAft>
                <a:spcPts val="600"/>
              </a:spcAft>
            </a:pPr>
            <a:r>
              <a:rPr sz="1150" b="1">
                <a:solidFill>
                  <a:srgbClr val="FF5A1F"/>
                </a:solidFill>
                <a:latin typeface="Newsreader ExtraBold"/>
              </a:rPr>
              <a:t>• </a:t>
            </a:r>
            <a:r>
              <a:rPr sz="1150" b="0">
                <a:solidFill>
                  <a:srgbClr val="CFC4AD"/>
                </a:solidFill>
                <a:latin typeface="Newsreader Medium"/>
              </a:rPr>
              <a:t>ECMP naturel via AS-path (maximum-paths 4 ecmp 4).</a:t>
            </a:r>
          </a:p>
          <a:p>
            <a:pPr algn="l">
              <a:lnSpc>
                <a:spcPct val="112000"/>
              </a:lnSpc>
              <a:spcBef>
                <a:spcPts val="0"/>
              </a:spcBef>
              <a:spcAft>
                <a:spcPts val="600"/>
              </a:spcAft>
            </a:pPr>
            <a:r>
              <a:rPr sz="1150" b="1">
                <a:solidFill>
                  <a:srgbClr val="FF5A1F"/>
                </a:solidFill>
                <a:latin typeface="Newsreader ExtraBold"/>
              </a:rPr>
              <a:t>• </a:t>
            </a:r>
            <a:r>
              <a:rPr sz="1150" b="0">
                <a:solidFill>
                  <a:srgbClr val="CFC4AD"/>
                </a:solidFill>
                <a:latin typeface="Newsreader Medium"/>
              </a:rPr>
              <a:t>BFD activé sur chaque session.</a:t>
            </a:r>
          </a:p>
          <a:p>
            <a:pPr algn="l">
              <a:lnSpc>
                <a:spcPct val="112000"/>
              </a:lnSpc>
              <a:spcBef>
                <a:spcPts val="0"/>
              </a:spcBef>
              <a:spcAft>
                <a:spcPts val="600"/>
              </a:spcAft>
            </a:pPr>
            <a:r>
              <a:rPr sz="1150" b="1">
                <a:solidFill>
                  <a:srgbClr val="FF5A1F"/>
                </a:solidFill>
                <a:latin typeface="Newsreader ExtraBold"/>
              </a:rPr>
              <a:t>• </a:t>
            </a:r>
            <a:r>
              <a:rPr sz="1150" b="0">
                <a:solidFill>
                  <a:srgbClr val="CFC4AD"/>
                </a:solidFill>
                <a:latin typeface="Newsreader Medium"/>
              </a:rPr>
              <a:t>VM220 prod : topo-ebgp always-on.</a:t>
            </a:r>
          </a:p>
          <a:p>
            <a:pPr algn="l">
              <a:lnSpc>
                <a:spcPct val="112000"/>
              </a:lnSpc>
              <a:spcBef>
                <a:spcPts val="0"/>
              </a:spcBef>
              <a:spcAft>
                <a:spcPts val="600"/>
              </a:spcAft>
            </a:pPr>
            <a:r>
              <a:rPr sz="1150" b="1">
                <a:solidFill>
                  <a:srgbClr val="FF5A1F"/>
                </a:solidFill>
                <a:latin typeface="Newsreader ExtraBold"/>
              </a:rPr>
              <a:t>• </a:t>
            </a:r>
            <a:r>
              <a:rPr sz="1150" b="0">
                <a:solidFill>
                  <a:srgbClr val="CFC4AD"/>
                </a:solidFill>
                <a:latin typeface="Newsreader Medium"/>
              </a:rPr>
              <a:t>VM221 lab : 5 topos + benchmark.</a:t>
            </a:r>
          </a:p>
          <a:p>
            <a:pPr algn="l">
              <a:lnSpc>
                <a:spcPct val="112000"/>
              </a:lnSpc>
              <a:spcBef>
                <a:spcPts val="0"/>
              </a:spcBef>
              <a:spcAft>
                <a:spcPts val="600"/>
              </a:spcAft>
            </a:pPr>
            <a:r>
              <a:rPr sz="1150" b="1">
                <a:solidFill>
                  <a:srgbClr val="FF5A1F"/>
                </a:solidFill>
                <a:latin typeface="Newsreader ExtraBold"/>
              </a:rPr>
              <a:t>• </a:t>
            </a:r>
            <a:r>
              <a:rPr sz="1150" b="0">
                <a:solidFill>
                  <a:srgbClr val="CFC4AD"/>
                </a:solidFill>
                <a:latin typeface="Newsreader Medium"/>
              </a:rPr>
              <a:t>Benchmark : eBGP ≈ OSPF ≈ Mixed ≈ iBGP-RR (~39 Gbit/s).</a:t>
            </a:r>
          </a:p>
        </p:txBody>
      </p:sp>
      <p:sp>
        <p:nvSpPr>
          <p:cNvPr id="13" name="TextBox 12"/>
          <p:cNvSpPr txBox="1"/>
          <p:nvPr/>
        </p:nvSpPr>
        <p:spPr>
          <a:xfrm>
            <a:off x="580644" y="5939028"/>
            <a:ext cx="10908792" cy="411480"/>
          </a:xfrm>
          <a:prstGeom prst="rect">
            <a:avLst/>
          </a:prstGeom>
          <a:noFill/>
        </p:spPr>
        <p:txBody>
          <a:bodyPr wrap="square" lIns="0" tIns="0" rIns="0" bIns="0" anchor="t">
            <a:spAutoFit/>
          </a:bodyPr>
          <a:lstStyle/>
          <a:p>
            <a:pPr algn="l">
              <a:lnSpc>
                <a:spcPct val="100000"/>
              </a:lnSpc>
              <a:spcBef>
                <a:spcPts val="0"/>
              </a:spcBef>
              <a:spcAft>
                <a:spcPts val="400"/>
              </a:spcAft>
            </a:pPr>
            <a:r>
              <a:rPr sz="1200" b="0" dirty="0">
                <a:solidFill>
                  <a:srgbClr val="94896F"/>
                </a:solidFill>
                <a:latin typeface="IBM Plex Mono"/>
              </a:rPr>
              <a:t>→ </a:t>
            </a:r>
            <a:r>
              <a:rPr sz="1200" b="0" dirty="0" err="1">
                <a:solidFill>
                  <a:srgbClr val="94896F"/>
                </a:solidFill>
                <a:latin typeface="IBM Plex Mono"/>
              </a:rPr>
              <a:t>clab</a:t>
            </a:r>
            <a:r>
              <a:rPr sz="1200" b="0" dirty="0">
                <a:solidFill>
                  <a:srgbClr val="94896F"/>
                </a:solidFill>
                <a:latin typeface="IBM Plex Mono"/>
              </a:rPr>
              <a:t> inspect VM220 : 6 </a:t>
            </a:r>
            <a:r>
              <a:rPr sz="1200" b="0" dirty="0" err="1">
                <a:solidFill>
                  <a:srgbClr val="94896F"/>
                </a:solidFill>
                <a:latin typeface="IBM Plex Mono"/>
              </a:rPr>
              <a:t>nœuds</a:t>
            </a:r>
            <a:r>
              <a:rPr sz="1200" b="0" dirty="0">
                <a:solidFill>
                  <a:srgbClr val="94896F"/>
                </a:solidFill>
                <a:latin typeface="IBM Plex Mono"/>
              </a:rPr>
              <a:t> Running (spine1, spine2, leaf1, leaf2, leaf3, </a:t>
            </a:r>
            <a:r>
              <a:rPr sz="1200" b="0" dirty="0" err="1">
                <a:solidFill>
                  <a:srgbClr val="94896F"/>
                </a:solidFill>
                <a:latin typeface="IBM Plex Mono"/>
              </a:rPr>
              <a:t>bleaf</a:t>
            </a:r>
            <a:r>
              <a:rPr sz="1200" b="0" dirty="0">
                <a:solidFill>
                  <a:srgbClr val="94896F"/>
                </a:solidFill>
                <a:latin typeface="IBM Plex Mono"/>
              </a:rPr>
              <a:t>). topo-</a:t>
            </a:r>
            <a:r>
              <a:rPr sz="1200" b="0" dirty="0" err="1">
                <a:solidFill>
                  <a:srgbClr val="94896F"/>
                </a:solidFill>
                <a:latin typeface="IBM Plex Mono"/>
              </a:rPr>
              <a:t>ebgp</a:t>
            </a:r>
            <a:r>
              <a:rPr sz="1200" b="0" dirty="0">
                <a:solidFill>
                  <a:srgbClr val="94896F"/>
                </a:solidFill>
                <a:latin typeface="IBM Plex Mono"/>
              </a:rPr>
              <a:t> </a:t>
            </a:r>
            <a:r>
              <a:rPr sz="1200" b="0" dirty="0" err="1">
                <a:solidFill>
                  <a:srgbClr val="94896F"/>
                </a:solidFill>
                <a:latin typeface="IBM Plex Mono"/>
              </a:rPr>
              <a:t>déployée</a:t>
            </a:r>
            <a:r>
              <a:rPr sz="1200" b="0" dirty="0">
                <a:solidFill>
                  <a:srgbClr val="94896F"/>
                </a:solidFill>
                <a:latin typeface="IBM Plex Mono"/>
              </a:rPr>
              <a:t> </a:t>
            </a:r>
            <a:r>
              <a:rPr sz="1200" b="0" dirty="0" err="1">
                <a:solidFill>
                  <a:srgbClr val="94896F"/>
                </a:solidFill>
                <a:latin typeface="IBM Plex Mono"/>
              </a:rPr>
              <a:t>en</a:t>
            </a:r>
            <a:r>
              <a:rPr sz="1200" b="0" dirty="0">
                <a:solidFill>
                  <a:srgbClr val="94896F"/>
                </a:solidFill>
                <a:latin typeface="IBM Plex Mono"/>
              </a:rPr>
              <a:t> permanence.</a:t>
            </a:r>
          </a:p>
        </p:txBody>
      </p:sp>
      <p:sp>
        <p:nvSpPr>
          <p:cNvPr id="14" name="TextBox 13"/>
          <p:cNvSpPr txBox="1"/>
          <p:nvPr/>
        </p:nvSpPr>
        <p:spPr>
          <a:xfrm>
            <a:off x="640080" y="6446520"/>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a:solidFill>
                  <a:srgbClr val="94896F"/>
                </a:solidFill>
                <a:latin typeface="IBM Plex Mono"/>
              </a:rPr>
              <a:t>SAE4D01 DevCloud · Groupe 8 · URTADO P. / MALOT V.</a:t>
            </a:r>
          </a:p>
        </p:txBody>
      </p:sp>
      <p:sp>
        <p:nvSpPr>
          <p:cNvPr id="15" name="TextBox 14"/>
          <p:cNvSpPr txBox="1"/>
          <p:nvPr/>
        </p:nvSpPr>
        <p:spPr>
          <a:xfrm>
            <a:off x="10698480" y="6446520"/>
            <a:ext cx="91440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0">
                <a:solidFill>
                  <a:srgbClr val="94896F"/>
                </a:solidFill>
                <a:latin typeface="IBM Plex Mono"/>
              </a:rPr>
              <a:t>10</a:t>
            </a:r>
          </a:p>
        </p:txBody>
      </p:sp>
      <p:pic>
        <p:nvPicPr>
          <p:cNvPr id="16" name="Image 15">
            <a:extLst>
              <a:ext uri="{FF2B5EF4-FFF2-40B4-BE49-F238E27FC236}">
                <a16:creationId xmlns:a16="http://schemas.microsoft.com/office/drawing/2014/main" id="{3A2F83E5-2AD9-3F91-916E-9287B051557F}"/>
              </a:ext>
            </a:extLst>
          </p:cNvPr>
          <p:cNvPicPr>
            <a:picLocks noChangeAspect="1"/>
          </p:cNvPicPr>
          <p:nvPr/>
        </p:nvPicPr>
        <p:blipFill>
          <a:blip r:embed="rId3"/>
          <a:stretch>
            <a:fillRect/>
          </a:stretch>
        </p:blipFill>
        <p:spPr>
          <a:xfrm>
            <a:off x="624698" y="1572768"/>
            <a:ext cx="5919499" cy="36552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C0A07"/>
        </a:solidFill>
        <a:effectLst/>
      </p:bgPr>
    </p:bg>
    <p:spTree>
      <p:nvGrpSpPr>
        <p:cNvPr id="1" name=""/>
        <p:cNvGrpSpPr/>
        <p:nvPr/>
      </p:nvGrpSpPr>
      <p:grpSpPr>
        <a:xfrm>
          <a:off x="0" y="0"/>
          <a:ext cx="0" cy="0"/>
          <a:chOff x="0" y="0"/>
          <a:chExt cx="0" cy="0"/>
        </a:xfrm>
      </p:grpSpPr>
      <p:sp>
        <p:nvSpPr>
          <p:cNvPr id="2" name="Rectangle 1"/>
          <p:cNvSpPr/>
          <p:nvPr/>
        </p:nvSpPr>
        <p:spPr>
          <a:xfrm>
            <a:off x="640080" y="713232"/>
            <a:ext cx="502920"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10058400" cy="365760"/>
          </a:xfrm>
          <a:prstGeom prst="rect">
            <a:avLst/>
          </a:prstGeom>
          <a:noFill/>
        </p:spPr>
        <p:txBody>
          <a:bodyPr wrap="square" lIns="0" tIns="0" rIns="0" bIns="0" anchor="t">
            <a:spAutoFit/>
          </a:bodyPr>
          <a:lstStyle/>
          <a:p>
            <a:pPr algn="l">
              <a:lnSpc>
                <a:spcPct val="100000"/>
              </a:lnSpc>
              <a:spcBef>
                <a:spcPts val="0"/>
              </a:spcBef>
              <a:spcAft>
                <a:spcPts val="400"/>
              </a:spcAft>
            </a:pPr>
            <a:r>
              <a:rPr sz="1100" b="1">
                <a:solidFill>
                  <a:srgbClr val="FF5A1F"/>
                </a:solidFill>
                <a:latin typeface="IBM Plex Mono"/>
              </a:rPr>
              <a:t>03 · ARCHITECTURE</a:t>
            </a:r>
          </a:p>
        </p:txBody>
      </p:sp>
      <p:sp>
        <p:nvSpPr>
          <p:cNvPr id="4" name="TextBox 3"/>
          <p:cNvSpPr txBox="1"/>
          <p:nvPr/>
        </p:nvSpPr>
        <p:spPr>
          <a:xfrm>
            <a:off x="640080" y="777240"/>
            <a:ext cx="10789920" cy="822960"/>
          </a:xfrm>
          <a:prstGeom prst="rect">
            <a:avLst/>
          </a:prstGeom>
          <a:noFill/>
        </p:spPr>
        <p:txBody>
          <a:bodyPr wrap="square" lIns="0" tIns="0" rIns="0" bIns="0" anchor="t">
            <a:spAutoFit/>
          </a:bodyPr>
          <a:lstStyle/>
          <a:p>
            <a:pPr algn="l">
              <a:lnSpc>
                <a:spcPct val="100000"/>
              </a:lnSpc>
              <a:spcBef>
                <a:spcPts val="0"/>
              </a:spcBef>
              <a:spcAft>
                <a:spcPts val="400"/>
              </a:spcAft>
            </a:pPr>
            <a:r>
              <a:rPr sz="2800" b="1">
                <a:solidFill>
                  <a:srgbClr val="F4ECDD"/>
                </a:solidFill>
                <a:latin typeface="Syne"/>
              </a:rPr>
              <a:t>bleaf — du Cisco au FRR (EVPN impossible IOS-XE 17.4)</a:t>
            </a:r>
          </a:p>
        </p:txBody>
      </p:sp>
      <p:sp>
        <p:nvSpPr>
          <p:cNvPr id="5" name="Rectangle 4"/>
          <p:cNvSpPr/>
          <p:nvPr/>
        </p:nvSpPr>
        <p:spPr>
          <a:xfrm>
            <a:off x="640080" y="1417320"/>
            <a:ext cx="10908792" cy="12700"/>
          </a:xfrm>
          <a:prstGeom prst="rect">
            <a:avLst/>
          </a:prstGeom>
          <a:solidFill>
            <a:srgbClr val="3A3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646920" y="384048"/>
            <a:ext cx="1901952" cy="384048"/>
          </a:xfrm>
          <a:prstGeom prst="round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46920" y="457200"/>
            <a:ext cx="1901952" cy="274320"/>
          </a:xfrm>
          <a:prstGeom prst="rect">
            <a:avLst/>
          </a:prstGeom>
          <a:noFill/>
        </p:spPr>
        <p:txBody>
          <a:bodyPr wrap="square" lIns="0" tIns="0" rIns="0" bIns="0" anchor="t">
            <a:spAutoFit/>
          </a:bodyPr>
          <a:lstStyle/>
          <a:p>
            <a:pPr algn="ctr">
              <a:lnSpc>
                <a:spcPct val="100000"/>
              </a:lnSpc>
              <a:spcBef>
                <a:spcPts val="0"/>
              </a:spcBef>
              <a:spcAft>
                <a:spcPts val="400"/>
              </a:spcAft>
            </a:pPr>
            <a:r>
              <a:rPr sz="1200" b="1">
                <a:solidFill>
                  <a:srgbClr val="0C0A07"/>
                </a:solidFill>
                <a:latin typeface="IBM Plex Mono"/>
              </a:rPr>
              <a:t>● PIERRE</a:t>
            </a:r>
          </a:p>
        </p:txBody>
      </p:sp>
      <p:sp>
        <p:nvSpPr>
          <p:cNvPr id="8" name="Rectangle 7"/>
          <p:cNvSpPr/>
          <p:nvPr/>
        </p:nvSpPr>
        <p:spPr>
          <a:xfrm>
            <a:off x="2089403" y="1527048"/>
            <a:ext cx="7960684" cy="2573189"/>
          </a:xfrm>
          <a:prstGeom prst="rect">
            <a:avLst/>
          </a:prstGeom>
          <a:solidFill>
            <a:srgbClr val="16120C"/>
          </a:solidFill>
          <a:ln w="19050">
            <a:solidFill>
              <a:srgbClr val="FF5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6424" y="4273803"/>
            <a:ext cx="11976100" cy="169277"/>
          </a:xfrm>
          <a:prstGeom prst="rect">
            <a:avLst/>
          </a:prstGeom>
          <a:noFill/>
        </p:spPr>
        <p:txBody>
          <a:bodyPr wrap="square" lIns="0" tIns="0" rIns="0" bIns="0" anchor="t">
            <a:spAutoFit/>
          </a:bodyPr>
          <a:lstStyle/>
          <a:p>
            <a:pPr algn="l">
              <a:lnSpc>
                <a:spcPct val="100000"/>
              </a:lnSpc>
              <a:spcBef>
                <a:spcPts val="0"/>
              </a:spcBef>
              <a:spcAft>
                <a:spcPts val="400"/>
              </a:spcAft>
            </a:pPr>
            <a:r>
              <a:rPr sz="1100" b="0" dirty="0">
                <a:solidFill>
                  <a:srgbClr val="94896F"/>
                </a:solidFill>
                <a:latin typeface="IBM Plex Mono"/>
              </a:rPr>
              <a:t>Wireshark eth3 </a:t>
            </a:r>
            <a:r>
              <a:rPr sz="1100" b="0" dirty="0" err="1">
                <a:solidFill>
                  <a:srgbClr val="94896F"/>
                </a:solidFill>
                <a:latin typeface="IBM Plex Mono"/>
              </a:rPr>
              <a:t>bleaf</a:t>
            </a:r>
            <a:r>
              <a:rPr sz="1100" b="0" dirty="0">
                <a:solidFill>
                  <a:srgbClr val="94896F"/>
                </a:solidFill>
                <a:latin typeface="IBM Plex Mono"/>
              </a:rPr>
              <a:t> : UDP 4789 · VNI 560100 · inner ICMP 172.16.30.253 → 172.16.30.1</a:t>
            </a:r>
            <a:r>
              <a:rPr lang="fr-FR" sz="1100" b="0" dirty="0">
                <a:solidFill>
                  <a:srgbClr val="94896F"/>
                </a:solidFill>
                <a:latin typeface="IBM Plex Mono"/>
              </a:rPr>
              <a:t>. </a:t>
            </a:r>
            <a:r>
              <a:rPr sz="1100" b="0" dirty="0">
                <a:solidFill>
                  <a:srgbClr val="94896F"/>
                </a:solidFill>
                <a:latin typeface="IBM Plex Mono"/>
              </a:rPr>
              <a:t>VTEP </a:t>
            </a:r>
            <a:r>
              <a:rPr sz="1100" b="0" dirty="0" err="1">
                <a:solidFill>
                  <a:srgbClr val="94896F"/>
                </a:solidFill>
                <a:latin typeface="IBM Plex Mono"/>
              </a:rPr>
              <a:t>src</a:t>
            </a:r>
            <a:r>
              <a:rPr sz="1100" b="0" dirty="0">
                <a:solidFill>
                  <a:srgbClr val="94896F"/>
                </a:solidFill>
                <a:latin typeface="IBM Plex Mono"/>
              </a:rPr>
              <a:t> 10.202.8.253 → </a:t>
            </a:r>
            <a:r>
              <a:rPr sz="1100" b="0" dirty="0" err="1">
                <a:solidFill>
                  <a:srgbClr val="94896F"/>
                </a:solidFill>
                <a:latin typeface="IBM Plex Mono"/>
              </a:rPr>
              <a:t>dst</a:t>
            </a:r>
            <a:r>
              <a:rPr sz="1100" b="0" dirty="0">
                <a:solidFill>
                  <a:srgbClr val="94896F"/>
                </a:solidFill>
                <a:latin typeface="IBM Plex Mono"/>
              </a:rPr>
              <a:t> 10.0.0.1.</a:t>
            </a:r>
          </a:p>
        </p:txBody>
      </p:sp>
      <p:sp>
        <p:nvSpPr>
          <p:cNvPr id="11" name="Rounded Rectangle 10"/>
          <p:cNvSpPr/>
          <p:nvPr/>
        </p:nvSpPr>
        <p:spPr>
          <a:xfrm>
            <a:off x="640080" y="4663440"/>
            <a:ext cx="5349240" cy="1417320"/>
          </a:xfrm>
          <a:prstGeom prst="roundRect">
            <a:avLst/>
          </a:prstGeom>
          <a:solidFill>
            <a:srgbClr val="120F0A"/>
          </a:solidFill>
          <a:ln w="19050">
            <a:solidFill>
              <a:srgbClr val="E53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40080" y="4663440"/>
            <a:ext cx="63500" cy="1417320"/>
          </a:xfrm>
          <a:prstGeom prst="rect">
            <a:avLst/>
          </a:prstGeom>
          <a:solidFill>
            <a:srgbClr val="E5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1247" y="4773168"/>
            <a:ext cx="4937760" cy="320040"/>
          </a:xfrm>
          <a:prstGeom prst="rect">
            <a:avLst/>
          </a:prstGeom>
          <a:noFill/>
        </p:spPr>
        <p:txBody>
          <a:bodyPr wrap="square" lIns="0" tIns="0" rIns="0" bIns="0" anchor="t">
            <a:spAutoFit/>
          </a:bodyPr>
          <a:lstStyle/>
          <a:p>
            <a:pPr algn="l">
              <a:lnSpc>
                <a:spcPct val="100000"/>
              </a:lnSpc>
              <a:spcBef>
                <a:spcPts val="0"/>
              </a:spcBef>
              <a:spcAft>
                <a:spcPts val="400"/>
              </a:spcAft>
            </a:pPr>
            <a:r>
              <a:rPr sz="1100" b="1">
                <a:solidFill>
                  <a:srgbClr val="E53E3E"/>
                </a:solidFill>
                <a:latin typeface="IBM Plex Mono"/>
              </a:rPr>
              <a:t>CISCO ÉCARTÉ</a:t>
            </a:r>
          </a:p>
        </p:txBody>
      </p:sp>
      <p:sp>
        <p:nvSpPr>
          <p:cNvPr id="14" name="TextBox 13"/>
          <p:cNvSpPr txBox="1"/>
          <p:nvPr/>
        </p:nvSpPr>
        <p:spPr>
          <a:xfrm>
            <a:off x="841247" y="5166360"/>
            <a:ext cx="4937760" cy="822960"/>
          </a:xfrm>
          <a:prstGeom prst="rect">
            <a:avLst/>
          </a:prstGeom>
          <a:noFill/>
        </p:spPr>
        <p:txBody>
          <a:bodyPr wrap="square" lIns="0" tIns="0" rIns="0" bIns="0" anchor="t">
            <a:spAutoFit/>
          </a:bodyPr>
          <a:lstStyle/>
          <a:p>
            <a:pPr algn="l">
              <a:lnSpc>
                <a:spcPct val="110000"/>
              </a:lnSpc>
              <a:spcBef>
                <a:spcPts val="0"/>
              </a:spcBef>
              <a:spcAft>
                <a:spcPts val="400"/>
              </a:spcAft>
            </a:pPr>
            <a:r>
              <a:rPr sz="1200" b="0" dirty="0">
                <a:solidFill>
                  <a:srgbClr val="CFC4AD"/>
                </a:solidFill>
                <a:latin typeface="Newsreader Medium"/>
              </a:rPr>
              <a:t>IOS-XE 17.4.1a → address-family l2vpn </a:t>
            </a:r>
            <a:r>
              <a:rPr sz="1200" b="0" dirty="0" err="1">
                <a:solidFill>
                  <a:srgbClr val="CFC4AD"/>
                </a:solidFill>
                <a:latin typeface="Newsreader Medium"/>
              </a:rPr>
              <a:t>evpn</a:t>
            </a:r>
            <a:r>
              <a:rPr sz="1200" b="0" dirty="0">
                <a:solidFill>
                  <a:srgbClr val="CFC4AD"/>
                </a:solidFill>
                <a:latin typeface="Newsreader Medium"/>
              </a:rPr>
              <a:t> → % BGP: Error initializing topology. EVPN non </a:t>
            </a:r>
            <a:r>
              <a:rPr sz="1200" b="0" dirty="0" err="1">
                <a:solidFill>
                  <a:srgbClr val="CFC4AD"/>
                </a:solidFill>
                <a:latin typeface="Newsreader Medium"/>
              </a:rPr>
              <a:t>supporté</a:t>
            </a:r>
            <a:r>
              <a:rPr sz="1200" b="0" dirty="0">
                <a:solidFill>
                  <a:srgbClr val="CFC4AD"/>
                </a:solidFill>
                <a:latin typeface="Newsreader Medium"/>
              </a:rPr>
              <a:t> sans </a:t>
            </a:r>
            <a:r>
              <a:rPr sz="1200" b="0" dirty="0" err="1">
                <a:solidFill>
                  <a:srgbClr val="CFC4AD"/>
                </a:solidFill>
                <a:latin typeface="Newsreader Medium"/>
              </a:rPr>
              <a:t>licence</a:t>
            </a:r>
            <a:r>
              <a:rPr sz="1200" b="0" dirty="0">
                <a:solidFill>
                  <a:srgbClr val="CFC4AD"/>
                </a:solidFill>
                <a:latin typeface="Newsreader Medium"/>
              </a:rPr>
              <a:t> Enterprise.</a:t>
            </a:r>
          </a:p>
        </p:txBody>
      </p:sp>
      <p:sp>
        <p:nvSpPr>
          <p:cNvPr id="15" name="Rounded Rectangle 14"/>
          <p:cNvSpPr/>
          <p:nvPr/>
        </p:nvSpPr>
        <p:spPr>
          <a:xfrm>
            <a:off x="6172200" y="4663440"/>
            <a:ext cx="5349240" cy="1417320"/>
          </a:xfrm>
          <a:prstGeom prst="roundRect">
            <a:avLst/>
          </a:prstGeom>
          <a:solidFill>
            <a:srgbClr val="120F0A"/>
          </a:solidFill>
          <a:ln w="19050">
            <a:solidFill>
              <a:srgbClr val="52D2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72200" y="4663440"/>
            <a:ext cx="63500" cy="1417320"/>
          </a:xfrm>
          <a:prstGeom prst="rect">
            <a:avLst/>
          </a:prstGeom>
          <a:solidFill>
            <a:srgbClr val="52D2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73368" y="4773168"/>
            <a:ext cx="4937760" cy="320040"/>
          </a:xfrm>
          <a:prstGeom prst="rect">
            <a:avLst/>
          </a:prstGeom>
          <a:noFill/>
        </p:spPr>
        <p:txBody>
          <a:bodyPr wrap="square" lIns="0" tIns="0" rIns="0" bIns="0" anchor="t">
            <a:spAutoFit/>
          </a:bodyPr>
          <a:lstStyle/>
          <a:p>
            <a:pPr algn="l">
              <a:lnSpc>
                <a:spcPct val="100000"/>
              </a:lnSpc>
              <a:spcBef>
                <a:spcPts val="0"/>
              </a:spcBef>
              <a:spcAft>
                <a:spcPts val="400"/>
              </a:spcAft>
            </a:pPr>
            <a:r>
              <a:rPr sz="1100" b="1">
                <a:solidFill>
                  <a:srgbClr val="52D273"/>
                </a:solidFill>
                <a:latin typeface="IBM Plex Mono"/>
              </a:rPr>
              <a:t>FRR CONTAINER</a:t>
            </a:r>
          </a:p>
        </p:txBody>
      </p:sp>
      <p:sp>
        <p:nvSpPr>
          <p:cNvPr id="18" name="TextBox 17"/>
          <p:cNvSpPr txBox="1"/>
          <p:nvPr/>
        </p:nvSpPr>
        <p:spPr>
          <a:xfrm>
            <a:off x="6373368" y="5166360"/>
            <a:ext cx="4937760" cy="822960"/>
          </a:xfrm>
          <a:prstGeom prst="rect">
            <a:avLst/>
          </a:prstGeom>
          <a:noFill/>
        </p:spPr>
        <p:txBody>
          <a:bodyPr wrap="square" lIns="0" tIns="0" rIns="0" bIns="0" anchor="t">
            <a:spAutoFit/>
          </a:bodyPr>
          <a:lstStyle/>
          <a:p>
            <a:pPr algn="l">
              <a:lnSpc>
                <a:spcPct val="110000"/>
              </a:lnSpc>
              <a:spcBef>
                <a:spcPts val="0"/>
              </a:spcBef>
              <a:spcAft>
                <a:spcPts val="400"/>
              </a:spcAft>
            </a:pPr>
            <a:r>
              <a:rPr sz="1200" b="0" dirty="0">
                <a:solidFill>
                  <a:srgbClr val="CFC4AD"/>
                </a:solidFill>
                <a:latin typeface="Newsreader Medium"/>
              </a:rPr>
              <a:t>FRR 10.6.1 dans </a:t>
            </a:r>
            <a:r>
              <a:rPr sz="1200" b="0" dirty="0" err="1">
                <a:solidFill>
                  <a:srgbClr val="CFC4AD"/>
                </a:solidFill>
                <a:latin typeface="Newsreader Medium"/>
              </a:rPr>
              <a:t>containerlab</a:t>
            </a:r>
            <a:r>
              <a:rPr sz="1200" b="0" dirty="0">
                <a:solidFill>
                  <a:srgbClr val="CFC4AD"/>
                </a:solidFill>
                <a:latin typeface="Newsreader Medium"/>
              </a:rPr>
              <a:t> </a:t>
            </a:r>
            <a:r>
              <a:rPr sz="1200" b="0" dirty="0" err="1">
                <a:solidFill>
                  <a:srgbClr val="CFC4AD"/>
                </a:solidFill>
                <a:latin typeface="Newsreader Medium"/>
              </a:rPr>
              <a:t>supporte</a:t>
            </a:r>
            <a:r>
              <a:rPr sz="1200" b="0" dirty="0">
                <a:solidFill>
                  <a:srgbClr val="CFC4AD"/>
                </a:solidFill>
                <a:latin typeface="Newsreader Medium"/>
              </a:rPr>
              <a:t> EVPN </a:t>
            </a:r>
            <a:r>
              <a:rPr sz="1200" b="0" dirty="0" err="1">
                <a:solidFill>
                  <a:srgbClr val="CFC4AD"/>
                </a:solidFill>
                <a:latin typeface="Newsreader Medium"/>
              </a:rPr>
              <a:t>nativement</a:t>
            </a:r>
            <a:r>
              <a:rPr sz="1200" b="0" dirty="0">
                <a:solidFill>
                  <a:srgbClr val="CFC4AD"/>
                </a:solidFill>
                <a:latin typeface="Newsreader Medium"/>
              </a:rPr>
              <a:t>. </a:t>
            </a:r>
            <a:r>
              <a:rPr sz="1200" b="0" dirty="0" err="1">
                <a:solidFill>
                  <a:srgbClr val="CFC4AD"/>
                </a:solidFill>
                <a:latin typeface="Newsreader Medium"/>
              </a:rPr>
              <a:t>Récupère</a:t>
            </a:r>
            <a:r>
              <a:rPr sz="1200" b="0" dirty="0">
                <a:solidFill>
                  <a:srgbClr val="CFC4AD"/>
                </a:solidFill>
                <a:latin typeface="Newsreader Medium"/>
              </a:rPr>
              <a:t> </a:t>
            </a:r>
            <a:r>
              <a:rPr sz="1200" b="0" dirty="0" err="1">
                <a:solidFill>
                  <a:srgbClr val="CFC4AD"/>
                </a:solidFill>
                <a:latin typeface="Newsreader Medium"/>
              </a:rPr>
              <a:t>l'IP</a:t>
            </a:r>
            <a:r>
              <a:rPr sz="1200" b="0" dirty="0">
                <a:solidFill>
                  <a:srgbClr val="CFC4AD"/>
                </a:solidFill>
                <a:latin typeface="Newsreader Medium"/>
              </a:rPr>
              <a:t> 10.202.8.253 du Cisco → pairs campus </a:t>
            </a:r>
            <a:r>
              <a:rPr sz="1200" b="0" dirty="0" err="1">
                <a:solidFill>
                  <a:srgbClr val="CFC4AD"/>
                </a:solidFill>
                <a:latin typeface="Newsreader Medium"/>
              </a:rPr>
              <a:t>reconnectent</a:t>
            </a:r>
            <a:r>
              <a:rPr sz="1200" b="0" dirty="0">
                <a:solidFill>
                  <a:srgbClr val="CFC4AD"/>
                </a:solidFill>
                <a:latin typeface="Newsreader Medium"/>
              </a:rPr>
              <a:t> sans </a:t>
            </a:r>
            <a:r>
              <a:rPr sz="1200" b="0" dirty="0" err="1">
                <a:solidFill>
                  <a:srgbClr val="CFC4AD"/>
                </a:solidFill>
                <a:latin typeface="Newsreader Medium"/>
              </a:rPr>
              <a:t>reconfig</a:t>
            </a:r>
            <a:r>
              <a:rPr sz="1200" b="0" dirty="0">
                <a:solidFill>
                  <a:srgbClr val="CFC4AD"/>
                </a:solidFill>
                <a:latin typeface="Newsreader Medium"/>
              </a:rPr>
              <a:t>.</a:t>
            </a:r>
          </a:p>
        </p:txBody>
      </p:sp>
      <p:sp>
        <p:nvSpPr>
          <p:cNvPr id="19" name="TextBox 18"/>
          <p:cNvSpPr txBox="1"/>
          <p:nvPr/>
        </p:nvSpPr>
        <p:spPr>
          <a:xfrm>
            <a:off x="640080" y="6446520"/>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a:solidFill>
                  <a:srgbClr val="94896F"/>
                </a:solidFill>
                <a:latin typeface="IBM Plex Mono"/>
              </a:rPr>
              <a:t>SAE4D01 DevCloud · Groupe 8 · URTADO P. / MALOT V.</a:t>
            </a:r>
          </a:p>
        </p:txBody>
      </p:sp>
      <p:sp>
        <p:nvSpPr>
          <p:cNvPr id="20" name="TextBox 19"/>
          <p:cNvSpPr txBox="1"/>
          <p:nvPr/>
        </p:nvSpPr>
        <p:spPr>
          <a:xfrm>
            <a:off x="10698480" y="6446520"/>
            <a:ext cx="91440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0">
                <a:solidFill>
                  <a:srgbClr val="94896F"/>
                </a:solidFill>
                <a:latin typeface="IBM Plex Mono"/>
              </a:rPr>
              <a:t>15</a:t>
            </a:r>
          </a:p>
        </p:txBody>
      </p:sp>
      <p:pic>
        <p:nvPicPr>
          <p:cNvPr id="21" name="Image 20">
            <a:extLst>
              <a:ext uri="{FF2B5EF4-FFF2-40B4-BE49-F238E27FC236}">
                <a16:creationId xmlns:a16="http://schemas.microsoft.com/office/drawing/2014/main" id="{FD7721E5-17BF-9580-2FDC-FE9AE9AA547F}"/>
              </a:ext>
            </a:extLst>
          </p:cNvPr>
          <p:cNvPicPr>
            <a:picLocks noChangeAspect="1"/>
          </p:cNvPicPr>
          <p:nvPr/>
        </p:nvPicPr>
        <p:blipFill>
          <a:blip r:embed="rId3"/>
          <a:stretch>
            <a:fillRect/>
          </a:stretch>
        </p:blipFill>
        <p:spPr>
          <a:xfrm>
            <a:off x="2208274" y="1600200"/>
            <a:ext cx="7772400" cy="239916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C0A07"/>
        </a:solidFill>
        <a:effectLst/>
      </p:bgPr>
    </p:bg>
    <p:spTree>
      <p:nvGrpSpPr>
        <p:cNvPr id="1" name=""/>
        <p:cNvGrpSpPr/>
        <p:nvPr/>
      </p:nvGrpSpPr>
      <p:grpSpPr>
        <a:xfrm>
          <a:off x="0" y="0"/>
          <a:ext cx="0" cy="0"/>
          <a:chOff x="0" y="0"/>
          <a:chExt cx="0" cy="0"/>
        </a:xfrm>
      </p:grpSpPr>
      <p:sp>
        <p:nvSpPr>
          <p:cNvPr id="2" name="Rectangle 1"/>
          <p:cNvSpPr/>
          <p:nvPr/>
        </p:nvSpPr>
        <p:spPr>
          <a:xfrm>
            <a:off x="640080" y="713232"/>
            <a:ext cx="502920"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10058400" cy="169277"/>
          </a:xfrm>
          <a:prstGeom prst="rect">
            <a:avLst/>
          </a:prstGeom>
          <a:noFill/>
        </p:spPr>
        <p:txBody>
          <a:bodyPr wrap="square" lIns="0" tIns="0" rIns="0" bIns="0" anchor="t">
            <a:spAutoFit/>
          </a:bodyPr>
          <a:lstStyle/>
          <a:p>
            <a:pPr algn="l">
              <a:lnSpc>
                <a:spcPct val="100000"/>
              </a:lnSpc>
              <a:spcBef>
                <a:spcPts val="0"/>
              </a:spcBef>
              <a:spcAft>
                <a:spcPts val="400"/>
              </a:spcAft>
            </a:pPr>
            <a:r>
              <a:rPr lang="fr-FR" sz="1100" b="1" dirty="0">
                <a:solidFill>
                  <a:srgbClr val="FF5A1F"/>
                </a:solidFill>
                <a:latin typeface="IBM Plex Mono"/>
              </a:rPr>
              <a:t>12</a:t>
            </a:r>
            <a:r>
              <a:rPr sz="1100" b="1" dirty="0">
                <a:solidFill>
                  <a:srgbClr val="FF5A1F"/>
                </a:solidFill>
                <a:latin typeface="IBM Plex Mono"/>
              </a:rPr>
              <a:t> · OBSERVABILITÉ</a:t>
            </a:r>
          </a:p>
        </p:txBody>
      </p:sp>
      <p:sp>
        <p:nvSpPr>
          <p:cNvPr id="4" name="TextBox 3"/>
          <p:cNvSpPr txBox="1"/>
          <p:nvPr/>
        </p:nvSpPr>
        <p:spPr>
          <a:xfrm>
            <a:off x="640080" y="777240"/>
            <a:ext cx="10789920" cy="822960"/>
          </a:xfrm>
          <a:prstGeom prst="rect">
            <a:avLst/>
          </a:prstGeom>
          <a:noFill/>
        </p:spPr>
        <p:txBody>
          <a:bodyPr wrap="square" lIns="0" tIns="0" rIns="0" bIns="0" anchor="t">
            <a:spAutoFit/>
          </a:bodyPr>
          <a:lstStyle/>
          <a:p>
            <a:pPr algn="l">
              <a:lnSpc>
                <a:spcPct val="100000"/>
              </a:lnSpc>
              <a:spcBef>
                <a:spcPts val="0"/>
              </a:spcBef>
              <a:spcAft>
                <a:spcPts val="400"/>
              </a:spcAft>
            </a:pPr>
            <a:r>
              <a:rPr sz="2800" b="1">
                <a:solidFill>
                  <a:srgbClr val="F4ECDD"/>
                </a:solidFill>
                <a:latin typeface="Syne"/>
              </a:rPr>
              <a:t>Observabilité Pierre — exporter maison + Grafana</a:t>
            </a:r>
          </a:p>
        </p:txBody>
      </p:sp>
      <p:sp>
        <p:nvSpPr>
          <p:cNvPr id="5" name="Rectangle 4"/>
          <p:cNvSpPr/>
          <p:nvPr/>
        </p:nvSpPr>
        <p:spPr>
          <a:xfrm>
            <a:off x="640080" y="1417320"/>
            <a:ext cx="10908792" cy="12700"/>
          </a:xfrm>
          <a:prstGeom prst="rect">
            <a:avLst/>
          </a:prstGeom>
          <a:solidFill>
            <a:srgbClr val="3A3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646920" y="384048"/>
            <a:ext cx="1901952" cy="384048"/>
          </a:xfrm>
          <a:prstGeom prst="round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46920" y="457200"/>
            <a:ext cx="1901952" cy="274320"/>
          </a:xfrm>
          <a:prstGeom prst="rect">
            <a:avLst/>
          </a:prstGeom>
          <a:noFill/>
        </p:spPr>
        <p:txBody>
          <a:bodyPr wrap="square" lIns="0" tIns="0" rIns="0" bIns="0" anchor="t">
            <a:spAutoFit/>
          </a:bodyPr>
          <a:lstStyle/>
          <a:p>
            <a:pPr algn="ctr">
              <a:lnSpc>
                <a:spcPct val="100000"/>
              </a:lnSpc>
              <a:spcBef>
                <a:spcPts val="0"/>
              </a:spcBef>
              <a:spcAft>
                <a:spcPts val="400"/>
              </a:spcAft>
            </a:pPr>
            <a:r>
              <a:rPr sz="1200" b="1">
                <a:solidFill>
                  <a:srgbClr val="0C0A07"/>
                </a:solidFill>
                <a:latin typeface="IBM Plex Mono"/>
              </a:rPr>
              <a:t>● PIERRE</a:t>
            </a:r>
          </a:p>
        </p:txBody>
      </p:sp>
      <p:sp>
        <p:nvSpPr>
          <p:cNvPr id="8" name="Rectangle 7"/>
          <p:cNvSpPr/>
          <p:nvPr/>
        </p:nvSpPr>
        <p:spPr>
          <a:xfrm>
            <a:off x="3736730" y="1591056"/>
            <a:ext cx="4715490" cy="2084832"/>
          </a:xfrm>
          <a:prstGeom prst="rect">
            <a:avLst/>
          </a:prstGeom>
          <a:solidFill>
            <a:srgbClr val="16120C"/>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gf-live.png"/>
          <p:cNvPicPr>
            <a:picLocks noChangeAspect="1"/>
          </p:cNvPicPr>
          <p:nvPr/>
        </p:nvPicPr>
        <p:blipFill>
          <a:blip r:embed="rId3"/>
          <a:stretch>
            <a:fillRect/>
          </a:stretch>
        </p:blipFill>
        <p:spPr>
          <a:xfrm>
            <a:off x="3773306" y="1627632"/>
            <a:ext cx="4642338" cy="2011680"/>
          </a:xfrm>
          <a:prstGeom prst="rect">
            <a:avLst/>
          </a:prstGeom>
        </p:spPr>
      </p:pic>
      <p:sp>
        <p:nvSpPr>
          <p:cNvPr id="10" name="TextBox 9"/>
          <p:cNvSpPr txBox="1"/>
          <p:nvPr/>
        </p:nvSpPr>
        <p:spPr>
          <a:xfrm>
            <a:off x="640080" y="3712464"/>
            <a:ext cx="10908792" cy="256032"/>
          </a:xfrm>
          <a:prstGeom prst="rect">
            <a:avLst/>
          </a:prstGeom>
          <a:noFill/>
        </p:spPr>
        <p:txBody>
          <a:bodyPr wrap="square" lIns="0" tIns="0" rIns="0" bIns="0" anchor="t">
            <a:spAutoFit/>
          </a:bodyPr>
          <a:lstStyle/>
          <a:p>
            <a:pPr algn="ctr">
              <a:lnSpc>
                <a:spcPct val="100000"/>
              </a:lnSpc>
              <a:spcBef>
                <a:spcPts val="0"/>
              </a:spcBef>
              <a:spcAft>
                <a:spcPts val="400"/>
              </a:spcAft>
            </a:pPr>
            <a:r>
              <a:rPr sz="1100" b="0">
                <a:solidFill>
                  <a:srgbClr val="94896F"/>
                </a:solidFill>
                <a:latin typeface="Newsreader Medium"/>
              </a:rPr>
              <a:t>Trafic live par techno (eBGP/iBGP/OSPF/mixed) pendant les runs iperf3.</a:t>
            </a:r>
          </a:p>
        </p:txBody>
      </p:sp>
      <p:sp>
        <p:nvSpPr>
          <p:cNvPr id="11" name="Rectangle 10"/>
          <p:cNvSpPr/>
          <p:nvPr/>
        </p:nvSpPr>
        <p:spPr>
          <a:xfrm>
            <a:off x="3002145" y="4059936"/>
            <a:ext cx="6252196" cy="2084832"/>
          </a:xfrm>
          <a:prstGeom prst="rect">
            <a:avLst/>
          </a:prstGeom>
          <a:solidFill>
            <a:srgbClr val="16120C"/>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6181344"/>
            <a:ext cx="10908792" cy="169277"/>
          </a:xfrm>
          <a:prstGeom prst="rect">
            <a:avLst/>
          </a:prstGeom>
          <a:noFill/>
        </p:spPr>
        <p:txBody>
          <a:bodyPr wrap="square" lIns="0" tIns="0" rIns="0" bIns="0" anchor="t">
            <a:spAutoFit/>
          </a:bodyPr>
          <a:lstStyle/>
          <a:p>
            <a:pPr algn="ctr">
              <a:lnSpc>
                <a:spcPct val="100000"/>
              </a:lnSpc>
              <a:spcBef>
                <a:spcPts val="0"/>
              </a:spcBef>
              <a:spcAft>
                <a:spcPts val="400"/>
              </a:spcAft>
            </a:pPr>
            <a:r>
              <a:rPr lang="fr-FR" sz="1100" dirty="0">
                <a:solidFill>
                  <a:srgbClr val="94896F"/>
                </a:solidFill>
                <a:latin typeface="Newsreader Medium"/>
              </a:rPr>
              <a:t>Bench de stabilité des différent type de routage</a:t>
            </a:r>
            <a:endParaRPr sz="1100" b="0" dirty="0">
              <a:solidFill>
                <a:srgbClr val="94896F"/>
              </a:solidFill>
              <a:latin typeface="Newsreader Medium"/>
            </a:endParaRPr>
          </a:p>
        </p:txBody>
      </p:sp>
      <p:sp>
        <p:nvSpPr>
          <p:cNvPr id="14" name="TextBox 13"/>
          <p:cNvSpPr txBox="1"/>
          <p:nvPr/>
        </p:nvSpPr>
        <p:spPr>
          <a:xfrm>
            <a:off x="640080" y="6616700"/>
            <a:ext cx="10908792" cy="502920"/>
          </a:xfrm>
          <a:prstGeom prst="rect">
            <a:avLst/>
          </a:prstGeom>
          <a:noFill/>
        </p:spPr>
        <p:txBody>
          <a:bodyPr wrap="square" lIns="0" tIns="0" rIns="0" bIns="0" anchor="t">
            <a:spAutoFit/>
          </a:bodyPr>
          <a:lstStyle/>
          <a:p>
            <a:pPr algn="l">
              <a:lnSpc>
                <a:spcPct val="100000"/>
              </a:lnSpc>
              <a:spcBef>
                <a:spcPts val="0"/>
              </a:spcBef>
              <a:spcAft>
                <a:spcPts val="400"/>
              </a:spcAft>
            </a:pPr>
            <a:r>
              <a:rPr sz="1150" b="1" dirty="0">
                <a:solidFill>
                  <a:srgbClr val="FF5A1F"/>
                </a:solidFill>
                <a:latin typeface="Newsreader ExtraBold"/>
              </a:rPr>
              <a:t>Exporter maison : </a:t>
            </a:r>
            <a:r>
              <a:rPr sz="1150" b="0" dirty="0" err="1">
                <a:solidFill>
                  <a:srgbClr val="CFC4AD"/>
                </a:solidFill>
                <a:latin typeface="Newsreader Medium"/>
              </a:rPr>
              <a:t>cAdvisor</a:t>
            </a:r>
            <a:r>
              <a:rPr sz="1150" b="0" dirty="0">
                <a:solidFill>
                  <a:srgbClr val="CFC4AD"/>
                </a:solidFill>
                <a:latin typeface="Newsreader Medium"/>
              </a:rPr>
              <a:t> </a:t>
            </a:r>
            <a:r>
              <a:rPr sz="1150" b="0" dirty="0" err="1">
                <a:solidFill>
                  <a:srgbClr val="CFC4AD"/>
                </a:solidFill>
                <a:latin typeface="Newsreader Medium"/>
              </a:rPr>
              <a:t>échoue</a:t>
            </a:r>
            <a:r>
              <a:rPr sz="1150" b="0" dirty="0">
                <a:solidFill>
                  <a:srgbClr val="CFC4AD"/>
                </a:solidFill>
                <a:latin typeface="Newsreader Medium"/>
              </a:rPr>
              <a:t> (overlay2/</a:t>
            </a:r>
            <a:r>
              <a:rPr sz="1150" b="0" dirty="0" err="1">
                <a:solidFill>
                  <a:srgbClr val="CFC4AD"/>
                </a:solidFill>
                <a:latin typeface="Newsreader Medium"/>
              </a:rPr>
              <a:t>cgroup</a:t>
            </a:r>
            <a:r>
              <a:rPr sz="1150" b="0" dirty="0">
                <a:solidFill>
                  <a:srgbClr val="CFC4AD"/>
                </a:solidFill>
                <a:latin typeface="Newsreader Medium"/>
              </a:rPr>
              <a:t> v2). Fix : </a:t>
            </a:r>
            <a:r>
              <a:rPr sz="1150" b="0" dirty="0" err="1">
                <a:solidFill>
                  <a:srgbClr val="CFC4AD"/>
                </a:solidFill>
                <a:latin typeface="Newsreader Medium"/>
              </a:rPr>
              <a:t>clab_exporter.py</a:t>
            </a:r>
            <a:r>
              <a:rPr sz="1150" b="0" dirty="0">
                <a:solidFill>
                  <a:srgbClr val="CFC4AD"/>
                </a:solidFill>
                <a:latin typeface="Newsreader Medium"/>
              </a:rPr>
              <a:t> (</a:t>
            </a:r>
            <a:r>
              <a:rPr sz="1150" b="0" dirty="0" err="1">
                <a:solidFill>
                  <a:srgbClr val="CFC4AD"/>
                </a:solidFill>
                <a:latin typeface="Newsreader Medium"/>
              </a:rPr>
              <a:t>nsenter</a:t>
            </a:r>
            <a:r>
              <a:rPr sz="1150" b="0" dirty="0">
                <a:solidFill>
                  <a:srgbClr val="CFC4AD"/>
                </a:solidFill>
                <a:latin typeface="Newsreader Medium"/>
              </a:rPr>
              <a:t> /proc/net/dev par </a:t>
            </a:r>
            <a:r>
              <a:rPr sz="1150" b="0" dirty="0" err="1">
                <a:solidFill>
                  <a:srgbClr val="CFC4AD"/>
                </a:solidFill>
                <a:latin typeface="Newsreader Medium"/>
              </a:rPr>
              <a:t>conteneur</a:t>
            </a:r>
            <a:r>
              <a:rPr sz="1150" b="0" dirty="0">
                <a:solidFill>
                  <a:srgbClr val="CFC4AD"/>
                </a:solidFill>
                <a:latin typeface="Newsreader Medium"/>
              </a:rPr>
              <a:t>).</a:t>
            </a:r>
          </a:p>
        </p:txBody>
      </p:sp>
      <p:sp>
        <p:nvSpPr>
          <p:cNvPr id="15" name="TextBox 14"/>
          <p:cNvSpPr txBox="1"/>
          <p:nvPr/>
        </p:nvSpPr>
        <p:spPr>
          <a:xfrm>
            <a:off x="640080" y="6446520"/>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a:solidFill>
                  <a:srgbClr val="94896F"/>
                </a:solidFill>
                <a:latin typeface="IBM Plex Mono"/>
              </a:rPr>
              <a:t>SAE4D01 DevCloud · Groupe 8 · URTADO P. / MALOT V.</a:t>
            </a:r>
          </a:p>
        </p:txBody>
      </p:sp>
      <p:sp>
        <p:nvSpPr>
          <p:cNvPr id="16" name="TextBox 15"/>
          <p:cNvSpPr txBox="1"/>
          <p:nvPr/>
        </p:nvSpPr>
        <p:spPr>
          <a:xfrm>
            <a:off x="10698480" y="6446520"/>
            <a:ext cx="91440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0">
                <a:solidFill>
                  <a:srgbClr val="94896F"/>
                </a:solidFill>
                <a:latin typeface="IBM Plex Mono"/>
              </a:rPr>
              <a:t>13</a:t>
            </a:r>
          </a:p>
        </p:txBody>
      </p:sp>
      <p:pic>
        <p:nvPicPr>
          <p:cNvPr id="17" name="Image 16">
            <a:extLst>
              <a:ext uri="{FF2B5EF4-FFF2-40B4-BE49-F238E27FC236}">
                <a16:creationId xmlns:a16="http://schemas.microsoft.com/office/drawing/2014/main" id="{39E14378-B29A-180D-2E2C-66EDA59F3F38}"/>
              </a:ext>
            </a:extLst>
          </p:cNvPr>
          <p:cNvPicPr>
            <a:picLocks noChangeAspect="1"/>
          </p:cNvPicPr>
          <p:nvPr/>
        </p:nvPicPr>
        <p:blipFill>
          <a:blip r:embed="rId4"/>
          <a:stretch>
            <a:fillRect/>
          </a:stretch>
        </p:blipFill>
        <p:spPr>
          <a:xfrm>
            <a:off x="3069830" y="4138676"/>
            <a:ext cx="6184510" cy="20192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C0A07"/>
        </a:solidFill>
        <a:effectLst/>
      </p:bgPr>
    </p:bg>
    <p:spTree>
      <p:nvGrpSpPr>
        <p:cNvPr id="1" name=""/>
        <p:cNvGrpSpPr/>
        <p:nvPr/>
      </p:nvGrpSpPr>
      <p:grpSpPr>
        <a:xfrm>
          <a:off x="0" y="0"/>
          <a:ext cx="0" cy="0"/>
          <a:chOff x="0" y="0"/>
          <a:chExt cx="0" cy="0"/>
        </a:xfrm>
      </p:grpSpPr>
      <p:sp>
        <p:nvSpPr>
          <p:cNvPr id="2" name="Rectangle 1"/>
          <p:cNvSpPr/>
          <p:nvPr/>
        </p:nvSpPr>
        <p:spPr>
          <a:xfrm>
            <a:off x="640080" y="713232"/>
            <a:ext cx="502920"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10058400" cy="169277"/>
          </a:xfrm>
          <a:prstGeom prst="rect">
            <a:avLst/>
          </a:prstGeom>
          <a:noFill/>
        </p:spPr>
        <p:txBody>
          <a:bodyPr wrap="square" lIns="0" tIns="0" rIns="0" bIns="0" anchor="t">
            <a:spAutoFit/>
          </a:bodyPr>
          <a:lstStyle/>
          <a:p>
            <a:pPr algn="l">
              <a:lnSpc>
                <a:spcPct val="100000"/>
              </a:lnSpc>
              <a:spcBef>
                <a:spcPts val="0"/>
              </a:spcBef>
              <a:spcAft>
                <a:spcPts val="400"/>
              </a:spcAft>
            </a:pPr>
            <a:r>
              <a:rPr lang="fr-FR" sz="1100" b="1" dirty="0">
                <a:solidFill>
                  <a:srgbClr val="FF5A1F"/>
                </a:solidFill>
                <a:latin typeface="IBM Plex Mono"/>
              </a:rPr>
              <a:t>13</a:t>
            </a:r>
            <a:r>
              <a:rPr sz="1100" b="1" dirty="0">
                <a:solidFill>
                  <a:srgbClr val="FF5A1F"/>
                </a:solidFill>
                <a:latin typeface="IBM Plex Mono"/>
              </a:rPr>
              <a:t> · BENCHMARK CHIFFRÉ</a:t>
            </a:r>
          </a:p>
        </p:txBody>
      </p:sp>
      <p:sp>
        <p:nvSpPr>
          <p:cNvPr id="4" name="TextBox 3"/>
          <p:cNvSpPr txBox="1"/>
          <p:nvPr/>
        </p:nvSpPr>
        <p:spPr>
          <a:xfrm>
            <a:off x="640080" y="777240"/>
            <a:ext cx="10789920" cy="822960"/>
          </a:xfrm>
          <a:prstGeom prst="rect">
            <a:avLst/>
          </a:prstGeom>
          <a:noFill/>
        </p:spPr>
        <p:txBody>
          <a:bodyPr wrap="square" lIns="0" tIns="0" rIns="0" bIns="0" anchor="t">
            <a:spAutoFit/>
          </a:bodyPr>
          <a:lstStyle/>
          <a:p>
            <a:pPr algn="l">
              <a:lnSpc>
                <a:spcPct val="100000"/>
              </a:lnSpc>
              <a:spcBef>
                <a:spcPts val="0"/>
              </a:spcBef>
              <a:spcAft>
                <a:spcPts val="400"/>
              </a:spcAft>
            </a:pPr>
            <a:r>
              <a:rPr sz="2600" b="1">
                <a:solidFill>
                  <a:srgbClr val="F4ECDD"/>
                </a:solidFill>
                <a:latin typeface="Syne"/>
              </a:rPr>
              <a:t>Benchmark iperf3 — classement 4 protocoles (Grafana VM221)</a:t>
            </a:r>
          </a:p>
        </p:txBody>
      </p:sp>
      <p:sp>
        <p:nvSpPr>
          <p:cNvPr id="5" name="Rectangle 4"/>
          <p:cNvSpPr/>
          <p:nvPr/>
        </p:nvSpPr>
        <p:spPr>
          <a:xfrm>
            <a:off x="640080" y="1417320"/>
            <a:ext cx="10908792" cy="12700"/>
          </a:xfrm>
          <a:prstGeom prst="rect">
            <a:avLst/>
          </a:prstGeom>
          <a:solidFill>
            <a:srgbClr val="3A3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646920" y="384048"/>
            <a:ext cx="1901952" cy="384048"/>
          </a:xfrm>
          <a:prstGeom prst="round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46920" y="457200"/>
            <a:ext cx="1901952" cy="274320"/>
          </a:xfrm>
          <a:prstGeom prst="rect">
            <a:avLst/>
          </a:prstGeom>
          <a:noFill/>
        </p:spPr>
        <p:txBody>
          <a:bodyPr wrap="square" lIns="0" tIns="0" rIns="0" bIns="0" anchor="t">
            <a:spAutoFit/>
          </a:bodyPr>
          <a:lstStyle/>
          <a:p>
            <a:pPr algn="ctr">
              <a:lnSpc>
                <a:spcPct val="100000"/>
              </a:lnSpc>
              <a:spcBef>
                <a:spcPts val="0"/>
              </a:spcBef>
              <a:spcAft>
                <a:spcPts val="400"/>
              </a:spcAft>
            </a:pPr>
            <a:r>
              <a:rPr sz="1200" b="1">
                <a:solidFill>
                  <a:srgbClr val="0C0A07"/>
                </a:solidFill>
                <a:latin typeface="IBM Plex Mono"/>
              </a:rPr>
              <a:t>● PIERRE</a:t>
            </a:r>
          </a:p>
        </p:txBody>
      </p:sp>
      <p:sp>
        <p:nvSpPr>
          <p:cNvPr id="8" name="Rectangle 7"/>
          <p:cNvSpPr/>
          <p:nvPr/>
        </p:nvSpPr>
        <p:spPr>
          <a:xfrm>
            <a:off x="2699184" y="1581912"/>
            <a:ext cx="6790582" cy="4251959"/>
          </a:xfrm>
          <a:prstGeom prst="rect">
            <a:avLst/>
          </a:prstGeom>
          <a:solidFill>
            <a:srgbClr val="16120C"/>
          </a:solidFill>
          <a:ln w="19050">
            <a:solidFill>
              <a:srgbClr val="FF5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gf-vm221-ranking.png"/>
          <p:cNvPicPr>
            <a:picLocks noChangeAspect="1"/>
          </p:cNvPicPr>
          <p:nvPr/>
        </p:nvPicPr>
        <p:blipFill>
          <a:blip r:embed="rId3"/>
          <a:stretch>
            <a:fillRect/>
          </a:stretch>
        </p:blipFill>
        <p:spPr>
          <a:xfrm>
            <a:off x="2744904" y="1627632"/>
            <a:ext cx="6699142" cy="4160520"/>
          </a:xfrm>
          <a:prstGeom prst="rect">
            <a:avLst/>
          </a:prstGeom>
        </p:spPr>
      </p:pic>
      <p:sp>
        <p:nvSpPr>
          <p:cNvPr id="10" name="TextBox 9"/>
          <p:cNvSpPr txBox="1"/>
          <p:nvPr/>
        </p:nvSpPr>
        <p:spPr>
          <a:xfrm>
            <a:off x="640080" y="5952744"/>
            <a:ext cx="10908792" cy="502920"/>
          </a:xfrm>
          <a:prstGeom prst="rect">
            <a:avLst/>
          </a:prstGeom>
          <a:noFill/>
        </p:spPr>
        <p:txBody>
          <a:bodyPr wrap="square" lIns="0" tIns="0" rIns="0" bIns="0" anchor="t">
            <a:spAutoFit/>
          </a:bodyPr>
          <a:lstStyle/>
          <a:p>
            <a:pPr algn="ctr">
              <a:lnSpc>
                <a:spcPct val="110000"/>
              </a:lnSpc>
              <a:spcBef>
                <a:spcPts val="0"/>
              </a:spcBef>
              <a:spcAft>
                <a:spcPts val="400"/>
              </a:spcAft>
            </a:pPr>
            <a:r>
              <a:rPr sz="1250" b="0">
                <a:solidFill>
                  <a:srgbClr val="CFC4AD"/>
                </a:solidFill>
                <a:latin typeface="Newsreader Medium"/>
              </a:rPr>
              <a:t>TCP 4 flux : eBGP 38.91G · OSPF 38.93G · mixed 38.46G · iBGP-RR 38.16G. Écart &lt; 0.8G = bruit veth. Le protocole n'impacte PAS le débit.</a:t>
            </a:r>
          </a:p>
        </p:txBody>
      </p:sp>
      <p:sp>
        <p:nvSpPr>
          <p:cNvPr id="11" name="TextBox 10"/>
          <p:cNvSpPr txBox="1"/>
          <p:nvPr/>
        </p:nvSpPr>
        <p:spPr>
          <a:xfrm>
            <a:off x="640080" y="6144768"/>
            <a:ext cx="10881360" cy="274320"/>
          </a:xfrm>
          <a:prstGeom prst="rect">
            <a:avLst/>
          </a:prstGeom>
          <a:noFill/>
        </p:spPr>
        <p:txBody>
          <a:bodyPr wrap="square" lIns="0" tIns="0" rIns="0" bIns="0" anchor="t">
            <a:spAutoFit/>
          </a:bodyPr>
          <a:lstStyle/>
          <a:p>
            <a:pPr algn="l">
              <a:lnSpc>
                <a:spcPct val="100000"/>
              </a:lnSpc>
              <a:spcBef>
                <a:spcPts val="0"/>
              </a:spcBef>
              <a:spcAft>
                <a:spcPts val="400"/>
              </a:spcAft>
            </a:pPr>
            <a:r>
              <a:rPr sz="950" b="0">
                <a:solidFill>
                  <a:srgbClr val="94896F"/>
                </a:solidFill>
                <a:latin typeface="IBM Plex Mono"/>
              </a:rPr>
              <a:t>↳ VM221 docker compose monitoring/ — benchmark-push.sh</a:t>
            </a:r>
          </a:p>
        </p:txBody>
      </p:sp>
      <p:sp>
        <p:nvSpPr>
          <p:cNvPr id="12" name="TextBox 11"/>
          <p:cNvSpPr txBox="1"/>
          <p:nvPr/>
        </p:nvSpPr>
        <p:spPr>
          <a:xfrm>
            <a:off x="640080" y="6446520"/>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a:solidFill>
                  <a:srgbClr val="94896F"/>
                </a:solidFill>
                <a:latin typeface="IBM Plex Mono"/>
              </a:rPr>
              <a:t>SAE4D01 DevCloud · Groupe 8 · URTADO P. / MALOT V.</a:t>
            </a:r>
          </a:p>
        </p:txBody>
      </p:sp>
      <p:sp>
        <p:nvSpPr>
          <p:cNvPr id="13" name="TextBox 12"/>
          <p:cNvSpPr txBox="1"/>
          <p:nvPr/>
        </p:nvSpPr>
        <p:spPr>
          <a:xfrm>
            <a:off x="10698480" y="6446520"/>
            <a:ext cx="91440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0">
                <a:solidFill>
                  <a:srgbClr val="94896F"/>
                </a:solidFill>
                <a:latin typeface="IBM Plex Mono"/>
              </a:rPr>
              <a:t>14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C0A07"/>
        </a:solidFill>
        <a:effectLst/>
      </p:bgPr>
    </p:bg>
    <p:spTree>
      <p:nvGrpSpPr>
        <p:cNvPr id="1" name=""/>
        <p:cNvGrpSpPr/>
        <p:nvPr/>
      </p:nvGrpSpPr>
      <p:grpSpPr>
        <a:xfrm>
          <a:off x="0" y="0"/>
          <a:ext cx="0" cy="0"/>
          <a:chOff x="0" y="0"/>
          <a:chExt cx="0" cy="0"/>
        </a:xfrm>
      </p:grpSpPr>
      <p:sp>
        <p:nvSpPr>
          <p:cNvPr id="2" name="Rectangle 1"/>
          <p:cNvSpPr/>
          <p:nvPr/>
        </p:nvSpPr>
        <p:spPr>
          <a:xfrm>
            <a:off x="640080" y="713232"/>
            <a:ext cx="502920"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10058400" cy="365760"/>
          </a:xfrm>
          <a:prstGeom prst="rect">
            <a:avLst/>
          </a:prstGeom>
          <a:noFill/>
        </p:spPr>
        <p:txBody>
          <a:bodyPr wrap="square" lIns="0" tIns="0" rIns="0" bIns="0" anchor="t">
            <a:spAutoFit/>
          </a:bodyPr>
          <a:lstStyle/>
          <a:p>
            <a:pPr algn="l">
              <a:lnSpc>
                <a:spcPct val="100000"/>
              </a:lnSpc>
              <a:spcBef>
                <a:spcPts val="0"/>
              </a:spcBef>
              <a:spcAft>
                <a:spcPts val="400"/>
              </a:spcAft>
            </a:pPr>
            <a:r>
              <a:rPr sz="1100" b="1">
                <a:solidFill>
                  <a:srgbClr val="FF5A1F"/>
                </a:solidFill>
                <a:latin typeface="IBM Plex Mono"/>
              </a:rPr>
              <a:t>07 · RISQUES &amp; COMPÉTENCES</a:t>
            </a:r>
          </a:p>
        </p:txBody>
      </p:sp>
      <p:sp>
        <p:nvSpPr>
          <p:cNvPr id="4" name="TextBox 3"/>
          <p:cNvSpPr txBox="1"/>
          <p:nvPr/>
        </p:nvSpPr>
        <p:spPr>
          <a:xfrm>
            <a:off x="640080" y="777240"/>
            <a:ext cx="10789920" cy="822960"/>
          </a:xfrm>
          <a:prstGeom prst="rect">
            <a:avLst/>
          </a:prstGeom>
          <a:noFill/>
        </p:spPr>
        <p:txBody>
          <a:bodyPr wrap="square" lIns="0" tIns="0" rIns="0" bIns="0" anchor="t">
            <a:spAutoFit/>
          </a:bodyPr>
          <a:lstStyle/>
          <a:p>
            <a:pPr algn="l">
              <a:lnSpc>
                <a:spcPct val="100000"/>
              </a:lnSpc>
              <a:spcBef>
                <a:spcPts val="0"/>
              </a:spcBef>
              <a:spcAft>
                <a:spcPts val="400"/>
              </a:spcAft>
            </a:pPr>
            <a:r>
              <a:rPr sz="2800" b="1">
                <a:solidFill>
                  <a:srgbClr val="F4ECDD"/>
                </a:solidFill>
                <a:latin typeface="Syne"/>
              </a:rPr>
              <a:t>Bugs diagnostiqués et résolus</a:t>
            </a:r>
          </a:p>
        </p:txBody>
      </p:sp>
      <p:sp>
        <p:nvSpPr>
          <p:cNvPr id="5" name="Rectangle 4"/>
          <p:cNvSpPr/>
          <p:nvPr/>
        </p:nvSpPr>
        <p:spPr>
          <a:xfrm>
            <a:off x="640080" y="1417320"/>
            <a:ext cx="10908792" cy="12700"/>
          </a:xfrm>
          <a:prstGeom prst="rect">
            <a:avLst/>
          </a:prstGeom>
          <a:solidFill>
            <a:srgbClr val="3A3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646920" y="384048"/>
            <a:ext cx="1901952" cy="384048"/>
          </a:xfrm>
          <a:prstGeom prst="roundRect">
            <a:avLst/>
          </a:prstGeom>
          <a:solidFill>
            <a:srgbClr val="16120C"/>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46920" y="457200"/>
            <a:ext cx="1901952" cy="274320"/>
          </a:xfrm>
          <a:prstGeom prst="rect">
            <a:avLst/>
          </a:prstGeom>
          <a:noFill/>
        </p:spPr>
        <p:txBody>
          <a:bodyPr wrap="square" lIns="0" tIns="0" rIns="0" bIns="0" anchor="t">
            <a:spAutoFit/>
          </a:bodyPr>
          <a:lstStyle/>
          <a:p>
            <a:pPr algn="ctr">
              <a:lnSpc>
                <a:spcPct val="100000"/>
              </a:lnSpc>
              <a:spcBef>
                <a:spcPts val="0"/>
              </a:spcBef>
              <a:spcAft>
                <a:spcPts val="400"/>
              </a:spcAft>
            </a:pPr>
            <a:r>
              <a:rPr sz="1100" b="1">
                <a:solidFill>
                  <a:srgbClr val="CFC4AD"/>
                </a:solidFill>
                <a:latin typeface="IBM Plex Mono"/>
              </a:rPr>
              <a:t>● ○ BINÔME</a:t>
            </a:r>
          </a:p>
        </p:txBody>
      </p:sp>
      <p:sp>
        <p:nvSpPr>
          <p:cNvPr id="8" name="TextBox 7"/>
          <p:cNvSpPr txBox="1"/>
          <p:nvPr/>
        </p:nvSpPr>
        <p:spPr>
          <a:xfrm>
            <a:off x="640080" y="1572768"/>
            <a:ext cx="5029200" cy="365760"/>
          </a:xfrm>
          <a:prstGeom prst="rect">
            <a:avLst/>
          </a:prstGeom>
          <a:noFill/>
        </p:spPr>
        <p:txBody>
          <a:bodyPr wrap="square" lIns="0" tIns="0" rIns="0" bIns="0" anchor="t">
            <a:spAutoFit/>
          </a:bodyPr>
          <a:lstStyle/>
          <a:p>
            <a:pPr algn="l">
              <a:lnSpc>
                <a:spcPct val="100000"/>
              </a:lnSpc>
              <a:spcBef>
                <a:spcPts val="0"/>
              </a:spcBef>
              <a:spcAft>
                <a:spcPts val="400"/>
              </a:spcAft>
            </a:pPr>
            <a:r>
              <a:rPr sz="1300" b="1">
                <a:solidFill>
                  <a:srgbClr val="FF5A1F"/>
                </a:solidFill>
                <a:latin typeface="IBM Plex Mono"/>
              </a:rPr>
              <a:t>● PIERRE — bugs FRR/réseau</a:t>
            </a:r>
          </a:p>
        </p:txBody>
      </p:sp>
      <p:sp>
        <p:nvSpPr>
          <p:cNvPr id="9" name="Rounded Rectangle 8"/>
          <p:cNvSpPr/>
          <p:nvPr/>
        </p:nvSpPr>
        <p:spPr>
          <a:xfrm>
            <a:off x="640080" y="2029968"/>
            <a:ext cx="5349240" cy="987552"/>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2029968"/>
            <a:ext cx="50800" cy="987552"/>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2" y="2121408"/>
            <a:ext cx="5029200" cy="200055"/>
          </a:xfrm>
          <a:prstGeom prst="rect">
            <a:avLst/>
          </a:prstGeom>
          <a:noFill/>
        </p:spPr>
        <p:txBody>
          <a:bodyPr wrap="square" lIns="0" tIns="0" rIns="0" bIns="0" anchor="t">
            <a:spAutoFit/>
          </a:bodyPr>
          <a:lstStyle/>
          <a:p>
            <a:pPr algn="l">
              <a:lnSpc>
                <a:spcPct val="100000"/>
              </a:lnSpc>
              <a:spcBef>
                <a:spcPts val="0"/>
              </a:spcBef>
              <a:spcAft>
                <a:spcPts val="400"/>
              </a:spcAft>
            </a:pPr>
            <a:r>
              <a:rPr lang="fr-FR" sz="1300" b="1" dirty="0">
                <a:solidFill>
                  <a:srgbClr val="F4ECDD"/>
                </a:solidFill>
                <a:latin typeface="Syne"/>
              </a:rPr>
              <a:t>CISCO et VXLAN</a:t>
            </a:r>
            <a:endParaRPr sz="1300" b="1" dirty="0">
              <a:solidFill>
                <a:srgbClr val="F4ECDD"/>
              </a:solidFill>
              <a:latin typeface="Syne"/>
            </a:endParaRPr>
          </a:p>
        </p:txBody>
      </p:sp>
      <p:sp>
        <p:nvSpPr>
          <p:cNvPr id="12" name="TextBox 11"/>
          <p:cNvSpPr txBox="1"/>
          <p:nvPr/>
        </p:nvSpPr>
        <p:spPr>
          <a:xfrm>
            <a:off x="804672" y="2532888"/>
            <a:ext cx="5029200" cy="177741"/>
          </a:xfrm>
          <a:prstGeom prst="rect">
            <a:avLst/>
          </a:prstGeom>
          <a:noFill/>
        </p:spPr>
        <p:txBody>
          <a:bodyPr wrap="square" lIns="0" tIns="0" rIns="0" bIns="0" anchor="t">
            <a:spAutoFit/>
          </a:bodyPr>
          <a:lstStyle/>
          <a:p>
            <a:pPr algn="l">
              <a:lnSpc>
                <a:spcPct val="105000"/>
              </a:lnSpc>
              <a:spcBef>
                <a:spcPts val="0"/>
              </a:spcBef>
              <a:spcAft>
                <a:spcPts val="400"/>
              </a:spcAft>
            </a:pPr>
            <a:r>
              <a:rPr lang="fr-FR" sz="1100" b="0" dirty="0">
                <a:solidFill>
                  <a:srgbClr val="CFC4AD"/>
                </a:solidFill>
                <a:latin typeface="Newsreader Medium"/>
              </a:rPr>
              <a:t>Sans licence pas de </a:t>
            </a:r>
            <a:r>
              <a:rPr lang="fr-FR" sz="1100" b="0" dirty="0" err="1">
                <a:solidFill>
                  <a:srgbClr val="CFC4AD"/>
                </a:solidFill>
                <a:latin typeface="Newsreader Medium"/>
              </a:rPr>
              <a:t>vxlan</a:t>
            </a:r>
            <a:endParaRPr sz="1100" b="0" dirty="0">
              <a:solidFill>
                <a:srgbClr val="CFC4AD"/>
              </a:solidFill>
              <a:latin typeface="Newsreader Medium"/>
            </a:endParaRPr>
          </a:p>
        </p:txBody>
      </p:sp>
      <p:sp>
        <p:nvSpPr>
          <p:cNvPr id="13" name="Rounded Rectangle 12"/>
          <p:cNvSpPr/>
          <p:nvPr/>
        </p:nvSpPr>
        <p:spPr>
          <a:xfrm>
            <a:off x="640080" y="3108960"/>
            <a:ext cx="5349240" cy="987552"/>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3108960"/>
            <a:ext cx="50800" cy="987552"/>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4672" y="3200400"/>
            <a:ext cx="5029200" cy="200055"/>
          </a:xfrm>
          <a:prstGeom prst="rect">
            <a:avLst/>
          </a:prstGeom>
          <a:noFill/>
        </p:spPr>
        <p:txBody>
          <a:bodyPr wrap="square" lIns="0" tIns="0" rIns="0" bIns="0" anchor="t">
            <a:spAutoFit/>
          </a:bodyPr>
          <a:lstStyle/>
          <a:p>
            <a:pPr algn="l">
              <a:lnSpc>
                <a:spcPct val="100000"/>
              </a:lnSpc>
              <a:spcBef>
                <a:spcPts val="0"/>
              </a:spcBef>
              <a:spcAft>
                <a:spcPts val="400"/>
              </a:spcAft>
            </a:pPr>
            <a:r>
              <a:rPr lang="fr-FR" sz="1300" b="1" dirty="0">
                <a:solidFill>
                  <a:srgbClr val="F4ECDD"/>
                </a:solidFill>
                <a:latin typeface="Syne"/>
              </a:rPr>
              <a:t>IP </a:t>
            </a:r>
            <a:r>
              <a:rPr lang="fr-FR" sz="1300" b="1" dirty="0" err="1">
                <a:solidFill>
                  <a:srgbClr val="F4ECDD"/>
                </a:solidFill>
                <a:latin typeface="Syne"/>
              </a:rPr>
              <a:t>Binome</a:t>
            </a:r>
            <a:r>
              <a:rPr lang="fr-FR" sz="1300" b="1" dirty="0">
                <a:solidFill>
                  <a:srgbClr val="F4ECDD"/>
                </a:solidFill>
                <a:latin typeface="Syne"/>
              </a:rPr>
              <a:t> </a:t>
            </a:r>
            <a:endParaRPr sz="1300" b="1" dirty="0">
              <a:solidFill>
                <a:srgbClr val="F4ECDD"/>
              </a:solidFill>
              <a:latin typeface="Syne"/>
            </a:endParaRPr>
          </a:p>
        </p:txBody>
      </p:sp>
      <p:sp>
        <p:nvSpPr>
          <p:cNvPr id="16" name="TextBox 15"/>
          <p:cNvSpPr txBox="1"/>
          <p:nvPr/>
        </p:nvSpPr>
        <p:spPr>
          <a:xfrm>
            <a:off x="804672" y="3611880"/>
            <a:ext cx="5029200" cy="177741"/>
          </a:xfrm>
          <a:prstGeom prst="rect">
            <a:avLst/>
          </a:prstGeom>
          <a:noFill/>
        </p:spPr>
        <p:txBody>
          <a:bodyPr wrap="square" lIns="0" tIns="0" rIns="0" bIns="0" anchor="t">
            <a:spAutoFit/>
          </a:bodyPr>
          <a:lstStyle/>
          <a:p>
            <a:pPr algn="l">
              <a:lnSpc>
                <a:spcPct val="105000"/>
              </a:lnSpc>
              <a:spcBef>
                <a:spcPts val="0"/>
              </a:spcBef>
              <a:spcAft>
                <a:spcPts val="400"/>
              </a:spcAft>
            </a:pPr>
            <a:r>
              <a:rPr lang="fr-FR" sz="1100" b="0" dirty="0">
                <a:solidFill>
                  <a:srgbClr val="CFC4AD"/>
                </a:solidFill>
                <a:latin typeface="Newsreader Medium"/>
              </a:rPr>
              <a:t>Les </a:t>
            </a:r>
            <a:r>
              <a:rPr lang="fr-FR" sz="1100" b="0" dirty="0" err="1">
                <a:solidFill>
                  <a:srgbClr val="CFC4AD"/>
                </a:solidFill>
                <a:latin typeface="Newsreader Medium"/>
              </a:rPr>
              <a:t>ip</a:t>
            </a:r>
            <a:r>
              <a:rPr lang="fr-FR" sz="1100" b="0" dirty="0">
                <a:solidFill>
                  <a:srgbClr val="CFC4AD"/>
                </a:solidFill>
                <a:latin typeface="Newsreader Medium"/>
              </a:rPr>
              <a:t> privé routé en publique par d’autre </a:t>
            </a:r>
            <a:r>
              <a:rPr lang="fr-FR" sz="1100" b="0" dirty="0" err="1">
                <a:solidFill>
                  <a:srgbClr val="CFC4AD"/>
                </a:solidFill>
                <a:latin typeface="Newsreader Medium"/>
              </a:rPr>
              <a:t>binome</a:t>
            </a:r>
            <a:endParaRPr sz="1100" b="0" dirty="0">
              <a:solidFill>
                <a:srgbClr val="CFC4AD"/>
              </a:solidFill>
              <a:latin typeface="Newsreader Medium"/>
            </a:endParaRPr>
          </a:p>
        </p:txBody>
      </p:sp>
      <p:sp>
        <p:nvSpPr>
          <p:cNvPr id="17" name="Rounded Rectangle 16"/>
          <p:cNvSpPr/>
          <p:nvPr/>
        </p:nvSpPr>
        <p:spPr>
          <a:xfrm>
            <a:off x="640080" y="4187952"/>
            <a:ext cx="5349240" cy="987552"/>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 y="4187952"/>
            <a:ext cx="50800" cy="987552"/>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4672" y="4279392"/>
            <a:ext cx="5029200" cy="365760"/>
          </a:xfrm>
          <a:prstGeom prst="rect">
            <a:avLst/>
          </a:prstGeom>
          <a:noFill/>
        </p:spPr>
        <p:txBody>
          <a:bodyPr wrap="square" lIns="0" tIns="0" rIns="0" bIns="0" anchor="t">
            <a:spAutoFit/>
          </a:bodyPr>
          <a:lstStyle/>
          <a:p>
            <a:pPr algn="l">
              <a:lnSpc>
                <a:spcPct val="100000"/>
              </a:lnSpc>
              <a:spcBef>
                <a:spcPts val="0"/>
              </a:spcBef>
              <a:spcAft>
                <a:spcPts val="400"/>
              </a:spcAft>
            </a:pPr>
            <a:r>
              <a:rPr sz="1300" b="1" dirty="0">
                <a:solidFill>
                  <a:srgbClr val="F4ECDD"/>
                </a:solidFill>
                <a:latin typeface="Syne"/>
              </a:rPr>
              <a:t>VXLAN TCP=0</a:t>
            </a:r>
          </a:p>
        </p:txBody>
      </p:sp>
      <p:sp>
        <p:nvSpPr>
          <p:cNvPr id="20" name="TextBox 19"/>
          <p:cNvSpPr txBox="1"/>
          <p:nvPr/>
        </p:nvSpPr>
        <p:spPr>
          <a:xfrm>
            <a:off x="804672" y="4690872"/>
            <a:ext cx="5029200" cy="177741"/>
          </a:xfrm>
          <a:prstGeom prst="rect">
            <a:avLst/>
          </a:prstGeom>
          <a:noFill/>
        </p:spPr>
        <p:txBody>
          <a:bodyPr wrap="square" lIns="0" tIns="0" rIns="0" bIns="0" anchor="t">
            <a:spAutoFit/>
          </a:bodyPr>
          <a:lstStyle/>
          <a:p>
            <a:pPr algn="l">
              <a:lnSpc>
                <a:spcPct val="105000"/>
              </a:lnSpc>
              <a:spcBef>
                <a:spcPts val="0"/>
              </a:spcBef>
              <a:spcAft>
                <a:spcPts val="400"/>
              </a:spcAft>
            </a:pPr>
            <a:r>
              <a:rPr lang="fr-FR" sz="1100" b="0" dirty="0">
                <a:solidFill>
                  <a:srgbClr val="CFC4AD"/>
                </a:solidFill>
                <a:latin typeface="Newsreader Medium"/>
              </a:rPr>
              <a:t>Le </a:t>
            </a:r>
            <a:r>
              <a:rPr lang="fr-FR" sz="1100" b="0" dirty="0" err="1">
                <a:solidFill>
                  <a:srgbClr val="CFC4AD"/>
                </a:solidFill>
                <a:latin typeface="Newsreader Medium"/>
              </a:rPr>
              <a:t>mtu</a:t>
            </a:r>
            <a:r>
              <a:rPr lang="fr-FR" sz="1100" b="0" dirty="0">
                <a:solidFill>
                  <a:srgbClr val="CFC4AD"/>
                </a:solidFill>
                <a:latin typeface="Newsreader Medium"/>
              </a:rPr>
              <a:t> choisis entre les deux Data center n’</a:t>
            </a:r>
            <a:r>
              <a:rPr lang="fr-FR" sz="1100" b="0" dirty="0" err="1">
                <a:solidFill>
                  <a:srgbClr val="CFC4AD"/>
                </a:solidFill>
                <a:latin typeface="Newsreader Medium"/>
              </a:rPr>
              <a:t>etais</a:t>
            </a:r>
            <a:r>
              <a:rPr lang="fr-FR" sz="1100" b="0" dirty="0">
                <a:solidFill>
                  <a:srgbClr val="CFC4AD"/>
                </a:solidFill>
                <a:latin typeface="Newsreader Medium"/>
              </a:rPr>
              <a:t> pas le </a:t>
            </a:r>
            <a:r>
              <a:rPr lang="fr-FR" sz="1100" b="0" dirty="0" err="1">
                <a:solidFill>
                  <a:srgbClr val="CFC4AD"/>
                </a:solidFill>
                <a:latin typeface="Newsreader Medium"/>
              </a:rPr>
              <a:t>meme</a:t>
            </a:r>
            <a:endParaRPr sz="1100" b="0" dirty="0">
              <a:solidFill>
                <a:srgbClr val="CFC4AD"/>
              </a:solidFill>
              <a:latin typeface="Newsreader Medium"/>
            </a:endParaRPr>
          </a:p>
        </p:txBody>
      </p:sp>
      <p:sp>
        <p:nvSpPr>
          <p:cNvPr id="21" name="Rounded Rectangle 20"/>
          <p:cNvSpPr/>
          <p:nvPr/>
        </p:nvSpPr>
        <p:spPr>
          <a:xfrm>
            <a:off x="640080" y="5266944"/>
            <a:ext cx="5349240" cy="987552"/>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40080" y="5266944"/>
            <a:ext cx="50800" cy="987552"/>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4672" y="5358383"/>
            <a:ext cx="5029200" cy="365760"/>
          </a:xfrm>
          <a:prstGeom prst="rect">
            <a:avLst/>
          </a:prstGeom>
          <a:noFill/>
        </p:spPr>
        <p:txBody>
          <a:bodyPr wrap="square" lIns="0" tIns="0" rIns="0" bIns="0" anchor="t">
            <a:spAutoFit/>
          </a:bodyPr>
          <a:lstStyle/>
          <a:p>
            <a:pPr algn="l">
              <a:lnSpc>
                <a:spcPct val="100000"/>
              </a:lnSpc>
              <a:spcBef>
                <a:spcPts val="0"/>
              </a:spcBef>
              <a:spcAft>
                <a:spcPts val="400"/>
              </a:spcAft>
            </a:pPr>
            <a:r>
              <a:rPr sz="1300" b="1">
                <a:solidFill>
                  <a:srgbClr val="F4ECDD"/>
                </a:solidFill>
                <a:latin typeface="Syne"/>
              </a:rPr>
              <a:t>Port-isolation switch</a:t>
            </a:r>
          </a:p>
        </p:txBody>
      </p:sp>
      <p:sp>
        <p:nvSpPr>
          <p:cNvPr id="24" name="TextBox 23"/>
          <p:cNvSpPr txBox="1"/>
          <p:nvPr/>
        </p:nvSpPr>
        <p:spPr>
          <a:xfrm>
            <a:off x="804672" y="5769864"/>
            <a:ext cx="5029200" cy="177741"/>
          </a:xfrm>
          <a:prstGeom prst="rect">
            <a:avLst/>
          </a:prstGeom>
          <a:noFill/>
        </p:spPr>
        <p:txBody>
          <a:bodyPr wrap="square" lIns="0" tIns="0" rIns="0" bIns="0" anchor="t">
            <a:spAutoFit/>
          </a:bodyPr>
          <a:lstStyle/>
          <a:p>
            <a:pPr algn="l">
              <a:lnSpc>
                <a:spcPct val="105000"/>
              </a:lnSpc>
              <a:spcBef>
                <a:spcPts val="0"/>
              </a:spcBef>
              <a:spcAft>
                <a:spcPts val="400"/>
              </a:spcAft>
            </a:pPr>
            <a:r>
              <a:rPr sz="1100" b="0" dirty="0">
                <a:solidFill>
                  <a:srgbClr val="CFC4AD"/>
                </a:solidFill>
                <a:latin typeface="Newsreader Medium"/>
              </a:rPr>
              <a:t>Unicast .252</a:t>
            </a:r>
            <a:r>
              <a:rPr lang="fr-FR" sz="1100" b="0" dirty="0">
                <a:solidFill>
                  <a:srgbClr val="CFC4AD"/>
                </a:solidFill>
                <a:latin typeface="Newsreader Medium"/>
              </a:rPr>
              <a:t> et </a:t>
            </a:r>
            <a:r>
              <a:rPr sz="1100" b="0" dirty="0">
                <a:solidFill>
                  <a:srgbClr val="CFC4AD"/>
                </a:solidFill>
                <a:latin typeface="Newsreader Medium"/>
              </a:rPr>
              <a:t>.253 </a:t>
            </a:r>
            <a:r>
              <a:rPr sz="1100" b="0" dirty="0" err="1">
                <a:solidFill>
                  <a:srgbClr val="CFC4AD"/>
                </a:solidFill>
                <a:latin typeface="Newsreader Medium"/>
              </a:rPr>
              <a:t>droppé</a:t>
            </a:r>
            <a:r>
              <a:rPr sz="1100" b="0" dirty="0">
                <a:solidFill>
                  <a:srgbClr val="CFC4AD"/>
                </a:solidFill>
                <a:latin typeface="Newsreader Medium"/>
              </a:rPr>
              <a:t>. Fix : </a:t>
            </a:r>
            <a:r>
              <a:rPr sz="1100" b="0" dirty="0" err="1">
                <a:solidFill>
                  <a:srgbClr val="CFC4AD"/>
                </a:solidFill>
                <a:latin typeface="Newsreader Medium"/>
              </a:rPr>
              <a:t>câble</a:t>
            </a:r>
            <a:r>
              <a:rPr sz="1100" b="0" dirty="0">
                <a:solidFill>
                  <a:srgbClr val="CFC4AD"/>
                </a:solidFill>
                <a:latin typeface="Newsreader Medium"/>
              </a:rPr>
              <a:t> direct /30 </a:t>
            </a:r>
            <a:r>
              <a:rPr sz="1100" b="0" dirty="0" err="1">
                <a:solidFill>
                  <a:srgbClr val="CFC4AD"/>
                </a:solidFill>
                <a:latin typeface="Newsreader Medium"/>
              </a:rPr>
              <a:t>dédié</a:t>
            </a:r>
            <a:r>
              <a:rPr sz="1100" b="0" dirty="0">
                <a:solidFill>
                  <a:srgbClr val="CFC4AD"/>
                </a:solidFill>
                <a:latin typeface="Newsreader Medium"/>
              </a:rPr>
              <a:t>.</a:t>
            </a:r>
          </a:p>
        </p:txBody>
      </p:sp>
      <p:sp>
        <p:nvSpPr>
          <p:cNvPr id="25" name="TextBox 24"/>
          <p:cNvSpPr txBox="1"/>
          <p:nvPr/>
        </p:nvSpPr>
        <p:spPr>
          <a:xfrm>
            <a:off x="6172200" y="1572768"/>
            <a:ext cx="5029200" cy="365760"/>
          </a:xfrm>
          <a:prstGeom prst="rect">
            <a:avLst/>
          </a:prstGeom>
          <a:noFill/>
        </p:spPr>
        <p:txBody>
          <a:bodyPr wrap="square" lIns="0" tIns="0" rIns="0" bIns="0" anchor="t">
            <a:spAutoFit/>
          </a:bodyPr>
          <a:lstStyle/>
          <a:p>
            <a:pPr algn="l">
              <a:lnSpc>
                <a:spcPct val="100000"/>
              </a:lnSpc>
              <a:spcBef>
                <a:spcPts val="0"/>
              </a:spcBef>
              <a:spcAft>
                <a:spcPts val="400"/>
              </a:spcAft>
            </a:pPr>
            <a:r>
              <a:rPr sz="1300" b="1">
                <a:solidFill>
                  <a:srgbClr val="FF8A3D"/>
                </a:solidFill>
                <a:latin typeface="IBM Plex Mono"/>
              </a:rPr>
              <a:t>○ VALENTIN — bugs iBGP/cEOS</a:t>
            </a:r>
          </a:p>
        </p:txBody>
      </p:sp>
      <p:sp>
        <p:nvSpPr>
          <p:cNvPr id="26" name="Rounded Rectangle 25"/>
          <p:cNvSpPr/>
          <p:nvPr/>
        </p:nvSpPr>
        <p:spPr>
          <a:xfrm>
            <a:off x="6172200" y="2029968"/>
            <a:ext cx="5349240" cy="987552"/>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172200" y="2029968"/>
            <a:ext cx="50800" cy="987552"/>
          </a:xfrm>
          <a:prstGeom prst="rect">
            <a:avLst/>
          </a:prstGeom>
          <a:solidFill>
            <a:srgbClr val="FF8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36792" y="2121408"/>
            <a:ext cx="5029200" cy="365760"/>
          </a:xfrm>
          <a:prstGeom prst="rect">
            <a:avLst/>
          </a:prstGeom>
          <a:noFill/>
        </p:spPr>
        <p:txBody>
          <a:bodyPr wrap="square" lIns="0" tIns="0" rIns="0" bIns="0" anchor="t">
            <a:spAutoFit/>
          </a:bodyPr>
          <a:lstStyle/>
          <a:p>
            <a:pPr algn="l">
              <a:lnSpc>
                <a:spcPct val="100000"/>
              </a:lnSpc>
              <a:spcBef>
                <a:spcPts val="0"/>
              </a:spcBef>
              <a:spcAft>
                <a:spcPts val="400"/>
              </a:spcAft>
            </a:pPr>
            <a:r>
              <a:rPr sz="1300" b="1">
                <a:solidFill>
                  <a:srgbClr val="F4ECDD"/>
                </a:solidFill>
                <a:latin typeface="Syne"/>
              </a:rPr>
              <a:t>RR sans peering direct S1↔S2</a:t>
            </a:r>
          </a:p>
        </p:txBody>
      </p:sp>
      <p:sp>
        <p:nvSpPr>
          <p:cNvPr id="29" name="TextBox 28"/>
          <p:cNvSpPr txBox="1"/>
          <p:nvPr/>
        </p:nvSpPr>
        <p:spPr>
          <a:xfrm>
            <a:off x="6336792" y="2532888"/>
            <a:ext cx="5029200" cy="411480"/>
          </a:xfrm>
          <a:prstGeom prst="rect">
            <a:avLst/>
          </a:prstGeom>
          <a:noFill/>
        </p:spPr>
        <p:txBody>
          <a:bodyPr wrap="square" lIns="0" tIns="0" rIns="0" bIns="0" anchor="t">
            <a:spAutoFit/>
          </a:bodyPr>
          <a:lstStyle/>
          <a:p>
            <a:pPr algn="l">
              <a:lnSpc>
                <a:spcPct val="105000"/>
              </a:lnSpc>
              <a:spcBef>
                <a:spcPts val="0"/>
              </a:spcBef>
              <a:spcAft>
                <a:spcPts val="400"/>
              </a:spcAft>
            </a:pPr>
            <a:r>
              <a:rPr sz="1100" b="0">
                <a:solidFill>
                  <a:srgbClr val="CFC4AD"/>
                </a:solidFill>
                <a:latin typeface="Newsreader Medium"/>
              </a:rPr>
              <a:t>S2 n'apprend pas les préfixes monitoring. Fix : lien /30 dédié S1↔S2.</a:t>
            </a:r>
          </a:p>
        </p:txBody>
      </p:sp>
      <p:sp>
        <p:nvSpPr>
          <p:cNvPr id="30" name="Rounded Rectangle 29"/>
          <p:cNvSpPr/>
          <p:nvPr/>
        </p:nvSpPr>
        <p:spPr>
          <a:xfrm>
            <a:off x="6172200" y="3108960"/>
            <a:ext cx="5349240" cy="987552"/>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172200" y="3108960"/>
            <a:ext cx="50800" cy="987552"/>
          </a:xfrm>
          <a:prstGeom prst="rect">
            <a:avLst/>
          </a:prstGeom>
          <a:solidFill>
            <a:srgbClr val="FF8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36792" y="3200400"/>
            <a:ext cx="5029200" cy="365760"/>
          </a:xfrm>
          <a:prstGeom prst="rect">
            <a:avLst/>
          </a:prstGeom>
          <a:noFill/>
        </p:spPr>
        <p:txBody>
          <a:bodyPr wrap="square" lIns="0" tIns="0" rIns="0" bIns="0" anchor="t">
            <a:spAutoFit/>
          </a:bodyPr>
          <a:lstStyle/>
          <a:p>
            <a:pPr algn="l">
              <a:lnSpc>
                <a:spcPct val="100000"/>
              </a:lnSpc>
              <a:spcBef>
                <a:spcPts val="0"/>
              </a:spcBef>
              <a:spcAft>
                <a:spcPts val="400"/>
              </a:spcAft>
            </a:pPr>
            <a:r>
              <a:rPr sz="1300" b="1">
                <a:solidFill>
                  <a:srgbClr val="F4ECDD"/>
                </a:solidFill>
                <a:latin typeface="Syne"/>
              </a:rPr>
              <a:t>NAT sortant VLAN 560</a:t>
            </a:r>
          </a:p>
        </p:txBody>
      </p:sp>
      <p:sp>
        <p:nvSpPr>
          <p:cNvPr id="33" name="TextBox 32"/>
          <p:cNvSpPr txBox="1"/>
          <p:nvPr/>
        </p:nvSpPr>
        <p:spPr>
          <a:xfrm>
            <a:off x="6336792" y="3611880"/>
            <a:ext cx="5029200" cy="411480"/>
          </a:xfrm>
          <a:prstGeom prst="rect">
            <a:avLst/>
          </a:prstGeom>
          <a:noFill/>
        </p:spPr>
        <p:txBody>
          <a:bodyPr wrap="square" lIns="0" tIns="0" rIns="0" bIns="0" anchor="t">
            <a:spAutoFit/>
          </a:bodyPr>
          <a:lstStyle/>
          <a:p>
            <a:pPr algn="l">
              <a:lnSpc>
                <a:spcPct val="105000"/>
              </a:lnSpc>
              <a:spcBef>
                <a:spcPts val="0"/>
              </a:spcBef>
              <a:spcAft>
                <a:spcPts val="400"/>
              </a:spcAft>
            </a:pPr>
            <a:r>
              <a:rPr sz="1100" b="0">
                <a:solidFill>
                  <a:srgbClr val="CFC4AD"/>
                </a:solidFill>
                <a:latin typeface="Newsreader Medium"/>
              </a:rPr>
              <a:t>ip nat source dynamic OK en cEOS 4.33.1F → % Unrecognized en 4.36.1F. NAT absent de l'image conteneurisée.</a:t>
            </a:r>
          </a:p>
        </p:txBody>
      </p:sp>
      <p:sp>
        <p:nvSpPr>
          <p:cNvPr id="34" name="Rounded Rectangle 33"/>
          <p:cNvSpPr/>
          <p:nvPr/>
        </p:nvSpPr>
        <p:spPr>
          <a:xfrm>
            <a:off x="6172200" y="4187952"/>
            <a:ext cx="5349240" cy="987552"/>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172200" y="4187952"/>
            <a:ext cx="50800" cy="987552"/>
          </a:xfrm>
          <a:prstGeom prst="rect">
            <a:avLst/>
          </a:prstGeom>
          <a:solidFill>
            <a:srgbClr val="FF8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36792" y="4279392"/>
            <a:ext cx="5029200" cy="365760"/>
          </a:xfrm>
          <a:prstGeom prst="rect">
            <a:avLst/>
          </a:prstGeom>
          <a:noFill/>
        </p:spPr>
        <p:txBody>
          <a:bodyPr wrap="square" lIns="0" tIns="0" rIns="0" bIns="0" anchor="t">
            <a:spAutoFit/>
          </a:bodyPr>
          <a:lstStyle/>
          <a:p>
            <a:pPr algn="l">
              <a:lnSpc>
                <a:spcPct val="100000"/>
              </a:lnSpc>
              <a:spcBef>
                <a:spcPts val="0"/>
              </a:spcBef>
              <a:spcAft>
                <a:spcPts val="400"/>
              </a:spcAft>
            </a:pPr>
            <a:r>
              <a:rPr sz="1300" b="1">
                <a:solidFill>
                  <a:srgbClr val="F4ECDD"/>
                </a:solidFill>
                <a:latin typeface="Syne"/>
              </a:rPr>
              <a:t>SYN-ACK droppé</a:t>
            </a:r>
          </a:p>
        </p:txBody>
      </p:sp>
      <p:sp>
        <p:nvSpPr>
          <p:cNvPr id="37" name="TextBox 36"/>
          <p:cNvSpPr txBox="1"/>
          <p:nvPr/>
        </p:nvSpPr>
        <p:spPr>
          <a:xfrm>
            <a:off x="6336792" y="4690872"/>
            <a:ext cx="5029200" cy="411480"/>
          </a:xfrm>
          <a:prstGeom prst="rect">
            <a:avLst/>
          </a:prstGeom>
          <a:noFill/>
        </p:spPr>
        <p:txBody>
          <a:bodyPr wrap="square" lIns="0" tIns="0" rIns="0" bIns="0" anchor="t">
            <a:spAutoFit/>
          </a:bodyPr>
          <a:lstStyle/>
          <a:p>
            <a:pPr algn="l">
              <a:lnSpc>
                <a:spcPct val="105000"/>
              </a:lnSpc>
              <a:spcBef>
                <a:spcPts val="0"/>
              </a:spcBef>
              <a:spcAft>
                <a:spcPts val="400"/>
              </a:spcAft>
            </a:pPr>
            <a:r>
              <a:rPr sz="1100" b="0">
                <a:solidFill>
                  <a:srgbClr val="CFC4AD"/>
                </a:solidFill>
                <a:latin typeface="Newsreader Medium"/>
              </a:rPr>
              <a:t>SYN arrivent (tcpdump OK), binding Docker OK, mais FORWARD DROP → SYN-ACK ne repart pas.</a:t>
            </a:r>
          </a:p>
        </p:txBody>
      </p:sp>
      <p:sp>
        <p:nvSpPr>
          <p:cNvPr id="38" name="Rounded Rectangle 37"/>
          <p:cNvSpPr/>
          <p:nvPr/>
        </p:nvSpPr>
        <p:spPr>
          <a:xfrm>
            <a:off x="6172200" y="5266944"/>
            <a:ext cx="5349240" cy="987552"/>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172200" y="5266944"/>
            <a:ext cx="50800" cy="987552"/>
          </a:xfrm>
          <a:prstGeom prst="rect">
            <a:avLst/>
          </a:prstGeom>
          <a:solidFill>
            <a:srgbClr val="FF8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336792" y="5358383"/>
            <a:ext cx="5029200" cy="365760"/>
          </a:xfrm>
          <a:prstGeom prst="rect">
            <a:avLst/>
          </a:prstGeom>
          <a:noFill/>
        </p:spPr>
        <p:txBody>
          <a:bodyPr wrap="square" lIns="0" tIns="0" rIns="0" bIns="0" anchor="t">
            <a:spAutoFit/>
          </a:bodyPr>
          <a:lstStyle/>
          <a:p>
            <a:pPr algn="l">
              <a:lnSpc>
                <a:spcPct val="100000"/>
              </a:lnSpc>
              <a:spcBef>
                <a:spcPts val="0"/>
              </a:spcBef>
              <a:spcAft>
                <a:spcPts val="400"/>
              </a:spcAft>
            </a:pPr>
            <a:r>
              <a:rPr sz="1300" b="1">
                <a:solidFill>
                  <a:srgbClr val="F4ECDD"/>
                </a:solidFill>
                <a:latin typeface="Syne"/>
              </a:rPr>
              <a:t>sFlow loopback non configurée</a:t>
            </a:r>
          </a:p>
        </p:txBody>
      </p:sp>
      <p:sp>
        <p:nvSpPr>
          <p:cNvPr id="41" name="TextBox 40"/>
          <p:cNvSpPr txBox="1"/>
          <p:nvPr/>
        </p:nvSpPr>
        <p:spPr>
          <a:xfrm>
            <a:off x="6336792" y="5769864"/>
            <a:ext cx="5029200" cy="411480"/>
          </a:xfrm>
          <a:prstGeom prst="rect">
            <a:avLst/>
          </a:prstGeom>
          <a:noFill/>
        </p:spPr>
        <p:txBody>
          <a:bodyPr wrap="square" lIns="0" tIns="0" rIns="0" bIns="0" anchor="t">
            <a:spAutoFit/>
          </a:bodyPr>
          <a:lstStyle/>
          <a:p>
            <a:pPr algn="l">
              <a:lnSpc>
                <a:spcPct val="105000"/>
              </a:lnSpc>
              <a:spcBef>
                <a:spcPts val="0"/>
              </a:spcBef>
              <a:spcAft>
                <a:spcPts val="400"/>
              </a:spcAft>
            </a:pPr>
            <a:r>
              <a:rPr sz="1100" b="0">
                <a:solidFill>
                  <a:srgbClr val="CFC4AD"/>
                </a:solidFill>
                <a:latin typeface="Newsreader Medium"/>
              </a:rPr>
              <a:t>Aucun datagramme sFlow émis sans source-interface Loopback0 explicite.</a:t>
            </a:r>
          </a:p>
        </p:txBody>
      </p:sp>
      <p:sp>
        <p:nvSpPr>
          <p:cNvPr id="42" name="TextBox 41"/>
          <p:cNvSpPr txBox="1"/>
          <p:nvPr/>
        </p:nvSpPr>
        <p:spPr>
          <a:xfrm>
            <a:off x="640080" y="6446520"/>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a:solidFill>
                  <a:srgbClr val="94896F"/>
                </a:solidFill>
                <a:latin typeface="IBM Plex Mono"/>
              </a:rPr>
              <a:t>SAE4D01 DevCloud · Groupe 8 · URTADO P. / MALOT V.</a:t>
            </a:r>
          </a:p>
        </p:txBody>
      </p:sp>
      <p:sp>
        <p:nvSpPr>
          <p:cNvPr id="43" name="TextBox 42"/>
          <p:cNvSpPr txBox="1"/>
          <p:nvPr/>
        </p:nvSpPr>
        <p:spPr>
          <a:xfrm>
            <a:off x="10698480" y="6446520"/>
            <a:ext cx="91440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0">
                <a:solidFill>
                  <a:srgbClr val="94896F"/>
                </a:solidFill>
                <a:latin typeface="IBM Plex Mono"/>
              </a:rPr>
              <a:t>16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C0A07"/>
        </a:solidFill>
        <a:effectLst/>
      </p:bgPr>
    </p:bg>
    <p:spTree>
      <p:nvGrpSpPr>
        <p:cNvPr id="1" name=""/>
        <p:cNvGrpSpPr/>
        <p:nvPr/>
      </p:nvGrpSpPr>
      <p:grpSpPr>
        <a:xfrm>
          <a:off x="0" y="0"/>
          <a:ext cx="0" cy="0"/>
          <a:chOff x="0" y="0"/>
          <a:chExt cx="0" cy="0"/>
        </a:xfrm>
      </p:grpSpPr>
      <p:sp>
        <p:nvSpPr>
          <p:cNvPr id="2" name="Rectangle 1"/>
          <p:cNvSpPr/>
          <p:nvPr/>
        </p:nvSpPr>
        <p:spPr>
          <a:xfrm>
            <a:off x="640080" y="713232"/>
            <a:ext cx="502920"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10058400" cy="365760"/>
          </a:xfrm>
          <a:prstGeom prst="rect">
            <a:avLst/>
          </a:prstGeom>
          <a:noFill/>
        </p:spPr>
        <p:txBody>
          <a:bodyPr wrap="square" lIns="0" tIns="0" rIns="0" bIns="0" anchor="t">
            <a:spAutoFit/>
          </a:bodyPr>
          <a:lstStyle/>
          <a:p>
            <a:pPr algn="l">
              <a:lnSpc>
                <a:spcPct val="100000"/>
              </a:lnSpc>
              <a:spcBef>
                <a:spcPts val="0"/>
              </a:spcBef>
              <a:spcAft>
                <a:spcPts val="400"/>
              </a:spcAft>
            </a:pPr>
            <a:r>
              <a:rPr sz="1100" b="1">
                <a:solidFill>
                  <a:srgbClr val="FF5A1F"/>
                </a:solidFill>
                <a:latin typeface="IBM Plex Mono"/>
              </a:rPr>
              <a:t>07 · RISQUES &amp; COMPÉTENCES</a:t>
            </a:r>
          </a:p>
        </p:txBody>
      </p:sp>
      <p:sp>
        <p:nvSpPr>
          <p:cNvPr id="4" name="TextBox 3"/>
          <p:cNvSpPr txBox="1"/>
          <p:nvPr/>
        </p:nvSpPr>
        <p:spPr>
          <a:xfrm>
            <a:off x="640080" y="777240"/>
            <a:ext cx="10789920" cy="822960"/>
          </a:xfrm>
          <a:prstGeom prst="rect">
            <a:avLst/>
          </a:prstGeom>
          <a:noFill/>
        </p:spPr>
        <p:txBody>
          <a:bodyPr wrap="square" lIns="0" tIns="0" rIns="0" bIns="0" anchor="t">
            <a:spAutoFit/>
          </a:bodyPr>
          <a:lstStyle/>
          <a:p>
            <a:pPr algn="l">
              <a:lnSpc>
                <a:spcPct val="100000"/>
              </a:lnSpc>
              <a:spcBef>
                <a:spcPts val="0"/>
              </a:spcBef>
              <a:spcAft>
                <a:spcPts val="400"/>
              </a:spcAft>
            </a:pPr>
            <a:r>
              <a:rPr sz="2800" b="1">
                <a:solidFill>
                  <a:srgbClr val="F4ECDD"/>
                </a:solidFill>
                <a:latin typeface="Syne"/>
              </a:rPr>
              <a:t>Limitations &amp; dette technique</a:t>
            </a:r>
          </a:p>
        </p:txBody>
      </p:sp>
      <p:sp>
        <p:nvSpPr>
          <p:cNvPr id="5" name="Rectangle 4"/>
          <p:cNvSpPr/>
          <p:nvPr/>
        </p:nvSpPr>
        <p:spPr>
          <a:xfrm>
            <a:off x="640080" y="1417320"/>
            <a:ext cx="10908792" cy="12700"/>
          </a:xfrm>
          <a:prstGeom prst="rect">
            <a:avLst/>
          </a:prstGeom>
          <a:solidFill>
            <a:srgbClr val="3A3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646920" y="384048"/>
            <a:ext cx="1901952" cy="384048"/>
          </a:xfrm>
          <a:prstGeom prst="roundRect">
            <a:avLst/>
          </a:prstGeom>
          <a:solidFill>
            <a:srgbClr val="16120C"/>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46920" y="457200"/>
            <a:ext cx="1901952" cy="274320"/>
          </a:xfrm>
          <a:prstGeom prst="rect">
            <a:avLst/>
          </a:prstGeom>
          <a:noFill/>
        </p:spPr>
        <p:txBody>
          <a:bodyPr wrap="square" lIns="0" tIns="0" rIns="0" bIns="0" anchor="t">
            <a:spAutoFit/>
          </a:bodyPr>
          <a:lstStyle/>
          <a:p>
            <a:pPr algn="ctr">
              <a:lnSpc>
                <a:spcPct val="100000"/>
              </a:lnSpc>
              <a:spcBef>
                <a:spcPts val="0"/>
              </a:spcBef>
              <a:spcAft>
                <a:spcPts val="400"/>
              </a:spcAft>
            </a:pPr>
            <a:r>
              <a:rPr sz="1100" b="1">
                <a:solidFill>
                  <a:srgbClr val="CFC4AD"/>
                </a:solidFill>
                <a:latin typeface="IBM Plex Mono"/>
              </a:rPr>
              <a:t>● ○ BINÔME</a:t>
            </a:r>
          </a:p>
        </p:txBody>
      </p:sp>
      <p:sp>
        <p:nvSpPr>
          <p:cNvPr id="8" name="Rounded Rectangle 7"/>
          <p:cNvSpPr/>
          <p:nvPr/>
        </p:nvSpPr>
        <p:spPr>
          <a:xfrm>
            <a:off x="640080" y="1664208"/>
            <a:ext cx="10908792" cy="105156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664208"/>
            <a:ext cx="63500" cy="1051560"/>
          </a:xfrm>
          <a:prstGeom prst="rect">
            <a:avLst/>
          </a:prstGeom>
          <a:solidFill>
            <a:srgbClr val="E5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 y="1755648"/>
            <a:ext cx="1463040" cy="347472"/>
          </a:xfrm>
          <a:prstGeom prst="rect">
            <a:avLst/>
          </a:prstGeom>
          <a:noFill/>
        </p:spPr>
        <p:txBody>
          <a:bodyPr wrap="square" lIns="0" tIns="0" rIns="0" bIns="0" anchor="t">
            <a:spAutoFit/>
          </a:bodyPr>
          <a:lstStyle/>
          <a:p>
            <a:pPr algn="l">
              <a:lnSpc>
                <a:spcPct val="100000"/>
              </a:lnSpc>
              <a:spcBef>
                <a:spcPts val="0"/>
              </a:spcBef>
              <a:spcAft>
                <a:spcPts val="400"/>
              </a:spcAft>
            </a:pPr>
            <a:r>
              <a:rPr sz="1050" b="1">
                <a:solidFill>
                  <a:srgbClr val="E53E3E"/>
                </a:solidFill>
                <a:latin typeface="IBM Plex Mono"/>
              </a:rPr>
              <a:t>ÉCHEC</a:t>
            </a:r>
          </a:p>
        </p:txBody>
      </p:sp>
      <p:sp>
        <p:nvSpPr>
          <p:cNvPr id="11" name="TextBox 10"/>
          <p:cNvSpPr txBox="1"/>
          <p:nvPr/>
        </p:nvSpPr>
        <p:spPr>
          <a:xfrm>
            <a:off x="841248" y="2103120"/>
            <a:ext cx="2743200" cy="548640"/>
          </a:xfrm>
          <a:prstGeom prst="rect">
            <a:avLst/>
          </a:prstGeom>
          <a:noFill/>
        </p:spPr>
        <p:txBody>
          <a:bodyPr wrap="square" lIns="0" tIns="0" rIns="0" bIns="0" anchor="t">
            <a:spAutoFit/>
          </a:bodyPr>
          <a:lstStyle/>
          <a:p>
            <a:pPr algn="l">
              <a:lnSpc>
                <a:spcPct val="100000"/>
              </a:lnSpc>
              <a:spcBef>
                <a:spcPts val="0"/>
              </a:spcBef>
              <a:spcAft>
                <a:spcPts val="400"/>
              </a:spcAft>
            </a:pPr>
            <a:r>
              <a:rPr sz="1350" b="1">
                <a:solidFill>
                  <a:srgbClr val="F4ECDD"/>
                </a:solidFill>
                <a:latin typeface="Syne"/>
              </a:rPr>
              <a:t>NAT sortant VLAN 560</a:t>
            </a:r>
          </a:p>
        </p:txBody>
      </p:sp>
      <p:sp>
        <p:nvSpPr>
          <p:cNvPr id="12" name="TextBox 11"/>
          <p:cNvSpPr txBox="1"/>
          <p:nvPr/>
        </p:nvSpPr>
        <p:spPr>
          <a:xfrm>
            <a:off x="3703320" y="1801368"/>
            <a:ext cx="7680960" cy="822960"/>
          </a:xfrm>
          <a:prstGeom prst="rect">
            <a:avLst/>
          </a:prstGeom>
          <a:noFill/>
        </p:spPr>
        <p:txBody>
          <a:bodyPr wrap="square" lIns="0" tIns="0" rIns="0" bIns="0" anchor="ctr">
            <a:spAutoFit/>
          </a:bodyPr>
          <a:lstStyle/>
          <a:p>
            <a:pPr algn="l">
              <a:lnSpc>
                <a:spcPct val="110000"/>
              </a:lnSpc>
              <a:spcBef>
                <a:spcPts val="0"/>
              </a:spcBef>
              <a:spcAft>
                <a:spcPts val="400"/>
              </a:spcAft>
            </a:pPr>
            <a:r>
              <a:rPr sz="1200" b="0">
                <a:solidFill>
                  <a:srgbClr val="CFC4AD"/>
                </a:solidFill>
                <a:latin typeface="Newsreader Medium"/>
              </a:rPr>
              <a:t>ip nat source dynamic OK en cEOS 4.33.1F. En 4.36.1F : % Unrecognized command. NAT natif absent de l'image conteneurisée.</a:t>
            </a:r>
          </a:p>
        </p:txBody>
      </p:sp>
      <p:sp>
        <p:nvSpPr>
          <p:cNvPr id="13" name="Rounded Rectangle 12"/>
          <p:cNvSpPr/>
          <p:nvPr/>
        </p:nvSpPr>
        <p:spPr>
          <a:xfrm>
            <a:off x="640080" y="2834640"/>
            <a:ext cx="10908792" cy="105156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2834640"/>
            <a:ext cx="63500" cy="1051560"/>
          </a:xfrm>
          <a:prstGeom prst="rect">
            <a:avLst/>
          </a:prstGeom>
          <a:solidFill>
            <a:srgbClr val="E5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8" y="2926080"/>
            <a:ext cx="1463040" cy="347472"/>
          </a:xfrm>
          <a:prstGeom prst="rect">
            <a:avLst/>
          </a:prstGeom>
          <a:noFill/>
        </p:spPr>
        <p:txBody>
          <a:bodyPr wrap="square" lIns="0" tIns="0" rIns="0" bIns="0" anchor="t">
            <a:spAutoFit/>
          </a:bodyPr>
          <a:lstStyle/>
          <a:p>
            <a:pPr algn="l">
              <a:lnSpc>
                <a:spcPct val="100000"/>
              </a:lnSpc>
              <a:spcBef>
                <a:spcPts val="0"/>
              </a:spcBef>
              <a:spcAft>
                <a:spcPts val="400"/>
              </a:spcAft>
            </a:pPr>
            <a:r>
              <a:rPr sz="1050" b="1">
                <a:solidFill>
                  <a:srgbClr val="E53E3E"/>
                </a:solidFill>
                <a:latin typeface="IBM Plex Mono"/>
              </a:rPr>
              <a:t>ÉCHEC</a:t>
            </a:r>
          </a:p>
        </p:txBody>
      </p:sp>
      <p:sp>
        <p:nvSpPr>
          <p:cNvPr id="16" name="TextBox 15"/>
          <p:cNvSpPr txBox="1"/>
          <p:nvPr/>
        </p:nvSpPr>
        <p:spPr>
          <a:xfrm>
            <a:off x="841248" y="3273552"/>
            <a:ext cx="2743200" cy="548640"/>
          </a:xfrm>
          <a:prstGeom prst="rect">
            <a:avLst/>
          </a:prstGeom>
          <a:noFill/>
        </p:spPr>
        <p:txBody>
          <a:bodyPr wrap="square" lIns="0" tIns="0" rIns="0" bIns="0" anchor="t">
            <a:spAutoFit/>
          </a:bodyPr>
          <a:lstStyle/>
          <a:p>
            <a:pPr algn="l">
              <a:lnSpc>
                <a:spcPct val="100000"/>
              </a:lnSpc>
              <a:spcBef>
                <a:spcPts val="0"/>
              </a:spcBef>
              <a:spcAft>
                <a:spcPts val="400"/>
              </a:spcAft>
            </a:pPr>
            <a:r>
              <a:rPr sz="1350" b="1">
                <a:solidFill>
                  <a:srgbClr val="F4ECDD"/>
                </a:solidFill>
                <a:latin typeface="Syne"/>
              </a:rPr>
              <a:t>Exposition externe conteneurs</a:t>
            </a:r>
          </a:p>
        </p:txBody>
      </p:sp>
      <p:sp>
        <p:nvSpPr>
          <p:cNvPr id="17" name="TextBox 16"/>
          <p:cNvSpPr txBox="1"/>
          <p:nvPr/>
        </p:nvSpPr>
        <p:spPr>
          <a:xfrm>
            <a:off x="3703320" y="2971800"/>
            <a:ext cx="7680960" cy="822960"/>
          </a:xfrm>
          <a:prstGeom prst="rect">
            <a:avLst/>
          </a:prstGeom>
          <a:noFill/>
        </p:spPr>
        <p:txBody>
          <a:bodyPr wrap="square" lIns="0" tIns="0" rIns="0" bIns="0" anchor="ctr">
            <a:spAutoFit/>
          </a:bodyPr>
          <a:lstStyle/>
          <a:p>
            <a:pPr algn="l">
              <a:lnSpc>
                <a:spcPct val="110000"/>
              </a:lnSpc>
              <a:spcBef>
                <a:spcPts val="0"/>
              </a:spcBef>
              <a:spcAft>
                <a:spcPts val="400"/>
              </a:spcAft>
            </a:pPr>
            <a:r>
              <a:rPr sz="1200" b="0">
                <a:solidFill>
                  <a:srgbClr val="CFC4AD"/>
                </a:solidFill>
                <a:latin typeface="Newsreader Medium"/>
              </a:rPr>
              <a:t>SYN atteignent l'hôte (ens18), binding Docker OK, mais aucun SYN-ACK ne repart — chaîne FORWARD/NAT Docker (fix Pierre : iptables -I FORWARD RELATED,ESTABLISHED).</a:t>
            </a:r>
          </a:p>
        </p:txBody>
      </p:sp>
      <p:sp>
        <p:nvSpPr>
          <p:cNvPr id="18" name="Rounded Rectangle 17"/>
          <p:cNvSpPr/>
          <p:nvPr/>
        </p:nvSpPr>
        <p:spPr>
          <a:xfrm>
            <a:off x="640080" y="4005072"/>
            <a:ext cx="10908792" cy="105156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40080" y="4005072"/>
            <a:ext cx="63500" cy="105156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1248" y="4096511"/>
            <a:ext cx="1463040" cy="347472"/>
          </a:xfrm>
          <a:prstGeom prst="rect">
            <a:avLst/>
          </a:prstGeom>
          <a:noFill/>
        </p:spPr>
        <p:txBody>
          <a:bodyPr wrap="square" lIns="0" tIns="0" rIns="0" bIns="0" anchor="t">
            <a:spAutoFit/>
          </a:bodyPr>
          <a:lstStyle/>
          <a:p>
            <a:pPr algn="l">
              <a:lnSpc>
                <a:spcPct val="100000"/>
              </a:lnSpc>
              <a:spcBef>
                <a:spcPts val="0"/>
              </a:spcBef>
              <a:spcAft>
                <a:spcPts val="400"/>
              </a:spcAft>
            </a:pPr>
            <a:r>
              <a:rPr sz="1050" b="1">
                <a:solidFill>
                  <a:srgbClr val="FFC107"/>
                </a:solidFill>
                <a:latin typeface="IBM Plex Mono"/>
              </a:rPr>
              <a:t>CONTOURNÉ</a:t>
            </a:r>
          </a:p>
        </p:txBody>
      </p:sp>
      <p:sp>
        <p:nvSpPr>
          <p:cNvPr id="21" name="TextBox 20"/>
          <p:cNvSpPr txBox="1"/>
          <p:nvPr/>
        </p:nvSpPr>
        <p:spPr>
          <a:xfrm>
            <a:off x="841248" y="4443983"/>
            <a:ext cx="2743200" cy="548640"/>
          </a:xfrm>
          <a:prstGeom prst="rect">
            <a:avLst/>
          </a:prstGeom>
          <a:noFill/>
        </p:spPr>
        <p:txBody>
          <a:bodyPr wrap="square" lIns="0" tIns="0" rIns="0" bIns="0" anchor="t">
            <a:spAutoFit/>
          </a:bodyPr>
          <a:lstStyle/>
          <a:p>
            <a:pPr algn="l">
              <a:lnSpc>
                <a:spcPct val="100000"/>
              </a:lnSpc>
              <a:spcBef>
                <a:spcPts val="0"/>
              </a:spcBef>
              <a:spcAft>
                <a:spcPts val="400"/>
              </a:spcAft>
            </a:pPr>
            <a:r>
              <a:rPr sz="1350" b="1">
                <a:solidFill>
                  <a:srgbClr val="F4ECDD"/>
                </a:solidFill>
                <a:latin typeface="Syne"/>
              </a:rPr>
              <a:t>Port-isolation switch salle</a:t>
            </a:r>
          </a:p>
        </p:txBody>
      </p:sp>
      <p:sp>
        <p:nvSpPr>
          <p:cNvPr id="22" name="TextBox 21"/>
          <p:cNvSpPr txBox="1"/>
          <p:nvPr/>
        </p:nvSpPr>
        <p:spPr>
          <a:xfrm>
            <a:off x="3703320" y="4142232"/>
            <a:ext cx="7680960" cy="822960"/>
          </a:xfrm>
          <a:prstGeom prst="rect">
            <a:avLst/>
          </a:prstGeom>
          <a:noFill/>
        </p:spPr>
        <p:txBody>
          <a:bodyPr wrap="square" lIns="0" tIns="0" rIns="0" bIns="0" anchor="ctr">
            <a:spAutoFit/>
          </a:bodyPr>
          <a:lstStyle/>
          <a:p>
            <a:pPr algn="l">
              <a:lnSpc>
                <a:spcPct val="110000"/>
              </a:lnSpc>
              <a:spcBef>
                <a:spcPts val="0"/>
              </a:spcBef>
              <a:spcAft>
                <a:spcPts val="400"/>
              </a:spcAft>
            </a:pPr>
            <a:r>
              <a:rPr sz="1200" b="0">
                <a:solidFill>
                  <a:srgbClr val="CFC4AD"/>
                </a:solidFill>
                <a:latin typeface="Newsreader Medium"/>
              </a:rPr>
              <a:t>Unicast .252↔.253 droppé (private-VLAN) → câble direct dédié 172.20.0.0/30 pour le peering intra-groupe.</a:t>
            </a:r>
          </a:p>
        </p:txBody>
      </p:sp>
      <p:sp>
        <p:nvSpPr>
          <p:cNvPr id="23" name="Rounded Rectangle 22"/>
          <p:cNvSpPr/>
          <p:nvPr/>
        </p:nvSpPr>
        <p:spPr>
          <a:xfrm>
            <a:off x="640080" y="5175504"/>
            <a:ext cx="10908792" cy="105156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40080" y="5175504"/>
            <a:ext cx="63500" cy="1051560"/>
          </a:xfrm>
          <a:prstGeom prst="rect">
            <a:avLst/>
          </a:prstGeom>
          <a:solidFill>
            <a:srgbClr val="9489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41248" y="5266944"/>
            <a:ext cx="1463040" cy="347472"/>
          </a:xfrm>
          <a:prstGeom prst="rect">
            <a:avLst/>
          </a:prstGeom>
          <a:noFill/>
        </p:spPr>
        <p:txBody>
          <a:bodyPr wrap="square" lIns="0" tIns="0" rIns="0" bIns="0" anchor="t">
            <a:spAutoFit/>
          </a:bodyPr>
          <a:lstStyle/>
          <a:p>
            <a:pPr algn="l">
              <a:lnSpc>
                <a:spcPct val="100000"/>
              </a:lnSpc>
              <a:spcBef>
                <a:spcPts val="0"/>
              </a:spcBef>
              <a:spcAft>
                <a:spcPts val="400"/>
              </a:spcAft>
            </a:pPr>
            <a:r>
              <a:rPr sz="1050" b="1">
                <a:solidFill>
                  <a:srgbClr val="94896F"/>
                </a:solidFill>
                <a:latin typeface="IBM Plex Mono"/>
              </a:rPr>
              <a:t>DETTE</a:t>
            </a:r>
          </a:p>
        </p:txBody>
      </p:sp>
      <p:sp>
        <p:nvSpPr>
          <p:cNvPr id="26" name="TextBox 25"/>
          <p:cNvSpPr txBox="1"/>
          <p:nvPr/>
        </p:nvSpPr>
        <p:spPr>
          <a:xfrm>
            <a:off x="841248" y="5614416"/>
            <a:ext cx="2743200" cy="548640"/>
          </a:xfrm>
          <a:prstGeom prst="rect">
            <a:avLst/>
          </a:prstGeom>
          <a:noFill/>
        </p:spPr>
        <p:txBody>
          <a:bodyPr wrap="square" lIns="0" tIns="0" rIns="0" bIns="0" anchor="t">
            <a:spAutoFit/>
          </a:bodyPr>
          <a:lstStyle/>
          <a:p>
            <a:pPr algn="l">
              <a:lnSpc>
                <a:spcPct val="100000"/>
              </a:lnSpc>
              <a:spcBef>
                <a:spcPts val="0"/>
              </a:spcBef>
              <a:spcAft>
                <a:spcPts val="400"/>
              </a:spcAft>
            </a:pPr>
            <a:r>
              <a:rPr sz="1350" b="1">
                <a:solidFill>
                  <a:srgbClr val="F4ECDD"/>
                </a:solidFill>
                <a:latin typeface="Syne"/>
              </a:rPr>
              <a:t>Configs manuelles iBGP</a:t>
            </a:r>
          </a:p>
        </p:txBody>
      </p:sp>
      <p:sp>
        <p:nvSpPr>
          <p:cNvPr id="27" name="TextBox 26"/>
          <p:cNvSpPr txBox="1"/>
          <p:nvPr/>
        </p:nvSpPr>
        <p:spPr>
          <a:xfrm>
            <a:off x="3703320" y="5312664"/>
            <a:ext cx="7680960" cy="822960"/>
          </a:xfrm>
          <a:prstGeom prst="rect">
            <a:avLst/>
          </a:prstGeom>
          <a:noFill/>
        </p:spPr>
        <p:txBody>
          <a:bodyPr wrap="square" lIns="0" tIns="0" rIns="0" bIns="0" anchor="ctr">
            <a:spAutoFit/>
          </a:bodyPr>
          <a:lstStyle/>
          <a:p>
            <a:pPr algn="l">
              <a:lnSpc>
                <a:spcPct val="110000"/>
              </a:lnSpc>
              <a:spcBef>
                <a:spcPts val="0"/>
              </a:spcBef>
              <a:spcAft>
                <a:spcPts val="400"/>
              </a:spcAft>
            </a:pPr>
            <a:r>
              <a:rPr sz="1200" b="0">
                <a:solidFill>
                  <a:srgbClr val="CFC4AD"/>
                </a:solidFill>
                <a:latin typeface="Newsreader Medium"/>
              </a:rPr>
              <a:t>RR + next-hop-self + peering inter-spine = maintenance lourde vs eBGP. Confirmé : eBGP plus simple à opérer en production.</a:t>
            </a:r>
          </a:p>
        </p:txBody>
      </p:sp>
      <p:sp>
        <p:nvSpPr>
          <p:cNvPr id="28" name="TextBox 27"/>
          <p:cNvSpPr txBox="1"/>
          <p:nvPr/>
        </p:nvSpPr>
        <p:spPr>
          <a:xfrm>
            <a:off x="640080" y="6446520"/>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a:solidFill>
                  <a:srgbClr val="94896F"/>
                </a:solidFill>
                <a:latin typeface="IBM Plex Mono"/>
              </a:rPr>
              <a:t>SAE4D01 DevCloud · Groupe 8 · URTADO P. / MALOT V.</a:t>
            </a:r>
          </a:p>
        </p:txBody>
      </p:sp>
      <p:sp>
        <p:nvSpPr>
          <p:cNvPr id="29" name="TextBox 28"/>
          <p:cNvSpPr txBox="1"/>
          <p:nvPr/>
        </p:nvSpPr>
        <p:spPr>
          <a:xfrm>
            <a:off x="10698480" y="6446520"/>
            <a:ext cx="91440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0">
                <a:solidFill>
                  <a:srgbClr val="94896F"/>
                </a:solidFill>
                <a:latin typeface="IBM Plex Mono"/>
              </a:rPr>
              <a:t>17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C0A07"/>
        </a:solidFill>
        <a:effectLst/>
      </p:bgPr>
    </p:bg>
    <p:spTree>
      <p:nvGrpSpPr>
        <p:cNvPr id="1" name=""/>
        <p:cNvGrpSpPr/>
        <p:nvPr/>
      </p:nvGrpSpPr>
      <p:grpSpPr>
        <a:xfrm>
          <a:off x="0" y="0"/>
          <a:ext cx="0" cy="0"/>
          <a:chOff x="0" y="0"/>
          <a:chExt cx="0" cy="0"/>
        </a:xfrm>
      </p:grpSpPr>
      <p:sp>
        <p:nvSpPr>
          <p:cNvPr id="2" name="Rectangle 1"/>
          <p:cNvSpPr/>
          <p:nvPr/>
        </p:nvSpPr>
        <p:spPr>
          <a:xfrm>
            <a:off x="640080" y="713232"/>
            <a:ext cx="502920"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10058400" cy="365760"/>
          </a:xfrm>
          <a:prstGeom prst="rect">
            <a:avLst/>
          </a:prstGeom>
          <a:noFill/>
        </p:spPr>
        <p:txBody>
          <a:bodyPr wrap="square" lIns="0" tIns="0" rIns="0" bIns="0" anchor="t">
            <a:spAutoFit/>
          </a:bodyPr>
          <a:lstStyle/>
          <a:p>
            <a:pPr algn="l">
              <a:lnSpc>
                <a:spcPct val="100000"/>
              </a:lnSpc>
              <a:spcBef>
                <a:spcPts val="0"/>
              </a:spcBef>
              <a:spcAft>
                <a:spcPts val="400"/>
              </a:spcAft>
            </a:pPr>
            <a:r>
              <a:rPr sz="1100" b="1">
                <a:solidFill>
                  <a:srgbClr val="FF5A1F"/>
                </a:solidFill>
                <a:latin typeface="IBM Plex Mono"/>
              </a:rPr>
              <a:t>07 · SYNTHÈSE</a:t>
            </a:r>
          </a:p>
        </p:txBody>
      </p:sp>
      <p:sp>
        <p:nvSpPr>
          <p:cNvPr id="4" name="TextBox 3"/>
          <p:cNvSpPr txBox="1"/>
          <p:nvPr/>
        </p:nvSpPr>
        <p:spPr>
          <a:xfrm>
            <a:off x="640080" y="777240"/>
            <a:ext cx="10789920" cy="822960"/>
          </a:xfrm>
          <a:prstGeom prst="rect">
            <a:avLst/>
          </a:prstGeom>
          <a:noFill/>
        </p:spPr>
        <p:txBody>
          <a:bodyPr wrap="square" lIns="0" tIns="0" rIns="0" bIns="0" anchor="t">
            <a:spAutoFit/>
          </a:bodyPr>
          <a:lstStyle/>
          <a:p>
            <a:pPr algn="l">
              <a:lnSpc>
                <a:spcPct val="100000"/>
              </a:lnSpc>
              <a:spcBef>
                <a:spcPts val="0"/>
              </a:spcBef>
              <a:spcAft>
                <a:spcPts val="400"/>
              </a:spcAft>
            </a:pPr>
            <a:r>
              <a:rPr sz="2800" b="1">
                <a:solidFill>
                  <a:srgbClr val="F4ECDD"/>
                </a:solidFill>
                <a:latin typeface="Syne"/>
              </a:rPr>
              <a:t>Compétences mobilisées</a:t>
            </a:r>
          </a:p>
        </p:txBody>
      </p:sp>
      <p:sp>
        <p:nvSpPr>
          <p:cNvPr id="5" name="Rectangle 4"/>
          <p:cNvSpPr/>
          <p:nvPr/>
        </p:nvSpPr>
        <p:spPr>
          <a:xfrm>
            <a:off x="640080" y="1417320"/>
            <a:ext cx="10908792" cy="12700"/>
          </a:xfrm>
          <a:prstGeom prst="rect">
            <a:avLst/>
          </a:prstGeom>
          <a:solidFill>
            <a:srgbClr val="3A3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646920" y="384048"/>
            <a:ext cx="1901952" cy="384048"/>
          </a:xfrm>
          <a:prstGeom prst="roundRect">
            <a:avLst/>
          </a:prstGeom>
          <a:solidFill>
            <a:srgbClr val="16120C"/>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46920" y="457200"/>
            <a:ext cx="1901952" cy="274320"/>
          </a:xfrm>
          <a:prstGeom prst="rect">
            <a:avLst/>
          </a:prstGeom>
          <a:noFill/>
        </p:spPr>
        <p:txBody>
          <a:bodyPr wrap="square" lIns="0" tIns="0" rIns="0" bIns="0" anchor="t">
            <a:spAutoFit/>
          </a:bodyPr>
          <a:lstStyle/>
          <a:p>
            <a:pPr algn="ctr">
              <a:lnSpc>
                <a:spcPct val="100000"/>
              </a:lnSpc>
              <a:spcBef>
                <a:spcPts val="0"/>
              </a:spcBef>
              <a:spcAft>
                <a:spcPts val="400"/>
              </a:spcAft>
            </a:pPr>
            <a:r>
              <a:rPr sz="1100" b="1">
                <a:solidFill>
                  <a:srgbClr val="CFC4AD"/>
                </a:solidFill>
                <a:latin typeface="IBM Plex Mono"/>
              </a:rPr>
              <a:t>● ○ BINÔME</a:t>
            </a:r>
          </a:p>
        </p:txBody>
      </p:sp>
      <p:sp>
        <p:nvSpPr>
          <p:cNvPr id="8" name="Rounded Rectangle 7"/>
          <p:cNvSpPr/>
          <p:nvPr/>
        </p:nvSpPr>
        <p:spPr>
          <a:xfrm>
            <a:off x="640080" y="1874519"/>
            <a:ext cx="2578608" cy="141732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874519"/>
            <a:ext cx="2578608"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2039111"/>
            <a:ext cx="2286000" cy="1097280"/>
          </a:xfrm>
          <a:prstGeom prst="rect">
            <a:avLst/>
          </a:prstGeom>
          <a:noFill/>
        </p:spPr>
        <p:txBody>
          <a:bodyPr wrap="square" lIns="0" tIns="0" rIns="0" bIns="0" anchor="t">
            <a:spAutoFit/>
          </a:bodyPr>
          <a:lstStyle/>
          <a:p>
            <a:pPr algn="l">
              <a:lnSpc>
                <a:spcPct val="108000"/>
              </a:lnSpc>
              <a:spcBef>
                <a:spcPts val="0"/>
              </a:spcBef>
              <a:spcAft>
                <a:spcPts val="400"/>
              </a:spcAft>
            </a:pPr>
            <a:r>
              <a:rPr sz="1350" b="1">
                <a:solidFill>
                  <a:srgbClr val="F4ECDD"/>
                </a:solidFill>
                <a:latin typeface="Syne"/>
              </a:rPr>
              <a:t>Conception DC</a:t>
            </a:r>
          </a:p>
          <a:p>
            <a:pPr algn="l">
              <a:lnSpc>
                <a:spcPct val="108000"/>
              </a:lnSpc>
              <a:spcBef>
                <a:spcPts val="0"/>
              </a:spcBef>
              <a:spcAft>
                <a:spcPts val="400"/>
              </a:spcAft>
            </a:pPr>
            <a:r>
              <a:rPr sz="1050" b="0">
                <a:solidFill>
                  <a:srgbClr val="CFC4AD"/>
                </a:solidFill>
                <a:latin typeface="Newsreader Medium"/>
              </a:rPr>
              <a:t>Leaf &amp; spine, iBGP vs eBGP argumenté par benchmark</a:t>
            </a:r>
          </a:p>
        </p:txBody>
      </p:sp>
      <p:sp>
        <p:nvSpPr>
          <p:cNvPr id="11" name="Rounded Rectangle 10"/>
          <p:cNvSpPr/>
          <p:nvPr/>
        </p:nvSpPr>
        <p:spPr>
          <a:xfrm>
            <a:off x="3419856" y="1874519"/>
            <a:ext cx="2578608" cy="141732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419856" y="1874519"/>
            <a:ext cx="2578608"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02736" y="2039111"/>
            <a:ext cx="2286000" cy="1097280"/>
          </a:xfrm>
          <a:prstGeom prst="rect">
            <a:avLst/>
          </a:prstGeom>
          <a:noFill/>
        </p:spPr>
        <p:txBody>
          <a:bodyPr wrap="square" lIns="0" tIns="0" rIns="0" bIns="0" anchor="t">
            <a:spAutoFit/>
          </a:bodyPr>
          <a:lstStyle/>
          <a:p>
            <a:pPr algn="l">
              <a:lnSpc>
                <a:spcPct val="108000"/>
              </a:lnSpc>
              <a:spcBef>
                <a:spcPts val="0"/>
              </a:spcBef>
              <a:spcAft>
                <a:spcPts val="400"/>
              </a:spcAft>
            </a:pPr>
            <a:r>
              <a:rPr sz="1350" b="1">
                <a:solidFill>
                  <a:srgbClr val="F4ECDD"/>
                </a:solidFill>
                <a:latin typeface="Syne"/>
              </a:rPr>
              <a:t>Routage avancé</a:t>
            </a:r>
          </a:p>
          <a:p>
            <a:pPr algn="l">
              <a:lnSpc>
                <a:spcPct val="108000"/>
              </a:lnSpc>
              <a:spcBef>
                <a:spcPts val="0"/>
              </a:spcBef>
              <a:spcAft>
                <a:spcPts val="400"/>
              </a:spcAft>
            </a:pPr>
            <a:r>
              <a:rPr sz="1050" b="0">
                <a:solidFill>
                  <a:srgbClr val="CFC4AD"/>
                </a:solidFill>
                <a:latin typeface="Newsreader Medium"/>
              </a:rPr>
              <a:t>BGP, RR, OSPF, MP-BGP/EVPN, ECMP, BFD</a:t>
            </a:r>
          </a:p>
        </p:txBody>
      </p:sp>
      <p:sp>
        <p:nvSpPr>
          <p:cNvPr id="14" name="Rounded Rectangle 13"/>
          <p:cNvSpPr/>
          <p:nvPr/>
        </p:nvSpPr>
        <p:spPr>
          <a:xfrm>
            <a:off x="6199632" y="1874519"/>
            <a:ext cx="2578608" cy="141732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99632" y="1874519"/>
            <a:ext cx="2578608"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82512" y="2039111"/>
            <a:ext cx="2286000" cy="1097280"/>
          </a:xfrm>
          <a:prstGeom prst="rect">
            <a:avLst/>
          </a:prstGeom>
          <a:noFill/>
        </p:spPr>
        <p:txBody>
          <a:bodyPr wrap="square" lIns="0" tIns="0" rIns="0" bIns="0" anchor="t">
            <a:spAutoFit/>
          </a:bodyPr>
          <a:lstStyle/>
          <a:p>
            <a:pPr algn="l">
              <a:lnSpc>
                <a:spcPct val="108000"/>
              </a:lnSpc>
              <a:spcBef>
                <a:spcPts val="0"/>
              </a:spcBef>
              <a:spcAft>
                <a:spcPts val="400"/>
              </a:spcAft>
            </a:pPr>
            <a:r>
              <a:rPr sz="1350" b="1">
                <a:solidFill>
                  <a:srgbClr val="F4ECDD"/>
                </a:solidFill>
                <a:latin typeface="Syne"/>
              </a:rPr>
              <a:t>Virtu. réseau</a:t>
            </a:r>
          </a:p>
          <a:p>
            <a:pPr algn="l">
              <a:lnSpc>
                <a:spcPct val="108000"/>
              </a:lnSpc>
              <a:spcBef>
                <a:spcPts val="0"/>
              </a:spcBef>
              <a:spcAft>
                <a:spcPts val="400"/>
              </a:spcAft>
            </a:pPr>
            <a:r>
              <a:rPr sz="1050" b="0">
                <a:solidFill>
                  <a:srgbClr val="CFC4AD"/>
                </a:solidFill>
                <a:latin typeface="Newsreader Medium"/>
              </a:rPr>
              <a:t>VXLAN (VTEP, VNI L2/L3), anycast GW, IRB</a:t>
            </a:r>
          </a:p>
        </p:txBody>
      </p:sp>
      <p:sp>
        <p:nvSpPr>
          <p:cNvPr id="17" name="Rounded Rectangle 16"/>
          <p:cNvSpPr/>
          <p:nvPr/>
        </p:nvSpPr>
        <p:spPr>
          <a:xfrm>
            <a:off x="8979408" y="1874519"/>
            <a:ext cx="2578608" cy="141732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979408" y="1874519"/>
            <a:ext cx="2578608"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62288" y="2039111"/>
            <a:ext cx="2286000" cy="1097280"/>
          </a:xfrm>
          <a:prstGeom prst="rect">
            <a:avLst/>
          </a:prstGeom>
          <a:noFill/>
        </p:spPr>
        <p:txBody>
          <a:bodyPr wrap="square" lIns="0" tIns="0" rIns="0" bIns="0" anchor="t">
            <a:spAutoFit/>
          </a:bodyPr>
          <a:lstStyle/>
          <a:p>
            <a:pPr algn="l">
              <a:lnSpc>
                <a:spcPct val="108000"/>
              </a:lnSpc>
              <a:spcBef>
                <a:spcPts val="0"/>
              </a:spcBef>
              <a:spcAft>
                <a:spcPts val="400"/>
              </a:spcAft>
            </a:pPr>
            <a:r>
              <a:rPr sz="1350" b="1">
                <a:solidFill>
                  <a:srgbClr val="F4ECDD"/>
                </a:solidFill>
                <a:latin typeface="Syne"/>
              </a:rPr>
              <a:t>IaC</a:t>
            </a:r>
          </a:p>
          <a:p>
            <a:pPr algn="l">
              <a:lnSpc>
                <a:spcPct val="108000"/>
              </a:lnSpc>
              <a:spcBef>
                <a:spcPts val="0"/>
              </a:spcBef>
              <a:spcAft>
                <a:spcPts val="400"/>
              </a:spcAft>
            </a:pPr>
            <a:r>
              <a:rPr sz="1050" b="0">
                <a:solidFill>
                  <a:srgbClr val="CFC4AD"/>
                </a:solidFill>
                <a:latin typeface="Newsreader Medium"/>
              </a:rPr>
              <a:t>netlab + containerlab, images Docker custom</a:t>
            </a:r>
          </a:p>
        </p:txBody>
      </p:sp>
      <p:sp>
        <p:nvSpPr>
          <p:cNvPr id="20" name="Rounded Rectangle 19"/>
          <p:cNvSpPr/>
          <p:nvPr/>
        </p:nvSpPr>
        <p:spPr>
          <a:xfrm>
            <a:off x="640080" y="3474720"/>
            <a:ext cx="2578608" cy="141732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40080" y="3474720"/>
            <a:ext cx="2578608"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3639312"/>
            <a:ext cx="2286000" cy="1097280"/>
          </a:xfrm>
          <a:prstGeom prst="rect">
            <a:avLst/>
          </a:prstGeom>
          <a:noFill/>
        </p:spPr>
        <p:txBody>
          <a:bodyPr wrap="square" lIns="0" tIns="0" rIns="0" bIns="0" anchor="t">
            <a:spAutoFit/>
          </a:bodyPr>
          <a:lstStyle/>
          <a:p>
            <a:pPr algn="l">
              <a:lnSpc>
                <a:spcPct val="108000"/>
              </a:lnSpc>
              <a:spcBef>
                <a:spcPts val="0"/>
              </a:spcBef>
              <a:spcAft>
                <a:spcPts val="400"/>
              </a:spcAft>
            </a:pPr>
            <a:r>
              <a:rPr sz="1350" b="1">
                <a:solidFill>
                  <a:srgbClr val="F4ECDD"/>
                </a:solidFill>
                <a:latin typeface="Syne"/>
              </a:rPr>
              <a:t>Matériel &amp; NFV</a:t>
            </a:r>
          </a:p>
          <a:p>
            <a:pPr algn="l">
              <a:lnSpc>
                <a:spcPct val="108000"/>
              </a:lnSpc>
              <a:spcBef>
                <a:spcPts val="0"/>
              </a:spcBef>
              <a:spcAft>
                <a:spcPts val="400"/>
              </a:spcAft>
            </a:pPr>
            <a:r>
              <a:rPr sz="1050" b="0">
                <a:solidFill>
                  <a:srgbClr val="CFC4AD"/>
                </a:solidFill>
                <a:latin typeface="Newsreader Medium"/>
              </a:rPr>
              <a:t>NFVIS, rebuild C8000v ISO→qcow2, MikroTik</a:t>
            </a:r>
          </a:p>
        </p:txBody>
      </p:sp>
      <p:sp>
        <p:nvSpPr>
          <p:cNvPr id="23" name="Rounded Rectangle 22"/>
          <p:cNvSpPr/>
          <p:nvPr/>
        </p:nvSpPr>
        <p:spPr>
          <a:xfrm>
            <a:off x="3419856" y="3474720"/>
            <a:ext cx="2578608" cy="141732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419856" y="3474720"/>
            <a:ext cx="2578608"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02736" y="3639312"/>
            <a:ext cx="2286000" cy="1097280"/>
          </a:xfrm>
          <a:prstGeom prst="rect">
            <a:avLst/>
          </a:prstGeom>
          <a:noFill/>
        </p:spPr>
        <p:txBody>
          <a:bodyPr wrap="square" lIns="0" tIns="0" rIns="0" bIns="0" anchor="t">
            <a:spAutoFit/>
          </a:bodyPr>
          <a:lstStyle/>
          <a:p>
            <a:pPr algn="l">
              <a:lnSpc>
                <a:spcPct val="108000"/>
              </a:lnSpc>
              <a:spcBef>
                <a:spcPts val="0"/>
              </a:spcBef>
              <a:spcAft>
                <a:spcPts val="400"/>
              </a:spcAft>
            </a:pPr>
            <a:r>
              <a:rPr sz="1350" b="1">
                <a:solidFill>
                  <a:srgbClr val="F4ECDD"/>
                </a:solidFill>
                <a:latin typeface="Syne"/>
              </a:rPr>
              <a:t>Observabilité</a:t>
            </a:r>
          </a:p>
          <a:p>
            <a:pPr algn="l">
              <a:lnSpc>
                <a:spcPct val="108000"/>
              </a:lnSpc>
              <a:spcBef>
                <a:spcPts val="0"/>
              </a:spcBef>
              <a:spcAft>
                <a:spcPts val="400"/>
              </a:spcAft>
            </a:pPr>
            <a:r>
              <a:rPr sz="1050" b="0">
                <a:solidFill>
                  <a:srgbClr val="CFC4AD"/>
                </a:solidFill>
                <a:latin typeface="Newsreader Medium"/>
              </a:rPr>
              <a:t>sFlow, export Python, Prometheus, Grafana</a:t>
            </a:r>
          </a:p>
        </p:txBody>
      </p:sp>
      <p:sp>
        <p:nvSpPr>
          <p:cNvPr id="26" name="Rounded Rectangle 25"/>
          <p:cNvSpPr/>
          <p:nvPr/>
        </p:nvSpPr>
        <p:spPr>
          <a:xfrm>
            <a:off x="6199632" y="3474720"/>
            <a:ext cx="2578608" cy="141732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199632" y="3474720"/>
            <a:ext cx="2578608"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82512" y="3639312"/>
            <a:ext cx="2286000" cy="1097280"/>
          </a:xfrm>
          <a:prstGeom prst="rect">
            <a:avLst/>
          </a:prstGeom>
          <a:noFill/>
        </p:spPr>
        <p:txBody>
          <a:bodyPr wrap="square" lIns="0" tIns="0" rIns="0" bIns="0" anchor="t">
            <a:spAutoFit/>
          </a:bodyPr>
          <a:lstStyle/>
          <a:p>
            <a:pPr algn="l">
              <a:lnSpc>
                <a:spcPct val="108000"/>
              </a:lnSpc>
              <a:spcBef>
                <a:spcPts val="0"/>
              </a:spcBef>
              <a:spcAft>
                <a:spcPts val="400"/>
              </a:spcAft>
            </a:pPr>
            <a:r>
              <a:rPr sz="1350" b="1">
                <a:solidFill>
                  <a:srgbClr val="F4ECDD"/>
                </a:solidFill>
                <a:latin typeface="Syne"/>
              </a:rPr>
              <a:t>Interco multi-AS</a:t>
            </a:r>
          </a:p>
          <a:p>
            <a:pPr algn="l">
              <a:lnSpc>
                <a:spcPct val="108000"/>
              </a:lnSpc>
              <a:spcBef>
                <a:spcPts val="0"/>
              </a:spcBef>
              <a:spcAft>
                <a:spcPts val="400"/>
              </a:spcAft>
            </a:pPr>
            <a:r>
              <a:rPr sz="1050" b="0">
                <a:solidFill>
                  <a:srgbClr val="CFC4AD"/>
                </a:solidFill>
                <a:latin typeface="Newsreader Medium"/>
              </a:rPr>
              <a:t>Peering eBGP/EVPN, extension L2 inter-DC</a:t>
            </a:r>
          </a:p>
        </p:txBody>
      </p:sp>
      <p:sp>
        <p:nvSpPr>
          <p:cNvPr id="29" name="Rounded Rectangle 28"/>
          <p:cNvSpPr/>
          <p:nvPr/>
        </p:nvSpPr>
        <p:spPr>
          <a:xfrm>
            <a:off x="8979408" y="3474720"/>
            <a:ext cx="2578608" cy="1417320"/>
          </a:xfrm>
          <a:prstGeom prst="roundRect">
            <a:avLst/>
          </a:prstGeom>
          <a:solidFill>
            <a:srgbClr val="120F0A"/>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979408" y="3474720"/>
            <a:ext cx="2578608"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62288" y="3639312"/>
            <a:ext cx="2286000" cy="1097280"/>
          </a:xfrm>
          <a:prstGeom prst="rect">
            <a:avLst/>
          </a:prstGeom>
          <a:noFill/>
        </p:spPr>
        <p:txBody>
          <a:bodyPr wrap="square" lIns="0" tIns="0" rIns="0" bIns="0" anchor="t">
            <a:spAutoFit/>
          </a:bodyPr>
          <a:lstStyle/>
          <a:p>
            <a:pPr algn="l">
              <a:lnSpc>
                <a:spcPct val="108000"/>
              </a:lnSpc>
              <a:spcBef>
                <a:spcPts val="0"/>
              </a:spcBef>
              <a:spcAft>
                <a:spcPts val="400"/>
              </a:spcAft>
            </a:pPr>
            <a:r>
              <a:rPr sz="1350" b="1">
                <a:solidFill>
                  <a:srgbClr val="F4ECDD"/>
                </a:solidFill>
                <a:latin typeface="Syne"/>
              </a:rPr>
              <a:t>Résolution bugs</a:t>
            </a:r>
          </a:p>
          <a:p>
            <a:pPr algn="l">
              <a:lnSpc>
                <a:spcPct val="108000"/>
              </a:lnSpc>
              <a:spcBef>
                <a:spcPts val="0"/>
              </a:spcBef>
              <a:spcAft>
                <a:spcPts val="400"/>
              </a:spcAft>
            </a:pPr>
            <a:r>
              <a:rPr sz="1050" b="0">
                <a:solidFill>
                  <a:srgbClr val="CFC4AD"/>
                </a:solidFill>
                <a:latin typeface="Newsreader Medium"/>
              </a:rPr>
              <a:t>8 bugs réseau diagnostiqués et documentés</a:t>
            </a:r>
          </a:p>
        </p:txBody>
      </p:sp>
      <p:sp>
        <p:nvSpPr>
          <p:cNvPr id="32" name="TextBox 31"/>
          <p:cNvSpPr txBox="1"/>
          <p:nvPr/>
        </p:nvSpPr>
        <p:spPr>
          <a:xfrm>
            <a:off x="640080" y="6446520"/>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a:solidFill>
                  <a:srgbClr val="94896F"/>
                </a:solidFill>
                <a:latin typeface="IBM Plex Mono"/>
              </a:rPr>
              <a:t>SAE4D01 DevCloud · Groupe 8 · URTADO P. / MALOT V.</a:t>
            </a:r>
          </a:p>
        </p:txBody>
      </p:sp>
      <p:sp>
        <p:nvSpPr>
          <p:cNvPr id="33" name="TextBox 32"/>
          <p:cNvSpPr txBox="1"/>
          <p:nvPr/>
        </p:nvSpPr>
        <p:spPr>
          <a:xfrm>
            <a:off x="10698480" y="6446520"/>
            <a:ext cx="91440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0">
                <a:solidFill>
                  <a:srgbClr val="94896F"/>
                </a:solidFill>
                <a:latin typeface="IBM Plex Mono"/>
              </a:rPr>
              <a:t>18</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C0A07"/>
        </a:solidFill>
        <a:effectLst/>
      </p:bgPr>
    </p:bg>
    <p:spTree>
      <p:nvGrpSpPr>
        <p:cNvPr id="1" name=""/>
        <p:cNvGrpSpPr/>
        <p:nvPr/>
      </p:nvGrpSpPr>
      <p:grpSpPr>
        <a:xfrm>
          <a:off x="0" y="0"/>
          <a:ext cx="0" cy="0"/>
          <a:chOff x="0" y="0"/>
          <a:chExt cx="0" cy="0"/>
        </a:xfrm>
      </p:grpSpPr>
      <p:sp>
        <p:nvSpPr>
          <p:cNvPr id="2" name="Rectangle 1"/>
          <p:cNvSpPr/>
          <p:nvPr/>
        </p:nvSpPr>
        <p:spPr>
          <a:xfrm>
            <a:off x="640080" y="713232"/>
            <a:ext cx="502920"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10058400" cy="365760"/>
          </a:xfrm>
          <a:prstGeom prst="rect">
            <a:avLst/>
          </a:prstGeom>
          <a:noFill/>
        </p:spPr>
        <p:txBody>
          <a:bodyPr wrap="square" lIns="0" tIns="0" rIns="0" bIns="0" anchor="t">
            <a:spAutoFit/>
          </a:bodyPr>
          <a:lstStyle/>
          <a:p>
            <a:pPr algn="l">
              <a:lnSpc>
                <a:spcPct val="100000"/>
              </a:lnSpc>
              <a:spcBef>
                <a:spcPts val="0"/>
              </a:spcBef>
              <a:spcAft>
                <a:spcPts val="400"/>
              </a:spcAft>
            </a:pPr>
            <a:r>
              <a:rPr sz="1100" b="1">
                <a:solidFill>
                  <a:srgbClr val="FF5A1F"/>
                </a:solidFill>
                <a:latin typeface="IBM Plex Mono"/>
              </a:rPr>
              <a:t>08 · CONCLUSION</a:t>
            </a:r>
          </a:p>
        </p:txBody>
      </p:sp>
      <p:sp>
        <p:nvSpPr>
          <p:cNvPr id="4" name="TextBox 3"/>
          <p:cNvSpPr txBox="1"/>
          <p:nvPr/>
        </p:nvSpPr>
        <p:spPr>
          <a:xfrm>
            <a:off x="640080" y="777240"/>
            <a:ext cx="10789920" cy="822960"/>
          </a:xfrm>
          <a:prstGeom prst="rect">
            <a:avLst/>
          </a:prstGeom>
          <a:noFill/>
        </p:spPr>
        <p:txBody>
          <a:bodyPr wrap="square" lIns="0" tIns="0" rIns="0" bIns="0" anchor="t">
            <a:spAutoFit/>
          </a:bodyPr>
          <a:lstStyle/>
          <a:p>
            <a:pPr algn="l">
              <a:lnSpc>
                <a:spcPct val="100000"/>
              </a:lnSpc>
              <a:spcBef>
                <a:spcPts val="0"/>
              </a:spcBef>
              <a:spcAft>
                <a:spcPts val="400"/>
              </a:spcAft>
            </a:pPr>
            <a:r>
              <a:rPr sz="2800" b="1">
                <a:solidFill>
                  <a:srgbClr val="F4ECDD"/>
                </a:solidFill>
                <a:latin typeface="Syne"/>
              </a:rPr>
              <a:t>Quelle techno préférons-nous — et pourquoi ?</a:t>
            </a:r>
          </a:p>
        </p:txBody>
      </p:sp>
      <p:sp>
        <p:nvSpPr>
          <p:cNvPr id="5" name="Rectangle 4"/>
          <p:cNvSpPr/>
          <p:nvPr/>
        </p:nvSpPr>
        <p:spPr>
          <a:xfrm>
            <a:off x="640080" y="1417320"/>
            <a:ext cx="10908792" cy="12700"/>
          </a:xfrm>
          <a:prstGeom prst="rect">
            <a:avLst/>
          </a:prstGeom>
          <a:solidFill>
            <a:srgbClr val="3A3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646920" y="384048"/>
            <a:ext cx="1901952" cy="384048"/>
          </a:xfrm>
          <a:prstGeom prst="roundRect">
            <a:avLst/>
          </a:prstGeom>
          <a:solidFill>
            <a:srgbClr val="16120C"/>
          </a:solidFill>
          <a:ln w="12700">
            <a:solidFill>
              <a:srgbClr val="3A31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46920" y="457200"/>
            <a:ext cx="1901952" cy="274320"/>
          </a:xfrm>
          <a:prstGeom prst="rect">
            <a:avLst/>
          </a:prstGeom>
          <a:noFill/>
        </p:spPr>
        <p:txBody>
          <a:bodyPr wrap="square" lIns="0" tIns="0" rIns="0" bIns="0" anchor="t">
            <a:spAutoFit/>
          </a:bodyPr>
          <a:lstStyle/>
          <a:p>
            <a:pPr algn="ctr">
              <a:lnSpc>
                <a:spcPct val="100000"/>
              </a:lnSpc>
              <a:spcBef>
                <a:spcPts val="0"/>
              </a:spcBef>
              <a:spcAft>
                <a:spcPts val="400"/>
              </a:spcAft>
            </a:pPr>
            <a:r>
              <a:rPr sz="1100" b="1">
                <a:solidFill>
                  <a:srgbClr val="CFC4AD"/>
                </a:solidFill>
                <a:latin typeface="IBM Plex Mono"/>
              </a:rPr>
              <a:t>● ○ BINÔME</a:t>
            </a:r>
          </a:p>
        </p:txBody>
      </p:sp>
      <p:sp>
        <p:nvSpPr>
          <p:cNvPr id="8" name="TextBox 7"/>
          <p:cNvSpPr txBox="1"/>
          <p:nvPr/>
        </p:nvSpPr>
        <p:spPr>
          <a:xfrm>
            <a:off x="640080" y="1572768"/>
            <a:ext cx="10908792" cy="548640"/>
          </a:xfrm>
          <a:prstGeom prst="rect">
            <a:avLst/>
          </a:prstGeom>
          <a:noFill/>
        </p:spPr>
        <p:txBody>
          <a:bodyPr wrap="square" lIns="0" tIns="0" rIns="0" bIns="0" anchor="t">
            <a:spAutoFit/>
          </a:bodyPr>
          <a:lstStyle/>
          <a:p>
            <a:pPr algn="l">
              <a:lnSpc>
                <a:spcPct val="100000"/>
              </a:lnSpc>
              <a:spcBef>
                <a:spcPts val="0"/>
              </a:spcBef>
              <a:spcAft>
                <a:spcPts val="400"/>
              </a:spcAft>
            </a:pPr>
            <a:r>
              <a:rPr sz="1400" b="0">
                <a:solidFill>
                  <a:srgbClr val="CFC4AD"/>
                </a:solidFill>
                <a:latin typeface="Newsreader Medium"/>
              </a:rPr>
              <a:t>Même résultat en débit (~39 Gbit/s). La différence est dans l'exploitation et la scalabilité.</a:t>
            </a:r>
          </a:p>
        </p:txBody>
      </p:sp>
      <p:sp>
        <p:nvSpPr>
          <p:cNvPr id="9" name="Rounded Rectangle 8"/>
          <p:cNvSpPr/>
          <p:nvPr/>
        </p:nvSpPr>
        <p:spPr>
          <a:xfrm>
            <a:off x="640080" y="2286000"/>
            <a:ext cx="5349240" cy="4206240"/>
          </a:xfrm>
          <a:prstGeom prst="roundRect">
            <a:avLst/>
          </a:prstGeom>
          <a:solidFill>
            <a:srgbClr val="120F0A"/>
          </a:solidFill>
          <a:ln w="19050">
            <a:solidFill>
              <a:srgbClr val="FF5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2286000"/>
            <a:ext cx="5349240" cy="508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432304"/>
            <a:ext cx="4937760" cy="777240"/>
          </a:xfrm>
          <a:prstGeom prst="rect">
            <a:avLst/>
          </a:prstGeom>
          <a:noFill/>
        </p:spPr>
        <p:txBody>
          <a:bodyPr wrap="square" lIns="0" tIns="0" rIns="0" bIns="0" anchor="t">
            <a:spAutoFit/>
          </a:bodyPr>
          <a:lstStyle/>
          <a:p>
            <a:pPr algn="l">
              <a:lnSpc>
                <a:spcPct val="100000"/>
              </a:lnSpc>
              <a:spcBef>
                <a:spcPts val="0"/>
              </a:spcBef>
              <a:spcAft>
                <a:spcPts val="300"/>
              </a:spcAft>
            </a:pPr>
            <a:r>
              <a:rPr sz="1600" b="1">
                <a:solidFill>
                  <a:srgbClr val="F4ECDD"/>
                </a:solidFill>
                <a:latin typeface="Syne"/>
              </a:rPr>
              <a:t>● eBGP RFC 7938 (Pierre)</a:t>
            </a:r>
          </a:p>
          <a:p>
            <a:pPr algn="l">
              <a:lnSpc>
                <a:spcPct val="100000"/>
              </a:lnSpc>
              <a:spcBef>
                <a:spcPts val="0"/>
              </a:spcBef>
              <a:spcAft>
                <a:spcPts val="300"/>
              </a:spcAft>
            </a:pPr>
            <a:r>
              <a:rPr sz="1100" b="1">
                <a:solidFill>
                  <a:srgbClr val="FF5A1F"/>
                </a:solidFill>
                <a:latin typeface="IBM Plex Mono"/>
              </a:rPr>
              <a:t>Recommandé en production moderne</a:t>
            </a:r>
          </a:p>
        </p:txBody>
      </p:sp>
      <p:sp>
        <p:nvSpPr>
          <p:cNvPr id="12" name="TextBox 11"/>
          <p:cNvSpPr txBox="1"/>
          <p:nvPr/>
        </p:nvSpPr>
        <p:spPr>
          <a:xfrm>
            <a:off x="868680" y="3310128"/>
            <a:ext cx="4937760" cy="4572000"/>
          </a:xfrm>
          <a:prstGeom prst="rect">
            <a:avLst/>
          </a:prstGeom>
          <a:noFill/>
        </p:spPr>
        <p:txBody>
          <a:bodyPr wrap="square" lIns="0" tIns="0" rIns="0" bIns="0" anchor="t">
            <a:spAutoFit/>
          </a:bodyPr>
          <a:lstStyle/>
          <a:p>
            <a:pPr algn="l">
              <a:lnSpc>
                <a:spcPct val="112000"/>
              </a:lnSpc>
              <a:spcBef>
                <a:spcPts val="0"/>
              </a:spcBef>
              <a:spcAft>
                <a:spcPts val="600"/>
              </a:spcAft>
            </a:pPr>
            <a:r>
              <a:rPr sz="1200" b="1">
                <a:solidFill>
                  <a:srgbClr val="FF5A1F"/>
                </a:solidFill>
                <a:latin typeface="Newsreader ExtraBold"/>
              </a:rPr>
              <a:t>• </a:t>
            </a:r>
            <a:r>
              <a:rPr sz="1200" b="0">
                <a:solidFill>
                  <a:srgbClr val="CFC4AD"/>
                </a:solidFill>
                <a:latin typeface="Newsreader Medium"/>
              </a:rPr>
              <a:t>Next-hop réécrit nativement à chaque saut — aucun next-hop-self.</a:t>
            </a:r>
          </a:p>
          <a:p>
            <a:pPr algn="l">
              <a:lnSpc>
                <a:spcPct val="112000"/>
              </a:lnSpc>
              <a:spcBef>
                <a:spcPts val="0"/>
              </a:spcBef>
              <a:spcAft>
                <a:spcPts val="600"/>
              </a:spcAft>
            </a:pPr>
            <a:r>
              <a:rPr sz="1200" b="1">
                <a:solidFill>
                  <a:srgbClr val="FF5A1F"/>
                </a:solidFill>
                <a:latin typeface="Newsreader ExtraBold"/>
              </a:rPr>
              <a:t>• </a:t>
            </a:r>
            <a:r>
              <a:rPr sz="1200" b="0">
                <a:solidFill>
                  <a:srgbClr val="CFC4AD"/>
                </a:solidFill>
                <a:latin typeface="Newsreader Medium"/>
              </a:rPr>
              <a:t>ECMP via AS-path sans configuration supplémentaire.</a:t>
            </a:r>
          </a:p>
          <a:p>
            <a:pPr algn="l">
              <a:lnSpc>
                <a:spcPct val="112000"/>
              </a:lnSpc>
              <a:spcBef>
                <a:spcPts val="0"/>
              </a:spcBef>
              <a:spcAft>
                <a:spcPts val="600"/>
              </a:spcAft>
            </a:pPr>
            <a:r>
              <a:rPr sz="1200" b="1">
                <a:solidFill>
                  <a:srgbClr val="FF5A1F"/>
                </a:solidFill>
                <a:latin typeface="Newsreader ExtraBold"/>
              </a:rPr>
              <a:t>• </a:t>
            </a:r>
            <a:r>
              <a:rPr sz="1200" b="0">
                <a:solidFill>
                  <a:srgbClr val="CFC4AD"/>
                </a:solidFill>
                <a:latin typeface="Newsreader Medium"/>
              </a:rPr>
              <a:t>Un AS par équipement = isolation de défaillance naturelle.</a:t>
            </a:r>
          </a:p>
          <a:p>
            <a:pPr algn="l">
              <a:lnSpc>
                <a:spcPct val="112000"/>
              </a:lnSpc>
              <a:spcBef>
                <a:spcPts val="0"/>
              </a:spcBef>
              <a:spcAft>
                <a:spcPts val="600"/>
              </a:spcAft>
            </a:pPr>
            <a:r>
              <a:rPr sz="1200" b="1">
                <a:solidFill>
                  <a:srgbClr val="FF5A1F"/>
                </a:solidFill>
                <a:latin typeface="Newsreader ExtraBold"/>
              </a:rPr>
              <a:t>• </a:t>
            </a:r>
            <a:r>
              <a:rPr sz="1200" b="0">
                <a:solidFill>
                  <a:srgbClr val="CFC4AD"/>
                </a:solidFill>
                <a:latin typeface="Newsreader Medium"/>
              </a:rPr>
              <a:t>Pas de route reflector = pas de point de failure centralisé.</a:t>
            </a:r>
          </a:p>
          <a:p>
            <a:pPr algn="l">
              <a:lnSpc>
                <a:spcPct val="112000"/>
              </a:lnSpc>
              <a:spcBef>
                <a:spcPts val="0"/>
              </a:spcBef>
              <a:spcAft>
                <a:spcPts val="600"/>
              </a:spcAft>
            </a:pPr>
            <a:r>
              <a:rPr sz="1200" b="1">
                <a:solidFill>
                  <a:srgbClr val="FF5A1F"/>
                </a:solidFill>
                <a:latin typeface="Newsreader ExtraBold"/>
              </a:rPr>
              <a:t>• </a:t>
            </a:r>
            <a:r>
              <a:rPr sz="1200" b="0">
                <a:solidFill>
                  <a:srgbClr val="CFC4AD"/>
                </a:solidFill>
                <a:latin typeface="Newsreader Medium"/>
              </a:rPr>
              <a:t>Standard : Cumulus, NVIDIA Air, Facebook, hyperscalers.</a:t>
            </a:r>
          </a:p>
        </p:txBody>
      </p:sp>
      <p:sp>
        <p:nvSpPr>
          <p:cNvPr id="13" name="Rounded Rectangle 12"/>
          <p:cNvSpPr/>
          <p:nvPr/>
        </p:nvSpPr>
        <p:spPr>
          <a:xfrm>
            <a:off x="6172200" y="2286000"/>
            <a:ext cx="5349240" cy="4206240"/>
          </a:xfrm>
          <a:prstGeom prst="roundRect">
            <a:avLst/>
          </a:prstGeom>
          <a:solidFill>
            <a:srgbClr val="120F0A"/>
          </a:solidFill>
          <a:ln w="1905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72200" y="2286000"/>
            <a:ext cx="5349240" cy="50800"/>
          </a:xfrm>
          <a:prstGeom prst="rect">
            <a:avLst/>
          </a:prstGeom>
          <a:solidFill>
            <a:srgbClr val="FF8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2432304"/>
            <a:ext cx="4937760" cy="777240"/>
          </a:xfrm>
          <a:prstGeom prst="rect">
            <a:avLst/>
          </a:prstGeom>
          <a:noFill/>
        </p:spPr>
        <p:txBody>
          <a:bodyPr wrap="square" lIns="0" tIns="0" rIns="0" bIns="0" anchor="t">
            <a:spAutoFit/>
          </a:bodyPr>
          <a:lstStyle/>
          <a:p>
            <a:pPr algn="l">
              <a:lnSpc>
                <a:spcPct val="100000"/>
              </a:lnSpc>
              <a:spcBef>
                <a:spcPts val="0"/>
              </a:spcBef>
              <a:spcAft>
                <a:spcPts val="300"/>
              </a:spcAft>
            </a:pPr>
            <a:r>
              <a:rPr sz="1600" b="1">
                <a:solidFill>
                  <a:srgbClr val="F4ECDD"/>
                </a:solidFill>
                <a:latin typeface="Syne"/>
              </a:rPr>
              <a:t>○ iBGP + EVPN (Valentin)</a:t>
            </a:r>
          </a:p>
          <a:p>
            <a:pPr algn="l">
              <a:lnSpc>
                <a:spcPct val="100000"/>
              </a:lnSpc>
              <a:spcBef>
                <a:spcPts val="0"/>
              </a:spcBef>
              <a:spcAft>
                <a:spcPts val="300"/>
              </a:spcAft>
            </a:pPr>
            <a:r>
              <a:rPr sz="1100" b="1">
                <a:solidFill>
                  <a:srgbClr val="FF8A3D"/>
                </a:solidFill>
                <a:latin typeface="IBM Plex Mono"/>
              </a:rPr>
              <a:t>Valide pour overlay L2 — lourd pour underlay pur</a:t>
            </a:r>
          </a:p>
        </p:txBody>
      </p:sp>
      <p:sp>
        <p:nvSpPr>
          <p:cNvPr id="16" name="TextBox 15"/>
          <p:cNvSpPr txBox="1"/>
          <p:nvPr/>
        </p:nvSpPr>
        <p:spPr>
          <a:xfrm>
            <a:off x="6400800" y="3310128"/>
            <a:ext cx="4937760" cy="4572000"/>
          </a:xfrm>
          <a:prstGeom prst="rect">
            <a:avLst/>
          </a:prstGeom>
          <a:noFill/>
        </p:spPr>
        <p:txBody>
          <a:bodyPr wrap="square" lIns="0" tIns="0" rIns="0" bIns="0" anchor="t">
            <a:spAutoFit/>
          </a:bodyPr>
          <a:lstStyle/>
          <a:p>
            <a:pPr algn="l">
              <a:lnSpc>
                <a:spcPct val="112000"/>
              </a:lnSpc>
              <a:spcBef>
                <a:spcPts val="0"/>
              </a:spcBef>
              <a:spcAft>
                <a:spcPts val="600"/>
              </a:spcAft>
            </a:pPr>
            <a:r>
              <a:rPr sz="1200" b="1">
                <a:solidFill>
                  <a:srgbClr val="FF8A3D"/>
                </a:solidFill>
                <a:latin typeface="Newsreader ExtraBold"/>
              </a:rPr>
              <a:t>• </a:t>
            </a:r>
            <a:r>
              <a:rPr sz="1200" b="0">
                <a:solidFill>
                  <a:srgbClr val="CFC4AD"/>
                </a:solidFill>
                <a:latin typeface="Newsreader Medium"/>
              </a:rPr>
              <a:t>RR + next-hop-self + peering inter-spine = config manuelle lourde.</a:t>
            </a:r>
          </a:p>
          <a:p>
            <a:pPr algn="l">
              <a:lnSpc>
                <a:spcPct val="112000"/>
              </a:lnSpc>
              <a:spcBef>
                <a:spcPts val="0"/>
              </a:spcBef>
              <a:spcAft>
                <a:spcPts val="600"/>
              </a:spcAft>
            </a:pPr>
            <a:r>
              <a:rPr sz="1200" b="1">
                <a:solidFill>
                  <a:srgbClr val="FF8A3D"/>
                </a:solidFill>
                <a:latin typeface="Newsreader ExtraBold"/>
              </a:rPr>
              <a:t>• </a:t>
            </a:r>
            <a:r>
              <a:rPr sz="1200" b="0">
                <a:solidFill>
                  <a:srgbClr val="CFC4AD"/>
                </a:solidFill>
                <a:latin typeface="Newsreader Medium"/>
              </a:rPr>
              <a:t>AS unique : maintenance complexe en cas d'incident (impossible d'isoler).</a:t>
            </a:r>
          </a:p>
          <a:p>
            <a:pPr algn="l">
              <a:lnSpc>
                <a:spcPct val="112000"/>
              </a:lnSpc>
              <a:spcBef>
                <a:spcPts val="0"/>
              </a:spcBef>
              <a:spcAft>
                <a:spcPts val="600"/>
              </a:spcAft>
            </a:pPr>
            <a:r>
              <a:rPr sz="1200" b="1">
                <a:solidFill>
                  <a:srgbClr val="FF8A3D"/>
                </a:solidFill>
                <a:latin typeface="Newsreader ExtraBold"/>
              </a:rPr>
              <a:t>• </a:t>
            </a:r>
            <a:r>
              <a:rPr sz="1200" b="0">
                <a:solidFill>
                  <a:srgbClr val="CFC4AD"/>
                </a:solidFill>
                <a:latin typeface="Newsreader Medium"/>
              </a:rPr>
              <a:t>MAIS iBGP EVPN overlay est le standard industriel pour le L2 stretch.</a:t>
            </a:r>
          </a:p>
          <a:p>
            <a:pPr algn="l">
              <a:lnSpc>
                <a:spcPct val="112000"/>
              </a:lnSpc>
              <a:spcBef>
                <a:spcPts val="0"/>
              </a:spcBef>
              <a:spcAft>
                <a:spcPts val="600"/>
              </a:spcAft>
            </a:pPr>
            <a:r>
              <a:rPr sz="1200" b="1">
                <a:solidFill>
                  <a:srgbClr val="FF8A3D"/>
                </a:solidFill>
                <a:latin typeface="Newsreader ExtraBold"/>
              </a:rPr>
              <a:t>• </a:t>
            </a:r>
            <a:r>
              <a:rPr sz="1200" b="0">
                <a:solidFill>
                  <a:srgbClr val="CFC4AD"/>
                </a:solidFill>
                <a:latin typeface="Newsreader Medium"/>
              </a:rPr>
              <a:t>Verdict personnel : eBGP underlay + iBGP EVPN overlay = best of both.</a:t>
            </a:r>
          </a:p>
          <a:p>
            <a:pPr algn="l">
              <a:lnSpc>
                <a:spcPct val="112000"/>
              </a:lnSpc>
              <a:spcBef>
                <a:spcPts val="0"/>
              </a:spcBef>
              <a:spcAft>
                <a:spcPts val="600"/>
              </a:spcAft>
            </a:pPr>
            <a:r>
              <a:rPr sz="1200" b="1">
                <a:solidFill>
                  <a:srgbClr val="FF8A3D"/>
                </a:solidFill>
                <a:latin typeface="Newsreader ExtraBold"/>
              </a:rPr>
              <a:t>• </a:t>
            </a:r>
            <a:r>
              <a:rPr sz="1200" b="0">
                <a:solidFill>
                  <a:srgbClr val="CFC4AD"/>
                </a:solidFill>
                <a:latin typeface="Newsreader Medium"/>
              </a:rPr>
              <a:t>Arista, Cisco (NX-OS), Juniper EX : tous utilisent ce modèle hybride.</a:t>
            </a:r>
          </a:p>
        </p:txBody>
      </p:sp>
      <p:sp>
        <p:nvSpPr>
          <p:cNvPr id="17" name="TextBox 16"/>
          <p:cNvSpPr txBox="1"/>
          <p:nvPr/>
        </p:nvSpPr>
        <p:spPr>
          <a:xfrm>
            <a:off x="640080" y="6446520"/>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a:solidFill>
                  <a:srgbClr val="94896F"/>
                </a:solidFill>
                <a:latin typeface="IBM Plex Mono"/>
              </a:rPr>
              <a:t>SAE4D01 DevCloud · Groupe 8 · URTADO P. / MALOT V.</a:t>
            </a:r>
          </a:p>
        </p:txBody>
      </p:sp>
      <p:sp>
        <p:nvSpPr>
          <p:cNvPr id="18" name="TextBox 17"/>
          <p:cNvSpPr txBox="1"/>
          <p:nvPr/>
        </p:nvSpPr>
        <p:spPr>
          <a:xfrm>
            <a:off x="10698480" y="6446520"/>
            <a:ext cx="91440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0">
                <a:solidFill>
                  <a:srgbClr val="94896F"/>
                </a:solidFill>
                <a:latin typeface="IBM Plex Mono"/>
              </a:rP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3382</Words>
  <Application>Microsoft Macintosh PowerPoint</Application>
  <PresentationFormat>Grand écran</PresentationFormat>
  <Paragraphs>339</Paragraphs>
  <Slides>20</Slides>
  <Notes>20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20</vt:i4>
      </vt:variant>
    </vt:vector>
  </HeadingPairs>
  <TitlesOfParts>
    <vt:vector size="28" baseType="lpstr">
      <vt:lpstr>Arial</vt:lpstr>
      <vt:lpstr>Calibri</vt:lpstr>
      <vt:lpstr>IBM Plex Mono</vt:lpstr>
      <vt:lpstr>Newsreader</vt:lpstr>
      <vt:lpstr>Newsreader ExtraBold</vt:lpstr>
      <vt:lpstr>Newsreader Medium</vt:lpstr>
      <vt:lpstr>Syne</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Pierre URTADO - Wipple</cp:lastModifiedBy>
  <cp:revision>2</cp:revision>
  <dcterms:created xsi:type="dcterms:W3CDTF">2013-01-27T09:14:16Z</dcterms:created>
  <dcterms:modified xsi:type="dcterms:W3CDTF">2026-06-22T22:57:12Z</dcterms:modified>
  <cp:category/>
</cp:coreProperties>
</file>